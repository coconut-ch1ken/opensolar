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71660"/>
  </p:normalViewPr>
  <p:slideViewPr>
    <p:cSldViewPr snapToGrid="0">
      <p:cViewPr varScale="1">
        <p:scale>
          <a:sx n="94" d="100"/>
          <a:sy n="94" d="100"/>
        </p:scale>
        <p:origin x="146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deck introduces the Phase 0 on Solar pipeline. The core idea is moving the current paper-specific reproduction workflow into Solar as a reusable capability. Solar should receive a paper, repository, objective, and budget, then coordinate claim extraction, benchmark contracts, execution or replay, evidence mapping, verdict comparison, reporting, and final verification. The important distinction to emphasize is that this is not a new executor. It is a workflow migration that reuses Solar Harness for intake, routing, physical operators, benchmark execution, evidence storage, and gates.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0 is needed because paper claims often mix natural-language statements, tables, benchmark setup, model routes, code instructions, and result interpretation. Without a Solar-native pipeline, every verification run becomes a custom manual process. Solar gives us a standard capability boundary, reusable operators, artifact traces, and verifier gates. The highest-risk semantic issue is separating claim verdict from execution readiness. A run path being ready means we can run it; it does not mean the paper claim is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target architecture. The user submits a paper, repository, and verification objective. Solar intake packages that request. The new logical operator, ResearchClaimVerifier, coordinates domain work but delegates execution to existing physical operators and BenchmarkRunner. Evidence is parsed into explicit metrics and linked to claims. The comparator writes claim-level verdicts, and the final verifier gate decides whether the report is acceptable. Harness internals such as capsule resolution, routing, leases, guard/resource attachment, and result envelopes are intentionally hidden from the presentation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is the high-level workflow used for the rest of the presentation. It compresses the full implementation plan into ten business steps. Setup happens once. Each paper then moves from intake, to evidence ingestion, to claim extraction, to contract writing, to preflight, to execution or replay, to evidence mapping, to comparison, and finally report verification. The two human gates are contract approval and execution approval. Blocked paths should return to the relevant earlier step rather than continuing with guessed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Step 0 is not repeated for every paper. It installs the domain</a:t>
            </a:r>
            <a:r>
              <a:rPr lang="en-CA" dirty="0"/>
              <a:t> knowledge</a:t>
            </a:r>
            <a:r>
              <a:rPr dirty="0"/>
              <a:t> into Solar. The capability capsule declares inputs, outputs, invariants, effects, guard/resource needs, and verifier conditions. The logical operator </a:t>
            </a:r>
            <a:r>
              <a:rPr dirty="0" err="1"/>
              <a:t>ResearchClaimVerifier</a:t>
            </a:r>
            <a:r>
              <a:rPr dirty="0"/>
              <a:t> gives Solar a model-neutral routing label. The schemas define </a:t>
            </a:r>
            <a:r>
              <a:rPr dirty="0" err="1"/>
              <a:t>BenchmarkClaim</a:t>
            </a:r>
            <a:r>
              <a:rPr dirty="0"/>
              <a:t>, </a:t>
            </a:r>
            <a:r>
              <a:rPr dirty="0" err="1"/>
              <a:t>BenchmarkContract</a:t>
            </a:r>
            <a:r>
              <a:rPr dirty="0"/>
              <a:t>, </a:t>
            </a:r>
            <a:r>
              <a:rPr dirty="0" err="1"/>
              <a:t>ObservedMetric</a:t>
            </a:r>
            <a:r>
              <a:rPr dirty="0"/>
              <a:t>, </a:t>
            </a:r>
            <a:r>
              <a:rPr dirty="0" err="1"/>
              <a:t>ClaimComparison</a:t>
            </a:r>
            <a:r>
              <a:rPr dirty="0"/>
              <a:t>, Phase0VerdictStatus, </a:t>
            </a:r>
            <a:r>
              <a:rPr dirty="0" err="1"/>
              <a:t>ExecutionReadinessStatus</a:t>
            </a:r>
            <a:r>
              <a:rPr dirty="0"/>
              <a:t>, </a:t>
            </a:r>
            <a:r>
              <a:rPr dirty="0" err="1"/>
              <a:t>HumanReviewDecision</a:t>
            </a:r>
            <a:r>
              <a:rPr dirty="0"/>
              <a:t>, Phase0RunManifest, Phase0EvidenceMap, and Phase0VerificationSummary. The comparator enforces verdict policy. The golden fixture from AI4Research-B ensures that the known </a:t>
            </a:r>
            <a:r>
              <a:rPr dirty="0" err="1"/>
              <a:t>SkillGen</a:t>
            </a:r>
            <a:r>
              <a:rPr dirty="0"/>
              <a:t> result remains </a:t>
            </a:r>
            <a:r>
              <a:rPr dirty="0" err="1"/>
              <a:t>not_reproduced</a:t>
            </a:r>
            <a:r>
              <a:rPr dirty="0"/>
              <a:t> at paper level and blocked for the full paper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1 packages the user's request into a structured Solar task. The user should provide the paper or paper path, the official repository or source code path, the verification objective, target scope, and budget constraints. Solar intake should preserve source metadata and route the request through existing Core-to-Harness intake. This step is not about verifying claims yet. It only decides whether the request is complete enough to start the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2 reads the paper and codebase into an evidence graph. The paper side includes abstract, method, experimental setup, tables, figures, appendix, and any claimed benchmark metrics. The repo side includes README, scripts, configs, data split instructions, model/provider settings, and official reproduction commands. Prior AI4Research-B artifacts may be linked as context or golden fixture evidence. The output must be source-addressable so later claims can cite exact paper or artifact locations.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3 identifies claims that can be verified by benchmarks or artifact inspection. A benchmark claim must name the metric, dataset, split, configuration, expected value or direction, tolerance, and paper location. Claims that are broad or aggregate, such as full Table 1 average gains, must remain aggregate claims and cannot be satisfied by one smoke run. Non-benchmarkable statements can be marked out_of_scope or not_testable rather than forced into a fake metric.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4 translates claims into contracts. A contract defines the runnable target, required artifacts, metric definition, aggregation rule, tolerance, comparison logic, and approval state. If exact paper splits or configs are missing, the contract may use a reconstructed path, but that path must carry deviation notes. Reconstructed evidence can support at most partially_reproduced unless paper-equivalence is proven. Human review is important here because a wrong contract will produce misleading verdicts even if the benchmark runs successfully.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5 checks the environment before running commands. It asks whether dependencies are installable, data is available, model/provider routes are usable, commands are safe, and budget is approved. This creates execution_readiness_status. The key rule is that readiness is not reproduction evidence. If a reconstructed adapter is ready, that only means we can execute it. It does not mean the paper claim is supported. External APIs, local model use, network access, or destructive shell actions require explicit approval or a dry-run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6 either executes approved commands or replays the completed AI4Research-B Phase 0 artifacts as a golden fixture. For live runs, BenchmarkRunner and existing physical operators should be used rather than creating a new executor. For migration testing, replay is enough to verify schema, evidence mapping, and comparator behavior. If a command fails, timeout occurs, provider returns 402, or a model route is missing, preserve the logs and classify the issue correctly. Negative executed evidence is still valid evidence and should remain not_reproduced.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Step 7 parses logs, result JSON, </a:t>
            </a:r>
            <a:r>
              <a:rPr dirty="0" err="1"/>
              <a:t>stdout</a:t>
            </a:r>
            <a:r>
              <a:rPr dirty="0"/>
              <a:t>/stderr, verification summaries, and artifact files into </a:t>
            </a:r>
            <a:r>
              <a:rPr dirty="0" err="1"/>
              <a:t>ObservedMetric</a:t>
            </a:r>
            <a:r>
              <a:rPr dirty="0"/>
              <a:t> records. Every observed metric must cite source artifacts and carry parser confidence. The run manifest ties a run id to its logs and artifacts. The evidence map ties paper claim, benchmark contract, run id, observed metric ids, paper evidence, run evidence, and limitations together. If any link breaks, the later verdict should fail rather than silently proceed.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8 is the semantic core. The comparator evaluates observed metrics against the benchmark contract and assigns claim_verdict_status. Allowed verdicts include reproduced, partially_reproduced, not_reproduced, not_testable, failed_to_run, blocked, and out_of_scope. The comparator must preserve execution_readiness_status separately. It must reject any attempt to mark a claim reproduced or partially_reproduced based only on plans, adapter readiness, downloaded repos, or command availability. One matrix entry cannot upgrade an aggregate Table 1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9 generates the final report and summary, then sends them through verifier gates. The report must cite evidence ids, explain limitations, and derive paper-level status from claim-level verdicts. The golden fixture should preserve the known high-level conclusion from AI4Research-B: paper_level_status not_reproduced, full_paper_claim_status blocked, with counts partially_reproduced=3, blocked=7, not_reproduced=2. The final gate should reject unsupported paper-level claims, missing evidence, same-actor review risks, and any conflation of readiness with reproduction.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slide defines the implementation boundary. The deck should leave the audience with a simple message: Phase 0 on Solar is a workflow migration, not a new executor. We reuse Solar's runtime, operators, benchmark primitives, evidence schemas, and verification gates. We add only what Solar lacks: the ResearchClaimVerifier logical operator, the capability capsule, Phase 0 claim/contract/metric/comparison schemas, comparator policy, and golden fixture tests. The MVP should keep the workflow inside one logical operator and delegate benchmark execution to BenchmarkRunner or a BenchmarkAdapter-compatible wrapper.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FCA6538-9176-4C48-A815-F64CBEA88FBB}"/>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E0BEC610-ECE9-4997-A02E-6734700CCE0C}"/>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D971C73A-D2F7-4B58-B066-A8E3C690F968}"/>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BAE3CFE7-430A-48DC-B09C-F5935B1E8644}"/>
              </a:ext>
            </a:extLst>
          </p:cNvPr>
          <p:cNvSpPr>
            <a:spLocks noGrp="1"/>
          </p:cNvSpPr>
          <p:nvPr/>
        </p:nvSpPr>
        <p:spPr>
          <a:xfrm>
            <a:off x="647700" y="552450"/>
            <a:ext cx="381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007F68"/>
                </a:solidFill>
                <a:latin typeface="Aptos Mono"/>
                <a:ea typeface="Aptos Mono"/>
                <a:cs typeface="Aptos Mono"/>
              </a:defRPr>
            </a:pPr>
            <a:r>
              <a:rPr sz="1050" b="1">
                <a:solidFill>
                  <a:srgbClr val="007F68"/>
                </a:solidFill>
                <a:latin typeface="Aptos Mono"/>
                <a:ea typeface="Aptos Mono"/>
                <a:cs typeface="Aptos Mono"/>
              </a:rPr>
              <a:t>PHASE 0 ON SOLAR</a:t>
            </a:r>
          </a:p>
        </p:txBody>
      </p:sp>
      <p:sp>
        <p:nvSpPr>
          <p:cNvPr id="5" name="Rectangle 4">
            <a:extLst>
              <a:ext uri="{FF2B5EF4-FFF2-40B4-BE49-F238E27FC236}">
                <a16:creationId xmlns:a16="http://schemas.microsoft.com/office/drawing/2014/main" id="{B5D90F51-81C3-4750-976C-ADF687287193}"/>
              </a:ext>
            </a:extLst>
          </p:cNvPr>
          <p:cNvSpPr>
            <a:spLocks noGrp="1"/>
          </p:cNvSpPr>
          <p:nvPr/>
        </p:nvSpPr>
        <p:spPr>
          <a:xfrm>
            <a:off x="647700" y="1200150"/>
            <a:ext cx="781050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350" b="1">
                <a:solidFill>
                  <a:srgbClr val="18212B"/>
                </a:solidFill>
                <a:latin typeface="Aptos Display"/>
                <a:ea typeface="Aptos Display"/>
                <a:cs typeface="Aptos Display"/>
              </a:defRPr>
            </a:pPr>
            <a:r>
              <a:rPr sz="4350" b="1">
                <a:solidFill>
                  <a:srgbClr val="18212B"/>
                </a:solidFill>
                <a:latin typeface="Aptos Display"/>
                <a:ea typeface="Aptos Display"/>
                <a:cs typeface="Aptos Display"/>
              </a:rPr>
              <a:t>Paper-to-Claim Verification Pipeline</a:t>
            </a:r>
          </a:p>
        </p:txBody>
      </p:sp>
      <p:sp>
        <p:nvSpPr>
          <p:cNvPr id="6" name="Rectangle 5">
            <a:extLst>
              <a:ext uri="{FF2B5EF4-FFF2-40B4-BE49-F238E27FC236}">
                <a16:creationId xmlns:a16="http://schemas.microsoft.com/office/drawing/2014/main" id="{BC85E85F-C171-44CF-A467-7EFDF9CC1F87}"/>
              </a:ext>
            </a:extLst>
          </p:cNvPr>
          <p:cNvSpPr>
            <a:spLocks noGrp="1"/>
          </p:cNvSpPr>
          <p:nvPr/>
        </p:nvSpPr>
        <p:spPr>
          <a:xfrm>
            <a:off x="685800" y="2914650"/>
            <a:ext cx="657225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5B6470"/>
                </a:solidFill>
                <a:latin typeface="Aptos"/>
                <a:ea typeface="Aptos"/>
                <a:cs typeface="Aptos"/>
              </a:defRPr>
            </a:pPr>
            <a:r>
              <a:rPr sz="1725" b="0">
                <a:solidFill>
                  <a:srgbClr val="5B6470"/>
                </a:solidFill>
                <a:latin typeface="Aptos"/>
                <a:ea typeface="Aptos"/>
                <a:cs typeface="Aptos"/>
              </a:rPr>
              <a:t>A Solar-native workflow for extracting paper claims, proving them with benchmark evidence, and gating final verdicts.</a:t>
            </a:r>
          </a:p>
        </p:txBody>
      </p:sp>
      <p:sp>
        <p:nvSpPr>
          <p:cNvPr id="7" name="Rectangle 6">
            <a:extLst>
              <a:ext uri="{FF2B5EF4-FFF2-40B4-BE49-F238E27FC236}">
                <a16:creationId xmlns:a16="http://schemas.microsoft.com/office/drawing/2014/main" id="{6E011347-8D5D-4C19-BAF6-AD0903AC9BF9}"/>
              </a:ext>
            </a:extLst>
          </p:cNvPr>
          <p:cNvSpPr>
            <a:spLocks noGrp="1"/>
          </p:cNvSpPr>
          <p:nvPr/>
        </p:nvSpPr>
        <p:spPr>
          <a:xfrm>
            <a:off x="876300" y="4819650"/>
            <a:ext cx="1257300" cy="476250"/>
          </a:xfrm>
          <a:prstGeom prst="rect">
            <a:avLst/>
          </a:prstGeom>
          <a:solidFill>
            <a:srgbClr val="DDEFE9"/>
          </a:solidFill>
          <a:ln w="9525">
            <a:solidFill>
              <a:srgbClr val="D8D2C6"/>
            </a:solidFill>
            <a:prstDash val="solid"/>
          </a:ln>
        </p:spPr>
        <p:txBody>
          <a:bodyPr/>
          <a:lstStyle/>
          <a:p>
            <a:endParaRPr lang="en-US"/>
          </a:p>
        </p:txBody>
      </p:sp>
      <p:sp>
        <p:nvSpPr>
          <p:cNvPr id="8" name="Rectangle 7">
            <a:extLst>
              <a:ext uri="{FF2B5EF4-FFF2-40B4-BE49-F238E27FC236}">
                <a16:creationId xmlns:a16="http://schemas.microsoft.com/office/drawing/2014/main" id="{3B8C2728-1C72-4CA7-8321-AF1B8DEB66EF}"/>
              </a:ext>
            </a:extLst>
          </p:cNvPr>
          <p:cNvSpPr>
            <a:spLocks noGrp="1"/>
          </p:cNvSpPr>
          <p:nvPr/>
        </p:nvSpPr>
        <p:spPr>
          <a:xfrm>
            <a:off x="876300" y="4933950"/>
            <a:ext cx="12573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350" b="1">
                <a:solidFill>
                  <a:srgbClr val="18212B"/>
                </a:solidFill>
                <a:latin typeface="Aptos"/>
                <a:ea typeface="Aptos"/>
                <a:cs typeface="Aptos"/>
              </a:defRPr>
            </a:pPr>
            <a:r>
              <a:rPr sz="1350" b="1">
                <a:solidFill>
                  <a:srgbClr val="18212B"/>
                </a:solidFill>
                <a:latin typeface="Aptos"/>
                <a:ea typeface="Aptos"/>
                <a:cs typeface="Aptos"/>
              </a:rPr>
              <a:t>claim</a:t>
            </a:r>
          </a:p>
        </p:txBody>
      </p:sp>
      <p:sp>
        <p:nvSpPr>
          <p:cNvPr id="9" name="Rectangle 8">
            <a:extLst>
              <a:ext uri="{FF2B5EF4-FFF2-40B4-BE49-F238E27FC236}">
                <a16:creationId xmlns:a16="http://schemas.microsoft.com/office/drawing/2014/main" id="{C71C8DA6-5795-45D6-8458-29074A85E992}"/>
              </a:ext>
            </a:extLst>
          </p:cNvPr>
          <p:cNvSpPr>
            <a:spLocks noGrp="1"/>
          </p:cNvSpPr>
          <p:nvPr/>
        </p:nvSpPr>
        <p:spPr>
          <a:xfrm>
            <a:off x="2266950" y="5038725"/>
            <a:ext cx="342900" cy="28575"/>
          </a:xfrm>
          <a:prstGeom prst="rect">
            <a:avLst/>
          </a:prstGeom>
          <a:solidFill>
            <a:srgbClr val="007F68"/>
          </a:solidFill>
          <a:ln w="0">
            <a:solidFill>
              <a:srgbClr val="000000">
                <a:alpha val="0"/>
              </a:srgbClr>
            </a:solidFill>
            <a:prstDash val="solid"/>
          </a:ln>
        </p:spPr>
        <p:txBody>
          <a:bodyPr/>
          <a:lstStyle/>
          <a:p>
            <a:endParaRPr lang="en-US"/>
          </a:p>
        </p:txBody>
      </p:sp>
      <p:sp>
        <p:nvSpPr>
          <p:cNvPr id="10" name="Rectangle 9">
            <a:extLst>
              <a:ext uri="{FF2B5EF4-FFF2-40B4-BE49-F238E27FC236}">
                <a16:creationId xmlns:a16="http://schemas.microsoft.com/office/drawing/2014/main" id="{9AF23787-1F6C-42C9-8794-94EA51F36A0A}"/>
              </a:ext>
            </a:extLst>
          </p:cNvPr>
          <p:cNvSpPr>
            <a:spLocks noGrp="1"/>
          </p:cNvSpPr>
          <p:nvPr/>
        </p:nvSpPr>
        <p:spPr>
          <a:xfrm>
            <a:off x="2819400" y="4819650"/>
            <a:ext cx="1257300" cy="476250"/>
          </a:xfrm>
          <a:prstGeom prst="rect">
            <a:avLst/>
          </a:prstGeom>
          <a:solidFill>
            <a:srgbClr val="F3E5D2"/>
          </a:solidFill>
          <a:ln w="9525">
            <a:solidFill>
              <a:srgbClr val="D8D2C6"/>
            </a:solidFill>
            <a:prstDash val="solid"/>
          </a:ln>
        </p:spPr>
        <p:txBody>
          <a:bodyPr/>
          <a:lstStyle/>
          <a:p>
            <a:endParaRPr lang="en-US"/>
          </a:p>
        </p:txBody>
      </p:sp>
      <p:sp>
        <p:nvSpPr>
          <p:cNvPr id="11" name="Rectangle 10">
            <a:extLst>
              <a:ext uri="{FF2B5EF4-FFF2-40B4-BE49-F238E27FC236}">
                <a16:creationId xmlns:a16="http://schemas.microsoft.com/office/drawing/2014/main" id="{D1D25B84-8A68-4FB1-B520-8C2C546E60A8}"/>
              </a:ext>
            </a:extLst>
          </p:cNvPr>
          <p:cNvSpPr>
            <a:spLocks noGrp="1"/>
          </p:cNvSpPr>
          <p:nvPr/>
        </p:nvSpPr>
        <p:spPr>
          <a:xfrm>
            <a:off x="2819400" y="4933950"/>
            <a:ext cx="12573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350" b="1">
                <a:solidFill>
                  <a:srgbClr val="18212B"/>
                </a:solidFill>
                <a:latin typeface="Aptos"/>
                <a:ea typeface="Aptos"/>
                <a:cs typeface="Aptos"/>
              </a:defRPr>
            </a:pPr>
            <a:r>
              <a:rPr sz="1350" b="1">
                <a:solidFill>
                  <a:srgbClr val="18212B"/>
                </a:solidFill>
                <a:latin typeface="Aptos"/>
                <a:ea typeface="Aptos"/>
                <a:cs typeface="Aptos"/>
              </a:rPr>
              <a:t>contract</a:t>
            </a:r>
          </a:p>
        </p:txBody>
      </p:sp>
      <p:sp>
        <p:nvSpPr>
          <p:cNvPr id="12" name="Rectangle 11">
            <a:extLst>
              <a:ext uri="{FF2B5EF4-FFF2-40B4-BE49-F238E27FC236}">
                <a16:creationId xmlns:a16="http://schemas.microsoft.com/office/drawing/2014/main" id="{592DF7EB-4BA2-42ED-90D9-B97830C4558E}"/>
              </a:ext>
            </a:extLst>
          </p:cNvPr>
          <p:cNvSpPr>
            <a:spLocks noGrp="1"/>
          </p:cNvSpPr>
          <p:nvPr/>
        </p:nvSpPr>
        <p:spPr>
          <a:xfrm>
            <a:off x="4210050" y="5038725"/>
            <a:ext cx="342900" cy="28575"/>
          </a:xfrm>
          <a:prstGeom prst="rect">
            <a:avLst/>
          </a:prstGeom>
          <a:solidFill>
            <a:srgbClr val="007F68"/>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AAF20759-FA52-4B0C-A30C-44403339999B}"/>
              </a:ext>
            </a:extLst>
          </p:cNvPr>
          <p:cNvSpPr>
            <a:spLocks noGrp="1"/>
          </p:cNvSpPr>
          <p:nvPr/>
        </p:nvSpPr>
        <p:spPr>
          <a:xfrm>
            <a:off x="4762500" y="4819650"/>
            <a:ext cx="1257300" cy="476250"/>
          </a:xfrm>
          <a:prstGeom prst="rect">
            <a:avLst/>
          </a:prstGeom>
          <a:solidFill>
            <a:srgbClr val="DDEFE9"/>
          </a:solidFill>
          <a:ln w="9525">
            <a:solidFill>
              <a:srgbClr val="D8D2C6"/>
            </a:solidFill>
            <a:prstDash val="solid"/>
          </a:ln>
        </p:spPr>
        <p:txBody>
          <a:bodyPr/>
          <a:lstStyle/>
          <a:p>
            <a:endParaRPr lang="en-US"/>
          </a:p>
        </p:txBody>
      </p:sp>
      <p:sp>
        <p:nvSpPr>
          <p:cNvPr id="14" name="Rectangle 13">
            <a:extLst>
              <a:ext uri="{FF2B5EF4-FFF2-40B4-BE49-F238E27FC236}">
                <a16:creationId xmlns:a16="http://schemas.microsoft.com/office/drawing/2014/main" id="{E00DF218-E92C-4B66-A920-CA8A8BA17098}"/>
              </a:ext>
            </a:extLst>
          </p:cNvPr>
          <p:cNvSpPr>
            <a:spLocks noGrp="1"/>
          </p:cNvSpPr>
          <p:nvPr/>
        </p:nvSpPr>
        <p:spPr>
          <a:xfrm>
            <a:off x="4762500" y="4933950"/>
            <a:ext cx="12573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350" b="1">
                <a:solidFill>
                  <a:srgbClr val="18212B"/>
                </a:solidFill>
                <a:latin typeface="Aptos"/>
                <a:ea typeface="Aptos"/>
                <a:cs typeface="Aptos"/>
              </a:defRPr>
            </a:pPr>
            <a:r>
              <a:rPr sz="1350" b="1">
                <a:solidFill>
                  <a:srgbClr val="18212B"/>
                </a:solidFill>
                <a:latin typeface="Aptos"/>
                <a:ea typeface="Aptos"/>
                <a:cs typeface="Aptos"/>
              </a:rPr>
              <a:t>run</a:t>
            </a:r>
          </a:p>
        </p:txBody>
      </p:sp>
      <p:sp>
        <p:nvSpPr>
          <p:cNvPr id="15" name="Rectangle 14">
            <a:extLst>
              <a:ext uri="{FF2B5EF4-FFF2-40B4-BE49-F238E27FC236}">
                <a16:creationId xmlns:a16="http://schemas.microsoft.com/office/drawing/2014/main" id="{05293EBD-BE76-4F28-874D-36195F624F24}"/>
              </a:ext>
            </a:extLst>
          </p:cNvPr>
          <p:cNvSpPr>
            <a:spLocks noGrp="1"/>
          </p:cNvSpPr>
          <p:nvPr/>
        </p:nvSpPr>
        <p:spPr>
          <a:xfrm>
            <a:off x="6153150" y="5038725"/>
            <a:ext cx="342900" cy="28575"/>
          </a:xfrm>
          <a:prstGeom prst="rect">
            <a:avLst/>
          </a:prstGeom>
          <a:solidFill>
            <a:srgbClr val="007F68"/>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F646A231-A9ED-4792-8877-BEECDB599565}"/>
              </a:ext>
            </a:extLst>
          </p:cNvPr>
          <p:cNvSpPr>
            <a:spLocks noGrp="1"/>
          </p:cNvSpPr>
          <p:nvPr/>
        </p:nvSpPr>
        <p:spPr>
          <a:xfrm>
            <a:off x="6705600" y="4819650"/>
            <a:ext cx="1257300" cy="476250"/>
          </a:xfrm>
          <a:prstGeom prst="rect">
            <a:avLst/>
          </a:prstGeom>
          <a:solidFill>
            <a:srgbClr val="F3E5D2"/>
          </a:solidFill>
          <a:ln w="9525">
            <a:solidFill>
              <a:srgbClr val="D8D2C6"/>
            </a:solidFill>
            <a:prstDash val="solid"/>
          </a:ln>
        </p:spPr>
        <p:txBody>
          <a:bodyPr/>
          <a:lstStyle/>
          <a:p>
            <a:endParaRPr lang="en-US"/>
          </a:p>
        </p:txBody>
      </p:sp>
      <p:sp>
        <p:nvSpPr>
          <p:cNvPr id="17" name="Rectangle 16">
            <a:extLst>
              <a:ext uri="{FF2B5EF4-FFF2-40B4-BE49-F238E27FC236}">
                <a16:creationId xmlns:a16="http://schemas.microsoft.com/office/drawing/2014/main" id="{A42367A2-7602-45A6-8777-FF38B5F7C213}"/>
              </a:ext>
            </a:extLst>
          </p:cNvPr>
          <p:cNvSpPr>
            <a:spLocks noGrp="1"/>
          </p:cNvSpPr>
          <p:nvPr/>
        </p:nvSpPr>
        <p:spPr>
          <a:xfrm>
            <a:off x="6705600" y="4933950"/>
            <a:ext cx="12573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350" b="1">
                <a:solidFill>
                  <a:srgbClr val="18212B"/>
                </a:solidFill>
                <a:latin typeface="Aptos"/>
                <a:ea typeface="Aptos"/>
                <a:cs typeface="Aptos"/>
              </a:defRPr>
            </a:pPr>
            <a:r>
              <a:rPr sz="1350" b="1">
                <a:solidFill>
                  <a:srgbClr val="18212B"/>
                </a:solidFill>
                <a:latin typeface="Aptos"/>
                <a:ea typeface="Aptos"/>
                <a:cs typeface="Aptos"/>
              </a:rPr>
              <a:t>evidence</a:t>
            </a:r>
          </a:p>
        </p:txBody>
      </p:sp>
      <p:sp>
        <p:nvSpPr>
          <p:cNvPr id="18" name="Rectangle 17">
            <a:extLst>
              <a:ext uri="{FF2B5EF4-FFF2-40B4-BE49-F238E27FC236}">
                <a16:creationId xmlns:a16="http://schemas.microsoft.com/office/drawing/2014/main" id="{7129D6DE-2029-4015-8CBD-834153FB2228}"/>
              </a:ext>
            </a:extLst>
          </p:cNvPr>
          <p:cNvSpPr>
            <a:spLocks noGrp="1"/>
          </p:cNvSpPr>
          <p:nvPr/>
        </p:nvSpPr>
        <p:spPr>
          <a:xfrm>
            <a:off x="8096250" y="5038725"/>
            <a:ext cx="342900" cy="28575"/>
          </a:xfrm>
          <a:prstGeom prst="rect">
            <a:avLst/>
          </a:prstGeom>
          <a:solidFill>
            <a:srgbClr val="007F68"/>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3259FF78-7BF8-4A7B-880D-606EF1282FD6}"/>
              </a:ext>
            </a:extLst>
          </p:cNvPr>
          <p:cNvSpPr>
            <a:spLocks noGrp="1"/>
          </p:cNvSpPr>
          <p:nvPr/>
        </p:nvSpPr>
        <p:spPr>
          <a:xfrm>
            <a:off x="8648700" y="4819650"/>
            <a:ext cx="1257300" cy="476250"/>
          </a:xfrm>
          <a:prstGeom prst="rect">
            <a:avLst/>
          </a:prstGeom>
          <a:solidFill>
            <a:srgbClr val="DDEFE9"/>
          </a:solidFill>
          <a:ln w="9525">
            <a:solidFill>
              <a:srgbClr val="D8D2C6"/>
            </a:solidFill>
            <a:prstDash val="solid"/>
          </a:ln>
        </p:spPr>
        <p:txBody>
          <a:bodyPr/>
          <a:lstStyle/>
          <a:p>
            <a:endParaRPr lang="en-US"/>
          </a:p>
        </p:txBody>
      </p:sp>
      <p:sp>
        <p:nvSpPr>
          <p:cNvPr id="20" name="Rectangle 19">
            <a:extLst>
              <a:ext uri="{FF2B5EF4-FFF2-40B4-BE49-F238E27FC236}">
                <a16:creationId xmlns:a16="http://schemas.microsoft.com/office/drawing/2014/main" id="{87C8CA9F-D720-43A8-91FE-711F0ED45D0E}"/>
              </a:ext>
            </a:extLst>
          </p:cNvPr>
          <p:cNvSpPr>
            <a:spLocks noGrp="1"/>
          </p:cNvSpPr>
          <p:nvPr/>
        </p:nvSpPr>
        <p:spPr>
          <a:xfrm>
            <a:off x="8648700" y="4933950"/>
            <a:ext cx="1257300" cy="2476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350" b="1">
                <a:solidFill>
                  <a:srgbClr val="18212B"/>
                </a:solidFill>
                <a:latin typeface="Aptos"/>
                <a:ea typeface="Aptos"/>
                <a:cs typeface="Aptos"/>
              </a:defRPr>
            </a:pPr>
            <a:r>
              <a:rPr sz="1350" b="1">
                <a:solidFill>
                  <a:srgbClr val="18212B"/>
                </a:solidFill>
                <a:latin typeface="Aptos"/>
                <a:ea typeface="Aptos"/>
                <a:cs typeface="Aptos"/>
              </a:rPr>
              <a:t>verdict</a:t>
            </a:r>
          </a:p>
        </p:txBody>
      </p:sp>
      <p:sp>
        <p:nvSpPr>
          <p:cNvPr id="21" name="Rectangle 20">
            <a:extLst>
              <a:ext uri="{FF2B5EF4-FFF2-40B4-BE49-F238E27FC236}">
                <a16:creationId xmlns:a16="http://schemas.microsoft.com/office/drawing/2014/main" id="{9DB1F4FA-87E7-41B1-B92C-6FC45E843034}"/>
              </a:ext>
            </a:extLst>
          </p:cNvPr>
          <p:cNvSpPr>
            <a:spLocks noGrp="1"/>
          </p:cNvSpPr>
          <p:nvPr/>
        </p:nvSpPr>
        <p:spPr>
          <a:xfrm>
            <a:off x="685800" y="6191250"/>
            <a:ext cx="590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B6470"/>
                </a:solidFill>
                <a:latin typeface="Aptos"/>
                <a:ea typeface="Aptos"/>
                <a:cs typeface="Aptos"/>
              </a:defRPr>
            </a:pPr>
            <a:r>
              <a:rPr sz="900" b="0">
                <a:solidFill>
                  <a:srgbClr val="5B6470"/>
                </a:solidFill>
                <a:latin typeface="Aptos"/>
                <a:ea typeface="Aptos"/>
                <a:cs typeface="Aptos"/>
              </a:rPr>
              <a:t>Source: AI4Research-B migration/adapt_skeleton.md</a:t>
            </a:r>
          </a:p>
        </p:txBody>
      </p:sp>
    </p:spTree>
    <p:extLst>
      <p:ext uri="{BB962C8B-B14F-4D97-AF65-F5344CB8AC3E}">
        <p14:creationId xmlns:p14="http://schemas.microsoft.com/office/powerpoint/2010/main" val="1776956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A482E17-58D7-458D-85B4-64EC8EF62650}"/>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69A3317-3640-4485-B651-DC7ED922C10D}"/>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4C83CD97-222D-4E08-B170-D5D032117D2D}"/>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5B7932A4-0432-41A1-9950-E1DC8BD8886D}"/>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WHY</a:t>
            </a:r>
          </a:p>
        </p:txBody>
      </p:sp>
      <p:sp>
        <p:nvSpPr>
          <p:cNvPr id="5" name="Rectangle 4">
            <a:extLst>
              <a:ext uri="{FF2B5EF4-FFF2-40B4-BE49-F238E27FC236}">
                <a16:creationId xmlns:a16="http://schemas.microsoft.com/office/drawing/2014/main" id="{C754F072-5AA3-4AEE-8F52-3E1D82DFAD5F}"/>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Solar turns Phase 0 from bespoke reproduction into a gated capability</a:t>
            </a:r>
          </a:p>
        </p:txBody>
      </p:sp>
      <p:sp>
        <p:nvSpPr>
          <p:cNvPr id="6" name="Rectangle 5">
            <a:extLst>
              <a:ext uri="{FF2B5EF4-FFF2-40B4-BE49-F238E27FC236}">
                <a16:creationId xmlns:a16="http://schemas.microsoft.com/office/drawing/2014/main" id="{EB73C133-8524-4946-814D-274AAFAC1CC6}"/>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505791B7-218E-4872-A312-84BC1A5A72C2}"/>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02</a:t>
            </a:r>
          </a:p>
        </p:txBody>
      </p:sp>
      <p:sp>
        <p:nvSpPr>
          <p:cNvPr id="8" name="Rectangle 7">
            <a:extLst>
              <a:ext uri="{FF2B5EF4-FFF2-40B4-BE49-F238E27FC236}">
                <a16:creationId xmlns:a16="http://schemas.microsoft.com/office/drawing/2014/main" id="{31063662-7702-4BFF-AAD0-D23FC627778F}"/>
              </a:ext>
            </a:extLst>
          </p:cNvPr>
          <p:cNvSpPr>
            <a:spLocks noGrp="1"/>
          </p:cNvSpPr>
          <p:nvPr/>
        </p:nvSpPr>
        <p:spPr>
          <a:xfrm>
            <a:off x="685800" y="1809750"/>
            <a:ext cx="3143250" cy="2476500"/>
          </a:xfrm>
          <a:prstGeom prst="rect">
            <a:avLst/>
          </a:prstGeom>
          <a:solidFill>
            <a:srgbClr val="DDE8F3"/>
          </a:solidFill>
          <a:ln w="9525">
            <a:solidFill>
              <a:srgbClr val="D8D2C6"/>
            </a:solidFill>
            <a:prstDash val="solid"/>
          </a:ln>
        </p:spPr>
        <p:txBody>
          <a:bodyPr/>
          <a:lstStyle/>
          <a:p>
            <a:endParaRPr lang="en-US"/>
          </a:p>
        </p:txBody>
      </p:sp>
      <p:sp>
        <p:nvSpPr>
          <p:cNvPr id="9" name="Rectangle 8">
            <a:extLst>
              <a:ext uri="{FF2B5EF4-FFF2-40B4-BE49-F238E27FC236}">
                <a16:creationId xmlns:a16="http://schemas.microsoft.com/office/drawing/2014/main" id="{3BFEF024-C982-4B84-8DF9-DFB4856A1B66}"/>
              </a:ext>
            </a:extLst>
          </p:cNvPr>
          <p:cNvSpPr>
            <a:spLocks noGrp="1"/>
          </p:cNvSpPr>
          <p:nvPr/>
        </p:nvSpPr>
        <p:spPr>
          <a:xfrm>
            <a:off x="914400" y="2038350"/>
            <a:ext cx="2571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12B"/>
                </a:solidFill>
                <a:latin typeface="Aptos Display"/>
                <a:ea typeface="Aptos Display"/>
                <a:cs typeface="Aptos Display"/>
              </a:defRPr>
            </a:pPr>
            <a:r>
              <a:rPr sz="2100" b="1">
                <a:solidFill>
                  <a:srgbClr val="18212B"/>
                </a:solidFill>
                <a:latin typeface="Aptos Display"/>
                <a:ea typeface="Aptos Display"/>
                <a:cs typeface="Aptos Display"/>
              </a:rPr>
              <a:t>Standardize</a:t>
            </a:r>
          </a:p>
        </p:txBody>
      </p:sp>
      <p:sp>
        <p:nvSpPr>
          <p:cNvPr id="10" name="Rectangle 9">
            <a:extLst>
              <a:ext uri="{FF2B5EF4-FFF2-40B4-BE49-F238E27FC236}">
                <a16:creationId xmlns:a16="http://schemas.microsoft.com/office/drawing/2014/main" id="{A990F862-B4E0-45FA-8ECC-0DC1C8EC6A4C}"/>
              </a:ext>
            </a:extLst>
          </p:cNvPr>
          <p:cNvSpPr>
            <a:spLocks noGrp="1"/>
          </p:cNvSpPr>
          <p:nvPr/>
        </p:nvSpPr>
        <p:spPr>
          <a:xfrm>
            <a:off x="914400" y="2628900"/>
            <a:ext cx="25717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8212B"/>
                </a:solidFill>
                <a:latin typeface="Aptos"/>
                <a:ea typeface="Aptos"/>
                <a:cs typeface="Aptos"/>
              </a:defRPr>
            </a:pPr>
            <a:r>
              <a:rPr sz="1500" b="0">
                <a:solidFill>
                  <a:srgbClr val="18212B"/>
                </a:solidFill>
                <a:latin typeface="Aptos"/>
                <a:ea typeface="Aptos"/>
                <a:cs typeface="Aptos"/>
              </a:rPr>
              <a:t>Paper reading, repo inspection, benchmark execution, metric parsing, and verdict writing become one repeatable workflow.</a:t>
            </a:r>
          </a:p>
        </p:txBody>
      </p:sp>
      <p:sp>
        <p:nvSpPr>
          <p:cNvPr id="11" name="Rectangle 10">
            <a:extLst>
              <a:ext uri="{FF2B5EF4-FFF2-40B4-BE49-F238E27FC236}">
                <a16:creationId xmlns:a16="http://schemas.microsoft.com/office/drawing/2014/main" id="{37A16394-61B6-45BD-A6BC-4FFE3BC7DC01}"/>
              </a:ext>
            </a:extLst>
          </p:cNvPr>
          <p:cNvSpPr>
            <a:spLocks noGrp="1"/>
          </p:cNvSpPr>
          <p:nvPr/>
        </p:nvSpPr>
        <p:spPr>
          <a:xfrm>
            <a:off x="4343400" y="1809750"/>
            <a:ext cx="3143250" cy="2476500"/>
          </a:xfrm>
          <a:prstGeom prst="rect">
            <a:avLst/>
          </a:prstGeom>
          <a:solidFill>
            <a:srgbClr val="DDEFE9"/>
          </a:solidFill>
          <a:ln w="9525">
            <a:solidFill>
              <a:srgbClr val="D8D2C6"/>
            </a:solidFill>
            <a:prstDash val="solid"/>
          </a:ln>
        </p:spPr>
        <p:txBody>
          <a:bodyPr/>
          <a:lstStyle/>
          <a:p>
            <a:endParaRPr lang="en-US"/>
          </a:p>
        </p:txBody>
      </p:sp>
      <p:sp>
        <p:nvSpPr>
          <p:cNvPr id="12" name="Rectangle 11">
            <a:extLst>
              <a:ext uri="{FF2B5EF4-FFF2-40B4-BE49-F238E27FC236}">
                <a16:creationId xmlns:a16="http://schemas.microsoft.com/office/drawing/2014/main" id="{79E994C2-BB94-4CD9-96FA-12E330D62BB4}"/>
              </a:ext>
            </a:extLst>
          </p:cNvPr>
          <p:cNvSpPr>
            <a:spLocks noGrp="1"/>
          </p:cNvSpPr>
          <p:nvPr/>
        </p:nvSpPr>
        <p:spPr>
          <a:xfrm>
            <a:off x="4572000" y="2038350"/>
            <a:ext cx="2571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12B"/>
                </a:solidFill>
                <a:latin typeface="Aptos Display"/>
                <a:ea typeface="Aptos Display"/>
                <a:cs typeface="Aptos Display"/>
              </a:defRPr>
            </a:pPr>
            <a:r>
              <a:rPr sz="2100" b="1">
                <a:solidFill>
                  <a:srgbClr val="18212B"/>
                </a:solidFill>
                <a:latin typeface="Aptos Display"/>
                <a:ea typeface="Aptos Display"/>
                <a:cs typeface="Aptos Display"/>
              </a:rPr>
              <a:t>Evidence discipline</a:t>
            </a:r>
          </a:p>
        </p:txBody>
      </p:sp>
      <p:sp>
        <p:nvSpPr>
          <p:cNvPr id="13" name="Rectangle 12">
            <a:extLst>
              <a:ext uri="{FF2B5EF4-FFF2-40B4-BE49-F238E27FC236}">
                <a16:creationId xmlns:a16="http://schemas.microsoft.com/office/drawing/2014/main" id="{78381EE1-0F0B-41E1-BD0F-FF3D1E6DCA12}"/>
              </a:ext>
            </a:extLst>
          </p:cNvPr>
          <p:cNvSpPr>
            <a:spLocks noGrp="1"/>
          </p:cNvSpPr>
          <p:nvPr/>
        </p:nvSpPr>
        <p:spPr>
          <a:xfrm>
            <a:off x="4572000" y="2628900"/>
            <a:ext cx="25717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8212B"/>
                </a:solidFill>
                <a:latin typeface="Aptos"/>
                <a:ea typeface="Aptos"/>
                <a:cs typeface="Aptos"/>
              </a:defRPr>
            </a:pPr>
            <a:r>
              <a:rPr sz="1500" b="0">
                <a:solidFill>
                  <a:srgbClr val="18212B"/>
                </a:solidFill>
                <a:latin typeface="Aptos"/>
                <a:ea typeface="Aptos"/>
                <a:cs typeface="Aptos"/>
              </a:rPr>
              <a:t>Every claim verdict must cite paper evidence, run artifacts, parsed metrics, and limitations.</a:t>
            </a:r>
          </a:p>
        </p:txBody>
      </p:sp>
      <p:sp>
        <p:nvSpPr>
          <p:cNvPr id="14" name="Rectangle 13">
            <a:extLst>
              <a:ext uri="{FF2B5EF4-FFF2-40B4-BE49-F238E27FC236}">
                <a16:creationId xmlns:a16="http://schemas.microsoft.com/office/drawing/2014/main" id="{4A65EDBB-08A4-4702-9836-58989CF73E5F}"/>
              </a:ext>
            </a:extLst>
          </p:cNvPr>
          <p:cNvSpPr>
            <a:spLocks noGrp="1"/>
          </p:cNvSpPr>
          <p:nvPr/>
        </p:nvSpPr>
        <p:spPr>
          <a:xfrm>
            <a:off x="8001000" y="1809750"/>
            <a:ext cx="3143250" cy="2476500"/>
          </a:xfrm>
          <a:prstGeom prst="rect">
            <a:avLst/>
          </a:prstGeom>
          <a:solidFill>
            <a:srgbClr val="F3E5D2"/>
          </a:solidFill>
          <a:ln w="9525">
            <a:solidFill>
              <a:srgbClr val="D8D2C6"/>
            </a:solidFill>
            <a:prstDash val="solid"/>
          </a:ln>
        </p:spPr>
        <p:txBody>
          <a:bodyPr/>
          <a:lstStyle/>
          <a:p>
            <a:endParaRPr lang="en-US"/>
          </a:p>
        </p:txBody>
      </p:sp>
      <p:sp>
        <p:nvSpPr>
          <p:cNvPr id="15" name="Rectangle 14">
            <a:extLst>
              <a:ext uri="{FF2B5EF4-FFF2-40B4-BE49-F238E27FC236}">
                <a16:creationId xmlns:a16="http://schemas.microsoft.com/office/drawing/2014/main" id="{EF312CBE-6134-4256-A89B-56230E598103}"/>
              </a:ext>
            </a:extLst>
          </p:cNvPr>
          <p:cNvSpPr>
            <a:spLocks noGrp="1"/>
          </p:cNvSpPr>
          <p:nvPr/>
        </p:nvSpPr>
        <p:spPr>
          <a:xfrm>
            <a:off x="8229600" y="2038350"/>
            <a:ext cx="2571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18212B"/>
                </a:solidFill>
                <a:latin typeface="Aptos Display"/>
                <a:ea typeface="Aptos Display"/>
                <a:cs typeface="Aptos Display"/>
              </a:defRPr>
            </a:pPr>
            <a:r>
              <a:rPr sz="2100" b="1">
                <a:solidFill>
                  <a:srgbClr val="18212B"/>
                </a:solidFill>
                <a:latin typeface="Aptos Display"/>
                <a:ea typeface="Aptos Display"/>
                <a:cs typeface="Aptos Display"/>
              </a:rPr>
              <a:t>Replayability</a:t>
            </a:r>
          </a:p>
        </p:txBody>
      </p:sp>
      <p:sp>
        <p:nvSpPr>
          <p:cNvPr id="16" name="Rectangle 15">
            <a:extLst>
              <a:ext uri="{FF2B5EF4-FFF2-40B4-BE49-F238E27FC236}">
                <a16:creationId xmlns:a16="http://schemas.microsoft.com/office/drawing/2014/main" id="{399F63F5-C37E-465E-8AA5-314636F40447}"/>
              </a:ext>
            </a:extLst>
          </p:cNvPr>
          <p:cNvSpPr>
            <a:spLocks noGrp="1"/>
          </p:cNvSpPr>
          <p:nvPr/>
        </p:nvSpPr>
        <p:spPr>
          <a:xfrm>
            <a:off x="8229600" y="2628900"/>
            <a:ext cx="2571750" cy="1066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8212B"/>
                </a:solidFill>
                <a:latin typeface="Aptos"/>
                <a:ea typeface="Aptos"/>
                <a:cs typeface="Aptos"/>
              </a:defRPr>
            </a:pPr>
            <a:r>
              <a:rPr sz="1500" b="0">
                <a:solidFill>
                  <a:srgbClr val="18212B"/>
                </a:solidFill>
                <a:latin typeface="Aptos"/>
                <a:ea typeface="Aptos"/>
                <a:cs typeface="Aptos"/>
              </a:rPr>
              <a:t>The completed AI4Research-B Phase 0 paper becomes a golden fixture for regression checks.</a:t>
            </a:r>
          </a:p>
        </p:txBody>
      </p:sp>
      <p:sp>
        <p:nvSpPr>
          <p:cNvPr id="17" name="Rectangle 16">
            <a:extLst>
              <a:ext uri="{FF2B5EF4-FFF2-40B4-BE49-F238E27FC236}">
                <a16:creationId xmlns:a16="http://schemas.microsoft.com/office/drawing/2014/main" id="{03CA6DF0-025A-494F-9A5E-88E2E0D15533}"/>
              </a:ext>
            </a:extLst>
          </p:cNvPr>
          <p:cNvSpPr>
            <a:spLocks noGrp="1"/>
          </p:cNvSpPr>
          <p:nvPr/>
        </p:nvSpPr>
        <p:spPr>
          <a:xfrm>
            <a:off x="952500" y="4819650"/>
            <a:ext cx="9620250" cy="685800"/>
          </a:xfrm>
          <a:prstGeom prst="rect">
            <a:avLst/>
          </a:prstGeom>
          <a:solidFill>
            <a:srgbClr val="FFFFFF"/>
          </a:solidFill>
          <a:ln w="19050">
            <a:solidFill>
              <a:srgbClr val="007F68"/>
            </a:solidFill>
            <a:prstDash val="solid"/>
          </a:ln>
        </p:spPr>
        <p:txBody>
          <a:bodyPr/>
          <a:lstStyle/>
          <a:p>
            <a:endParaRPr lang="en-US"/>
          </a:p>
        </p:txBody>
      </p:sp>
      <p:sp>
        <p:nvSpPr>
          <p:cNvPr id="18" name="Rectangle 17">
            <a:extLst>
              <a:ext uri="{FF2B5EF4-FFF2-40B4-BE49-F238E27FC236}">
                <a16:creationId xmlns:a16="http://schemas.microsoft.com/office/drawing/2014/main" id="{0453DFF6-7935-4D75-A85F-13004F55D022}"/>
              </a:ext>
            </a:extLst>
          </p:cNvPr>
          <p:cNvSpPr>
            <a:spLocks noGrp="1"/>
          </p:cNvSpPr>
          <p:nvPr/>
        </p:nvSpPr>
        <p:spPr>
          <a:xfrm>
            <a:off x="1200150" y="5029200"/>
            <a:ext cx="914400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800" b="1">
                <a:solidFill>
                  <a:srgbClr val="007F68"/>
                </a:solidFill>
                <a:latin typeface="Aptos"/>
                <a:ea typeface="Aptos"/>
                <a:cs typeface="Aptos"/>
              </a:defRPr>
            </a:pPr>
            <a:r>
              <a:rPr sz="1800" b="1">
                <a:solidFill>
                  <a:srgbClr val="007F68"/>
                </a:solidFill>
                <a:latin typeface="Aptos"/>
                <a:ea typeface="Aptos"/>
                <a:cs typeface="Aptos"/>
              </a:rPr>
              <a:t>Critical invariant: execution_readiness_status can never upgrade claim_verdict_status.</a:t>
            </a:r>
          </a:p>
        </p:txBody>
      </p:sp>
    </p:spTree>
    <p:extLst>
      <p:ext uri="{BB962C8B-B14F-4D97-AF65-F5344CB8AC3E}">
        <p14:creationId xmlns:p14="http://schemas.microsoft.com/office/powerpoint/2010/main" val="1537693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4E57E8E4-0F8E-426A-A5FB-86AD0D22BCA9}"/>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E9B47B2-3CC0-4DDB-BE60-770D1B72BB32}"/>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CC0795C2-223F-4122-B3FA-457ED1F5364F}"/>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9D857C5E-59CA-40D5-9196-A017723687E7}"/>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ARCHITECTURE</a:t>
            </a:r>
          </a:p>
        </p:txBody>
      </p:sp>
      <p:sp>
        <p:nvSpPr>
          <p:cNvPr id="5" name="Rectangle 4">
            <a:extLst>
              <a:ext uri="{FF2B5EF4-FFF2-40B4-BE49-F238E27FC236}">
                <a16:creationId xmlns:a16="http://schemas.microsoft.com/office/drawing/2014/main" id="{FA67EECE-2B54-4916-99FE-519E0E615AF8}"/>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The new layer is domain semantics, not a new executor</a:t>
            </a:r>
          </a:p>
        </p:txBody>
      </p:sp>
      <p:sp>
        <p:nvSpPr>
          <p:cNvPr id="6" name="Rectangle 5">
            <a:extLst>
              <a:ext uri="{FF2B5EF4-FFF2-40B4-BE49-F238E27FC236}">
                <a16:creationId xmlns:a16="http://schemas.microsoft.com/office/drawing/2014/main" id="{CBFD9CC1-D681-479A-A84F-37729B170BB9}"/>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B2B1E33A-7466-4AA9-A54C-1BCFF5DFC1CB}"/>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03</a:t>
            </a:r>
          </a:p>
        </p:txBody>
      </p:sp>
      <p:sp>
        <p:nvSpPr>
          <p:cNvPr id="8" name="Rectangle 7">
            <a:extLst>
              <a:ext uri="{FF2B5EF4-FFF2-40B4-BE49-F238E27FC236}">
                <a16:creationId xmlns:a16="http://schemas.microsoft.com/office/drawing/2014/main" id="{37D19C86-2503-405D-ACB4-8058EE91E25D}"/>
              </a:ext>
            </a:extLst>
          </p:cNvPr>
          <p:cNvSpPr>
            <a:spLocks noGrp="1"/>
          </p:cNvSpPr>
          <p:nvPr/>
        </p:nvSpPr>
        <p:spPr>
          <a:xfrm>
            <a:off x="742950" y="1847850"/>
            <a:ext cx="2781300" cy="952500"/>
          </a:xfrm>
          <a:prstGeom prst="rect">
            <a:avLst/>
          </a:prstGeom>
          <a:solidFill>
            <a:srgbClr val="FFFFFF"/>
          </a:solidFill>
          <a:ln w="9525">
            <a:solidFill>
              <a:srgbClr val="D8D2C6"/>
            </a:solidFill>
            <a:prstDash val="solid"/>
          </a:ln>
        </p:spPr>
        <p:txBody>
          <a:bodyPr/>
          <a:lstStyle/>
          <a:p>
            <a:endParaRPr lang="en-US"/>
          </a:p>
        </p:txBody>
      </p:sp>
      <p:sp>
        <p:nvSpPr>
          <p:cNvPr id="9" name="Rectangle 8">
            <a:extLst>
              <a:ext uri="{FF2B5EF4-FFF2-40B4-BE49-F238E27FC236}">
                <a16:creationId xmlns:a16="http://schemas.microsoft.com/office/drawing/2014/main" id="{305805AE-2211-455B-9311-C2C07BD356B2}"/>
              </a:ext>
            </a:extLst>
          </p:cNvPr>
          <p:cNvSpPr>
            <a:spLocks noGrp="1"/>
          </p:cNvSpPr>
          <p:nvPr/>
        </p:nvSpPr>
        <p:spPr>
          <a:xfrm>
            <a:off x="914400" y="2038350"/>
            <a:ext cx="2419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12B"/>
                </a:solidFill>
                <a:latin typeface="Aptos Display"/>
                <a:ea typeface="Aptos Display"/>
                <a:cs typeface="Aptos Display"/>
              </a:defRPr>
            </a:pPr>
            <a:r>
              <a:rPr sz="1650" b="1">
                <a:solidFill>
                  <a:srgbClr val="18212B"/>
                </a:solidFill>
                <a:latin typeface="Aptos Display"/>
                <a:ea typeface="Aptos Display"/>
                <a:cs typeface="Aptos Display"/>
              </a:rPr>
              <a:t>Paper + repo + objective</a:t>
            </a:r>
          </a:p>
        </p:txBody>
      </p:sp>
      <p:sp>
        <p:nvSpPr>
          <p:cNvPr id="10" name="Rectangle 9">
            <a:extLst>
              <a:ext uri="{FF2B5EF4-FFF2-40B4-BE49-F238E27FC236}">
                <a16:creationId xmlns:a16="http://schemas.microsoft.com/office/drawing/2014/main" id="{A2CE1B2A-9416-411B-9723-11C2742B8C2E}"/>
              </a:ext>
            </a:extLst>
          </p:cNvPr>
          <p:cNvSpPr>
            <a:spLocks noGrp="1"/>
          </p:cNvSpPr>
          <p:nvPr/>
        </p:nvSpPr>
        <p:spPr>
          <a:xfrm>
            <a:off x="914400" y="240030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470"/>
                </a:solidFill>
                <a:latin typeface="Aptos"/>
                <a:ea typeface="Aptos"/>
                <a:cs typeface="Aptos"/>
              </a:defRPr>
            </a:pPr>
            <a:r>
              <a:rPr sz="1200" b="0">
                <a:solidFill>
                  <a:srgbClr val="5B6470"/>
                </a:solidFill>
                <a:latin typeface="Aptos"/>
                <a:ea typeface="Aptos"/>
                <a:cs typeface="Aptos"/>
              </a:rPr>
              <a:t>User request</a:t>
            </a:r>
          </a:p>
        </p:txBody>
      </p:sp>
      <p:sp>
        <p:nvSpPr>
          <p:cNvPr id="11" name="Rectangle 10">
            <a:extLst>
              <a:ext uri="{FF2B5EF4-FFF2-40B4-BE49-F238E27FC236}">
                <a16:creationId xmlns:a16="http://schemas.microsoft.com/office/drawing/2014/main" id="{3A28092F-4502-4ABD-AA92-408BF28FB98A}"/>
              </a:ext>
            </a:extLst>
          </p:cNvPr>
          <p:cNvSpPr>
            <a:spLocks noGrp="1"/>
          </p:cNvSpPr>
          <p:nvPr/>
        </p:nvSpPr>
        <p:spPr>
          <a:xfrm>
            <a:off x="3657600" y="2305050"/>
            <a:ext cx="419100" cy="38100"/>
          </a:xfrm>
          <a:prstGeom prst="rect">
            <a:avLst/>
          </a:prstGeom>
          <a:solidFill>
            <a:srgbClr val="007F68"/>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2F1C0762-0461-4460-A210-ED36D100C462}"/>
              </a:ext>
            </a:extLst>
          </p:cNvPr>
          <p:cNvSpPr>
            <a:spLocks noGrp="1"/>
          </p:cNvSpPr>
          <p:nvPr/>
        </p:nvSpPr>
        <p:spPr>
          <a:xfrm>
            <a:off x="4171950" y="1847850"/>
            <a:ext cx="2781300" cy="952500"/>
          </a:xfrm>
          <a:prstGeom prst="rect">
            <a:avLst/>
          </a:prstGeom>
          <a:solidFill>
            <a:srgbClr val="FFFFFF"/>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16620727-B616-4A79-BB22-DBCB5EEE27A6}"/>
              </a:ext>
            </a:extLst>
          </p:cNvPr>
          <p:cNvSpPr>
            <a:spLocks noGrp="1"/>
          </p:cNvSpPr>
          <p:nvPr/>
        </p:nvSpPr>
        <p:spPr>
          <a:xfrm>
            <a:off x="4343400" y="2038350"/>
            <a:ext cx="2419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12B"/>
                </a:solidFill>
                <a:latin typeface="Aptos Display"/>
                <a:ea typeface="Aptos Display"/>
                <a:cs typeface="Aptos Display"/>
              </a:defRPr>
            </a:pPr>
            <a:r>
              <a:rPr sz="1650" b="1">
                <a:solidFill>
                  <a:srgbClr val="18212B"/>
                </a:solidFill>
                <a:latin typeface="Aptos Display"/>
                <a:ea typeface="Aptos Display"/>
                <a:cs typeface="Aptos Display"/>
              </a:rPr>
              <a:t>Solar intake</a:t>
            </a:r>
          </a:p>
        </p:txBody>
      </p:sp>
      <p:sp>
        <p:nvSpPr>
          <p:cNvPr id="14" name="Rectangle 13">
            <a:extLst>
              <a:ext uri="{FF2B5EF4-FFF2-40B4-BE49-F238E27FC236}">
                <a16:creationId xmlns:a16="http://schemas.microsoft.com/office/drawing/2014/main" id="{7F2E8DA7-91EA-44FD-BB1C-F3D7A18AB79C}"/>
              </a:ext>
            </a:extLst>
          </p:cNvPr>
          <p:cNvSpPr>
            <a:spLocks noGrp="1"/>
          </p:cNvSpPr>
          <p:nvPr/>
        </p:nvSpPr>
        <p:spPr>
          <a:xfrm>
            <a:off x="4343400" y="240030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470"/>
                </a:solidFill>
                <a:latin typeface="Aptos"/>
                <a:ea typeface="Aptos"/>
                <a:cs typeface="Aptos"/>
              </a:defRPr>
            </a:pPr>
            <a:r>
              <a:rPr sz="1200" b="0">
                <a:solidFill>
                  <a:srgbClr val="5B6470"/>
                </a:solidFill>
                <a:latin typeface="Aptos"/>
                <a:ea typeface="Aptos"/>
                <a:cs typeface="Aptos"/>
              </a:rPr>
              <a:t>Harness request package</a:t>
            </a:r>
          </a:p>
        </p:txBody>
      </p:sp>
      <p:sp>
        <p:nvSpPr>
          <p:cNvPr id="15" name="Rectangle 14">
            <a:extLst>
              <a:ext uri="{FF2B5EF4-FFF2-40B4-BE49-F238E27FC236}">
                <a16:creationId xmlns:a16="http://schemas.microsoft.com/office/drawing/2014/main" id="{D6CA85BF-2670-4DC9-9651-BCAD2C3E09AF}"/>
              </a:ext>
            </a:extLst>
          </p:cNvPr>
          <p:cNvSpPr>
            <a:spLocks noGrp="1"/>
          </p:cNvSpPr>
          <p:nvPr/>
        </p:nvSpPr>
        <p:spPr>
          <a:xfrm>
            <a:off x="7086600" y="2305050"/>
            <a:ext cx="419100" cy="38100"/>
          </a:xfrm>
          <a:prstGeom prst="rect">
            <a:avLst/>
          </a:prstGeom>
          <a:solidFill>
            <a:srgbClr val="007F68"/>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6CC905AD-1EA4-4C59-8015-DB70C069B079}"/>
              </a:ext>
            </a:extLst>
          </p:cNvPr>
          <p:cNvSpPr>
            <a:spLocks noGrp="1"/>
          </p:cNvSpPr>
          <p:nvPr/>
        </p:nvSpPr>
        <p:spPr>
          <a:xfrm>
            <a:off x="7600950" y="1847850"/>
            <a:ext cx="2781300" cy="952500"/>
          </a:xfrm>
          <a:prstGeom prst="rect">
            <a:avLst/>
          </a:prstGeom>
          <a:solidFill>
            <a:srgbClr val="DDEFE9"/>
          </a:solidFill>
          <a:ln w="9525">
            <a:solidFill>
              <a:srgbClr val="D8D2C6"/>
            </a:solidFill>
            <a:prstDash val="solid"/>
          </a:ln>
        </p:spPr>
        <p:txBody>
          <a:bodyPr/>
          <a:lstStyle/>
          <a:p>
            <a:endParaRPr lang="en-US"/>
          </a:p>
        </p:txBody>
      </p:sp>
      <p:sp>
        <p:nvSpPr>
          <p:cNvPr id="17" name="Rectangle 16">
            <a:extLst>
              <a:ext uri="{FF2B5EF4-FFF2-40B4-BE49-F238E27FC236}">
                <a16:creationId xmlns:a16="http://schemas.microsoft.com/office/drawing/2014/main" id="{870DBF72-49A8-455C-B3DF-8764EF096041}"/>
              </a:ext>
            </a:extLst>
          </p:cNvPr>
          <p:cNvSpPr>
            <a:spLocks noGrp="1"/>
          </p:cNvSpPr>
          <p:nvPr/>
        </p:nvSpPr>
        <p:spPr>
          <a:xfrm>
            <a:off x="7772400" y="2038350"/>
            <a:ext cx="2419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12B"/>
                </a:solidFill>
                <a:latin typeface="Aptos Display"/>
                <a:ea typeface="Aptos Display"/>
                <a:cs typeface="Aptos Display"/>
              </a:defRPr>
            </a:pPr>
            <a:r>
              <a:rPr sz="1650" b="1">
                <a:solidFill>
                  <a:srgbClr val="18212B"/>
                </a:solidFill>
                <a:latin typeface="Aptos Display"/>
                <a:ea typeface="Aptos Display"/>
                <a:cs typeface="Aptos Display"/>
              </a:rPr>
              <a:t>ResearchClaimVerifier</a:t>
            </a:r>
          </a:p>
        </p:txBody>
      </p:sp>
      <p:sp>
        <p:nvSpPr>
          <p:cNvPr id="18" name="Rectangle 17">
            <a:extLst>
              <a:ext uri="{FF2B5EF4-FFF2-40B4-BE49-F238E27FC236}">
                <a16:creationId xmlns:a16="http://schemas.microsoft.com/office/drawing/2014/main" id="{04BC151C-4F3D-4CA7-BE07-39F2F0D1AA22}"/>
              </a:ext>
            </a:extLst>
          </p:cNvPr>
          <p:cNvSpPr>
            <a:spLocks noGrp="1"/>
          </p:cNvSpPr>
          <p:nvPr/>
        </p:nvSpPr>
        <p:spPr>
          <a:xfrm>
            <a:off x="7772400" y="240030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470"/>
                </a:solidFill>
                <a:latin typeface="Aptos"/>
                <a:ea typeface="Aptos"/>
                <a:cs typeface="Aptos"/>
              </a:defRPr>
            </a:pPr>
            <a:r>
              <a:rPr sz="1200" b="0">
                <a:solidFill>
                  <a:srgbClr val="5B6470"/>
                </a:solidFill>
                <a:latin typeface="Aptos"/>
                <a:ea typeface="Aptos"/>
                <a:cs typeface="Aptos"/>
              </a:rPr>
              <a:t>New logical operator</a:t>
            </a:r>
          </a:p>
        </p:txBody>
      </p:sp>
      <p:sp>
        <p:nvSpPr>
          <p:cNvPr id="19" name="Rectangle 18">
            <a:extLst>
              <a:ext uri="{FF2B5EF4-FFF2-40B4-BE49-F238E27FC236}">
                <a16:creationId xmlns:a16="http://schemas.microsoft.com/office/drawing/2014/main" id="{50E827A2-E13C-439A-9CA7-3C4DD61695E6}"/>
              </a:ext>
            </a:extLst>
          </p:cNvPr>
          <p:cNvSpPr>
            <a:spLocks noGrp="1"/>
          </p:cNvSpPr>
          <p:nvPr/>
        </p:nvSpPr>
        <p:spPr>
          <a:xfrm>
            <a:off x="742950" y="3657600"/>
            <a:ext cx="2781300" cy="952500"/>
          </a:xfrm>
          <a:prstGeom prst="rect">
            <a:avLst/>
          </a:prstGeom>
          <a:solidFill>
            <a:srgbClr val="F3E5D2"/>
          </a:solidFill>
          <a:ln w="9525">
            <a:solidFill>
              <a:srgbClr val="D8D2C6"/>
            </a:solidFill>
            <a:prstDash val="solid"/>
          </a:ln>
        </p:spPr>
        <p:txBody>
          <a:bodyPr/>
          <a:lstStyle/>
          <a:p>
            <a:endParaRPr lang="en-US"/>
          </a:p>
        </p:txBody>
      </p:sp>
      <p:sp>
        <p:nvSpPr>
          <p:cNvPr id="20" name="Rectangle 19">
            <a:extLst>
              <a:ext uri="{FF2B5EF4-FFF2-40B4-BE49-F238E27FC236}">
                <a16:creationId xmlns:a16="http://schemas.microsoft.com/office/drawing/2014/main" id="{53F8A297-C5D7-4865-87D4-4481D85E23F3}"/>
              </a:ext>
            </a:extLst>
          </p:cNvPr>
          <p:cNvSpPr>
            <a:spLocks noGrp="1"/>
          </p:cNvSpPr>
          <p:nvPr/>
        </p:nvSpPr>
        <p:spPr>
          <a:xfrm>
            <a:off x="914400" y="3848100"/>
            <a:ext cx="2419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12B"/>
                </a:solidFill>
                <a:latin typeface="Aptos Display"/>
                <a:ea typeface="Aptos Display"/>
                <a:cs typeface="Aptos Display"/>
              </a:defRPr>
            </a:pPr>
            <a:r>
              <a:rPr sz="1650" b="1">
                <a:solidFill>
                  <a:srgbClr val="18212B"/>
                </a:solidFill>
                <a:latin typeface="Aptos Display"/>
                <a:ea typeface="Aptos Display"/>
                <a:cs typeface="Aptos Display"/>
              </a:rPr>
              <a:t>BenchmarkRunner</a:t>
            </a:r>
          </a:p>
        </p:txBody>
      </p:sp>
      <p:sp>
        <p:nvSpPr>
          <p:cNvPr id="21" name="Rectangle 20">
            <a:extLst>
              <a:ext uri="{FF2B5EF4-FFF2-40B4-BE49-F238E27FC236}">
                <a16:creationId xmlns:a16="http://schemas.microsoft.com/office/drawing/2014/main" id="{A7494B22-786E-48DB-A239-0408B46BFA5A}"/>
              </a:ext>
            </a:extLst>
          </p:cNvPr>
          <p:cNvSpPr>
            <a:spLocks noGrp="1"/>
          </p:cNvSpPr>
          <p:nvPr/>
        </p:nvSpPr>
        <p:spPr>
          <a:xfrm>
            <a:off x="914400" y="421005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470"/>
                </a:solidFill>
                <a:latin typeface="Aptos"/>
                <a:ea typeface="Aptos"/>
                <a:cs typeface="Aptos"/>
              </a:defRPr>
            </a:pPr>
            <a:r>
              <a:rPr sz="1200" b="0">
                <a:solidFill>
                  <a:srgbClr val="5B6470"/>
                </a:solidFill>
                <a:latin typeface="Aptos"/>
                <a:ea typeface="Aptos"/>
                <a:cs typeface="Aptos"/>
              </a:rPr>
              <a:t>Existing execution path</a:t>
            </a:r>
          </a:p>
        </p:txBody>
      </p:sp>
      <p:sp>
        <p:nvSpPr>
          <p:cNvPr id="22" name="Rectangle 21">
            <a:extLst>
              <a:ext uri="{FF2B5EF4-FFF2-40B4-BE49-F238E27FC236}">
                <a16:creationId xmlns:a16="http://schemas.microsoft.com/office/drawing/2014/main" id="{6FAD6860-968E-4B9D-9AD7-662C04C3A3B9}"/>
              </a:ext>
            </a:extLst>
          </p:cNvPr>
          <p:cNvSpPr>
            <a:spLocks noGrp="1"/>
          </p:cNvSpPr>
          <p:nvPr/>
        </p:nvSpPr>
        <p:spPr>
          <a:xfrm>
            <a:off x="3657600" y="4114800"/>
            <a:ext cx="419100" cy="38100"/>
          </a:xfrm>
          <a:prstGeom prst="rect">
            <a:avLst/>
          </a:prstGeom>
          <a:solidFill>
            <a:srgbClr val="007F68"/>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967C7F03-D6C5-424F-A023-581682E254F9}"/>
              </a:ext>
            </a:extLst>
          </p:cNvPr>
          <p:cNvSpPr>
            <a:spLocks noGrp="1"/>
          </p:cNvSpPr>
          <p:nvPr/>
        </p:nvSpPr>
        <p:spPr>
          <a:xfrm>
            <a:off x="4171950" y="3657600"/>
            <a:ext cx="2781300" cy="952500"/>
          </a:xfrm>
          <a:prstGeom prst="rect">
            <a:avLst/>
          </a:prstGeom>
          <a:solidFill>
            <a:srgbClr val="FFFFFF"/>
          </a:solidFill>
          <a:ln w="9525">
            <a:solidFill>
              <a:srgbClr val="D8D2C6"/>
            </a:solidFill>
            <a:prstDash val="solid"/>
          </a:ln>
        </p:spPr>
        <p:txBody>
          <a:bodyPr/>
          <a:lstStyle/>
          <a:p>
            <a:endParaRPr lang="en-US"/>
          </a:p>
        </p:txBody>
      </p:sp>
      <p:sp>
        <p:nvSpPr>
          <p:cNvPr id="24" name="Rectangle 23">
            <a:extLst>
              <a:ext uri="{FF2B5EF4-FFF2-40B4-BE49-F238E27FC236}">
                <a16:creationId xmlns:a16="http://schemas.microsoft.com/office/drawing/2014/main" id="{072E0496-0A04-4A5F-83D7-0F5F1D7A5C7D}"/>
              </a:ext>
            </a:extLst>
          </p:cNvPr>
          <p:cNvSpPr>
            <a:spLocks noGrp="1"/>
          </p:cNvSpPr>
          <p:nvPr/>
        </p:nvSpPr>
        <p:spPr>
          <a:xfrm>
            <a:off x="4343400" y="3848100"/>
            <a:ext cx="2419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12B"/>
                </a:solidFill>
                <a:latin typeface="Aptos Display"/>
                <a:ea typeface="Aptos Display"/>
                <a:cs typeface="Aptos Display"/>
              </a:defRPr>
            </a:pPr>
            <a:r>
              <a:rPr sz="1650" b="1">
                <a:solidFill>
                  <a:srgbClr val="18212B"/>
                </a:solidFill>
                <a:latin typeface="Aptos Display"/>
                <a:ea typeface="Aptos Display"/>
                <a:cs typeface="Aptos Display"/>
              </a:rPr>
              <a:t>Evidence-backed verdict</a:t>
            </a:r>
          </a:p>
        </p:txBody>
      </p:sp>
      <p:sp>
        <p:nvSpPr>
          <p:cNvPr id="25" name="Rectangle 24">
            <a:extLst>
              <a:ext uri="{FF2B5EF4-FFF2-40B4-BE49-F238E27FC236}">
                <a16:creationId xmlns:a16="http://schemas.microsoft.com/office/drawing/2014/main" id="{48A35428-58DF-4380-AC2F-A52018F76689}"/>
              </a:ext>
            </a:extLst>
          </p:cNvPr>
          <p:cNvSpPr>
            <a:spLocks noGrp="1"/>
          </p:cNvSpPr>
          <p:nvPr/>
        </p:nvSpPr>
        <p:spPr>
          <a:xfrm>
            <a:off x="4343400" y="421005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470"/>
                </a:solidFill>
                <a:latin typeface="Aptos"/>
                <a:ea typeface="Aptos"/>
                <a:cs typeface="Aptos"/>
              </a:defRPr>
            </a:pPr>
            <a:r>
              <a:rPr sz="1200" b="0">
                <a:solidFill>
                  <a:srgbClr val="5B6470"/>
                </a:solidFill>
                <a:latin typeface="Aptos"/>
                <a:ea typeface="Aptos"/>
                <a:cs typeface="Aptos"/>
              </a:rPr>
              <a:t>Comparator + report</a:t>
            </a:r>
          </a:p>
        </p:txBody>
      </p:sp>
      <p:sp>
        <p:nvSpPr>
          <p:cNvPr id="26" name="Rectangle 25">
            <a:extLst>
              <a:ext uri="{FF2B5EF4-FFF2-40B4-BE49-F238E27FC236}">
                <a16:creationId xmlns:a16="http://schemas.microsoft.com/office/drawing/2014/main" id="{9F1514DA-161D-4E6C-809A-376F4AA826C9}"/>
              </a:ext>
            </a:extLst>
          </p:cNvPr>
          <p:cNvSpPr>
            <a:spLocks noGrp="1"/>
          </p:cNvSpPr>
          <p:nvPr/>
        </p:nvSpPr>
        <p:spPr>
          <a:xfrm>
            <a:off x="7086600" y="4114800"/>
            <a:ext cx="419100" cy="38100"/>
          </a:xfrm>
          <a:prstGeom prst="rect">
            <a:avLst/>
          </a:prstGeom>
          <a:solidFill>
            <a:srgbClr val="007F68"/>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711E8FBA-B1BC-448E-B30F-AFC0799C30D3}"/>
              </a:ext>
            </a:extLst>
          </p:cNvPr>
          <p:cNvSpPr>
            <a:spLocks noGrp="1"/>
          </p:cNvSpPr>
          <p:nvPr/>
        </p:nvSpPr>
        <p:spPr>
          <a:xfrm>
            <a:off x="7600950" y="3657600"/>
            <a:ext cx="2781300" cy="952500"/>
          </a:xfrm>
          <a:prstGeom prst="rect">
            <a:avLst/>
          </a:prstGeom>
          <a:solidFill>
            <a:srgbClr val="FFFFFF"/>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3AE9204B-7B05-44C7-AF84-1615D575BEE9}"/>
              </a:ext>
            </a:extLst>
          </p:cNvPr>
          <p:cNvSpPr>
            <a:spLocks noGrp="1"/>
          </p:cNvSpPr>
          <p:nvPr/>
        </p:nvSpPr>
        <p:spPr>
          <a:xfrm>
            <a:off x="7772400" y="3848100"/>
            <a:ext cx="2419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18212B"/>
                </a:solidFill>
                <a:latin typeface="Aptos Display"/>
                <a:ea typeface="Aptos Display"/>
                <a:cs typeface="Aptos Display"/>
              </a:defRPr>
            </a:pPr>
            <a:r>
              <a:rPr sz="1650" b="1">
                <a:solidFill>
                  <a:srgbClr val="18212B"/>
                </a:solidFill>
                <a:latin typeface="Aptos Display"/>
                <a:ea typeface="Aptos Display"/>
                <a:cs typeface="Aptos Display"/>
              </a:rPr>
              <a:t>Verifier gate</a:t>
            </a:r>
          </a:p>
        </p:txBody>
      </p:sp>
      <p:sp>
        <p:nvSpPr>
          <p:cNvPr id="29" name="Rectangle 28">
            <a:extLst>
              <a:ext uri="{FF2B5EF4-FFF2-40B4-BE49-F238E27FC236}">
                <a16:creationId xmlns:a16="http://schemas.microsoft.com/office/drawing/2014/main" id="{57426ACB-B4B2-4DC0-B54A-21E73E25919C}"/>
              </a:ext>
            </a:extLst>
          </p:cNvPr>
          <p:cNvSpPr>
            <a:spLocks noGrp="1"/>
          </p:cNvSpPr>
          <p:nvPr/>
        </p:nvSpPr>
        <p:spPr>
          <a:xfrm>
            <a:off x="7772400" y="4210050"/>
            <a:ext cx="2419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5B6470"/>
                </a:solidFill>
                <a:latin typeface="Aptos"/>
                <a:ea typeface="Aptos"/>
                <a:cs typeface="Aptos"/>
              </a:defRPr>
            </a:pPr>
            <a:r>
              <a:rPr sz="1200" b="0">
                <a:solidFill>
                  <a:srgbClr val="5B6470"/>
                </a:solidFill>
                <a:latin typeface="Aptos"/>
                <a:ea typeface="Aptos"/>
                <a:cs typeface="Aptos"/>
              </a:rPr>
              <a:t>Solar acceptance</a:t>
            </a:r>
          </a:p>
        </p:txBody>
      </p:sp>
      <p:sp>
        <p:nvSpPr>
          <p:cNvPr id="30" name="Rectangle 29">
            <a:extLst>
              <a:ext uri="{FF2B5EF4-FFF2-40B4-BE49-F238E27FC236}">
                <a16:creationId xmlns:a16="http://schemas.microsoft.com/office/drawing/2014/main" id="{9E3751D6-DB6B-419C-A2B6-4B0A41E71766}"/>
              </a:ext>
            </a:extLst>
          </p:cNvPr>
          <p:cNvSpPr>
            <a:spLocks noGrp="1"/>
          </p:cNvSpPr>
          <p:nvPr/>
        </p:nvSpPr>
        <p:spPr>
          <a:xfrm>
            <a:off x="2038350" y="2971800"/>
            <a:ext cx="38100" cy="514350"/>
          </a:xfrm>
          <a:prstGeom prst="rect">
            <a:avLst/>
          </a:prstGeom>
          <a:solidFill>
            <a:srgbClr val="007F68"/>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646792C5-EDD9-401C-BF6E-8A59047E624F}"/>
              </a:ext>
            </a:extLst>
          </p:cNvPr>
          <p:cNvSpPr>
            <a:spLocks noGrp="1"/>
          </p:cNvSpPr>
          <p:nvPr/>
        </p:nvSpPr>
        <p:spPr>
          <a:xfrm>
            <a:off x="5467350" y="2971800"/>
            <a:ext cx="38100" cy="514350"/>
          </a:xfrm>
          <a:prstGeom prst="rect">
            <a:avLst/>
          </a:prstGeom>
          <a:solidFill>
            <a:srgbClr val="007F68"/>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CCC90376-DDD9-47FA-9F3B-EEF6E95EF008}"/>
              </a:ext>
            </a:extLst>
          </p:cNvPr>
          <p:cNvSpPr>
            <a:spLocks noGrp="1"/>
          </p:cNvSpPr>
          <p:nvPr/>
        </p:nvSpPr>
        <p:spPr>
          <a:xfrm>
            <a:off x="8896350" y="2971800"/>
            <a:ext cx="38100" cy="514350"/>
          </a:xfrm>
          <a:prstGeom prst="rect">
            <a:avLst/>
          </a:prstGeom>
          <a:solidFill>
            <a:srgbClr val="007F68"/>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393C29D2-DA11-44FE-93C2-B7E83F01D327}"/>
              </a:ext>
            </a:extLst>
          </p:cNvPr>
          <p:cNvSpPr>
            <a:spLocks noGrp="1"/>
          </p:cNvSpPr>
          <p:nvPr/>
        </p:nvSpPr>
        <p:spPr>
          <a:xfrm>
            <a:off x="838200" y="5810250"/>
            <a:ext cx="933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0">
                <a:solidFill>
                  <a:srgbClr val="5B6470"/>
                </a:solidFill>
                <a:latin typeface="Aptos"/>
                <a:ea typeface="Aptos"/>
                <a:cs typeface="Aptos"/>
              </a:defRPr>
            </a:pPr>
            <a:r>
              <a:rPr sz="1350" b="0">
                <a:solidFill>
                  <a:srgbClr val="5B6470"/>
                </a:solidFill>
                <a:latin typeface="Aptos"/>
                <a:ea typeface="Aptos"/>
                <a:cs typeface="Aptos"/>
              </a:rPr>
              <a:t>Harness internally handles capsule resolution, routing, leases, inbox/result files, and traces.</a:t>
            </a:r>
          </a:p>
        </p:txBody>
      </p:sp>
    </p:spTree>
    <p:extLst>
      <p:ext uri="{BB962C8B-B14F-4D97-AF65-F5344CB8AC3E}">
        <p14:creationId xmlns:p14="http://schemas.microsoft.com/office/powerpoint/2010/main" val="1621785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894EDDD3-59D4-4AB2-B0D3-F2224E9FBAA2}"/>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25E0E001-D40B-4752-A799-DE0568D8637A}"/>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63B30ED-43D7-4123-B835-C310E7F1233A}"/>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0C54DA4A-B2D5-4F80-B46B-7F85F1E56BA9}"/>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WORKFLOW</a:t>
            </a:r>
          </a:p>
        </p:txBody>
      </p:sp>
      <p:sp>
        <p:nvSpPr>
          <p:cNvPr id="5" name="Rectangle 4">
            <a:extLst>
              <a:ext uri="{FF2B5EF4-FFF2-40B4-BE49-F238E27FC236}">
                <a16:creationId xmlns:a16="http://schemas.microsoft.com/office/drawing/2014/main" id="{04E5F399-969C-44F5-915A-0FC51C04C0D3}"/>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The adapt_skeleton flow is the source path for every step slide</a:t>
            </a:r>
          </a:p>
        </p:txBody>
      </p:sp>
      <p:sp>
        <p:nvSpPr>
          <p:cNvPr id="6" name="Rectangle 5">
            <a:extLst>
              <a:ext uri="{FF2B5EF4-FFF2-40B4-BE49-F238E27FC236}">
                <a16:creationId xmlns:a16="http://schemas.microsoft.com/office/drawing/2014/main" id="{3414BFB4-9BA0-43FF-9F0E-684F9AC87476}"/>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49D08EA4-5BB3-46C5-B5FE-85D31D08110C}"/>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04</a:t>
            </a:r>
          </a:p>
        </p:txBody>
      </p:sp>
      <p:sp>
        <p:nvSpPr>
          <p:cNvPr id="8" name="Rectangle 7">
            <a:extLst>
              <a:ext uri="{FF2B5EF4-FFF2-40B4-BE49-F238E27FC236}">
                <a16:creationId xmlns:a16="http://schemas.microsoft.com/office/drawing/2014/main" id="{5BDAC4BB-6BB8-40E7-A72D-F9551DA46B33}"/>
              </a:ext>
            </a:extLst>
          </p:cNvPr>
          <p:cNvSpPr>
            <a:spLocks noGrp="1"/>
          </p:cNvSpPr>
          <p:nvPr/>
        </p:nvSpPr>
        <p:spPr>
          <a:xfrm>
            <a:off x="685800" y="1466850"/>
            <a:ext cx="9525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5B6470"/>
                </a:solidFill>
                <a:latin typeface="Aptos"/>
                <a:ea typeface="Aptos"/>
                <a:cs typeface="Aptos"/>
              </a:defRPr>
            </a:pPr>
            <a:r>
              <a:rPr sz="1500" b="0">
                <a:solidFill>
                  <a:srgbClr val="5B6470"/>
                </a:solidFill>
                <a:latin typeface="Aptos"/>
                <a:ea typeface="Aptos"/>
                <a:cs typeface="Aptos"/>
              </a:rPr>
              <a:t>The next 10 slides keep this full path visible, enlarge the current step, and paste the matching source row below it.</a:t>
            </a:r>
          </a:p>
        </p:txBody>
      </p:sp>
      <p:sp>
        <p:nvSpPr>
          <p:cNvPr id="9" name="Rectangle 8">
            <a:extLst>
              <a:ext uri="{FF2B5EF4-FFF2-40B4-BE49-F238E27FC236}">
                <a16:creationId xmlns:a16="http://schemas.microsoft.com/office/drawing/2014/main" id="{6D74CBDE-8820-41A5-83E0-5EB7FA445383}"/>
              </a:ext>
            </a:extLst>
          </p:cNvPr>
          <p:cNvSpPr>
            <a:spLocks noGrp="1"/>
          </p:cNvSpPr>
          <p:nvPr/>
        </p:nvSpPr>
        <p:spPr>
          <a:xfrm>
            <a:off x="676275" y="2314575"/>
            <a:ext cx="7429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694164C1-95F9-41AF-9576-650E222491A6}"/>
              </a:ext>
            </a:extLst>
          </p:cNvPr>
          <p:cNvSpPr>
            <a:spLocks noGrp="1"/>
          </p:cNvSpPr>
          <p:nvPr/>
        </p:nvSpPr>
        <p:spPr>
          <a:xfrm>
            <a:off x="7143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3DA68CC1-BE6C-452E-A865-D42744AA11FD}"/>
              </a:ext>
            </a:extLst>
          </p:cNvPr>
          <p:cNvSpPr>
            <a:spLocks noGrp="1"/>
          </p:cNvSpPr>
          <p:nvPr/>
        </p:nvSpPr>
        <p:spPr>
          <a:xfrm>
            <a:off x="14287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3E7A1997-8659-4A41-A49D-D8A584442E37}"/>
              </a:ext>
            </a:extLst>
          </p:cNvPr>
          <p:cNvSpPr>
            <a:spLocks noGrp="1"/>
          </p:cNvSpPr>
          <p:nvPr/>
        </p:nvSpPr>
        <p:spPr>
          <a:xfrm>
            <a:off x="1514475" y="2314575"/>
            <a:ext cx="7429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689399E4-A14E-4799-9511-BFF6EF0C74E5}"/>
              </a:ext>
            </a:extLst>
          </p:cNvPr>
          <p:cNvSpPr>
            <a:spLocks noGrp="1"/>
          </p:cNvSpPr>
          <p:nvPr/>
        </p:nvSpPr>
        <p:spPr>
          <a:xfrm>
            <a:off x="15525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9ADB5762-9E8F-4DD7-B09A-2F750BC93C7D}"/>
              </a:ext>
            </a:extLst>
          </p:cNvPr>
          <p:cNvSpPr>
            <a:spLocks noGrp="1"/>
          </p:cNvSpPr>
          <p:nvPr/>
        </p:nvSpPr>
        <p:spPr>
          <a:xfrm>
            <a:off x="22669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AFB1FB7A-2083-426F-B8A7-6D6A0815A1E2}"/>
              </a:ext>
            </a:extLst>
          </p:cNvPr>
          <p:cNvSpPr>
            <a:spLocks noGrp="1"/>
          </p:cNvSpPr>
          <p:nvPr/>
        </p:nvSpPr>
        <p:spPr>
          <a:xfrm>
            <a:off x="2352675" y="2314575"/>
            <a:ext cx="7429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75E2CCE3-2337-4DAB-B420-F427B3792FBF}"/>
              </a:ext>
            </a:extLst>
          </p:cNvPr>
          <p:cNvSpPr>
            <a:spLocks noGrp="1"/>
          </p:cNvSpPr>
          <p:nvPr/>
        </p:nvSpPr>
        <p:spPr>
          <a:xfrm>
            <a:off x="23907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58F23FFB-BBDA-4BB2-B19D-1FA34C532683}"/>
              </a:ext>
            </a:extLst>
          </p:cNvPr>
          <p:cNvSpPr>
            <a:spLocks noGrp="1"/>
          </p:cNvSpPr>
          <p:nvPr/>
        </p:nvSpPr>
        <p:spPr>
          <a:xfrm>
            <a:off x="31051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3D1DCAA7-1248-4BE4-B860-056841151C82}"/>
              </a:ext>
            </a:extLst>
          </p:cNvPr>
          <p:cNvSpPr>
            <a:spLocks noGrp="1"/>
          </p:cNvSpPr>
          <p:nvPr/>
        </p:nvSpPr>
        <p:spPr>
          <a:xfrm>
            <a:off x="3190875" y="2314575"/>
            <a:ext cx="7429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C66B7921-71D8-4EF8-A139-56CDB711D9F7}"/>
              </a:ext>
            </a:extLst>
          </p:cNvPr>
          <p:cNvSpPr>
            <a:spLocks noGrp="1"/>
          </p:cNvSpPr>
          <p:nvPr/>
        </p:nvSpPr>
        <p:spPr>
          <a:xfrm>
            <a:off x="32289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915B91E0-AB10-4E95-8D41-8C46A99D2668}"/>
              </a:ext>
            </a:extLst>
          </p:cNvPr>
          <p:cNvSpPr>
            <a:spLocks noGrp="1"/>
          </p:cNvSpPr>
          <p:nvPr/>
        </p:nvSpPr>
        <p:spPr>
          <a:xfrm>
            <a:off x="39433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9184A907-CB07-4558-972F-3F3B198B5CFB}"/>
              </a:ext>
            </a:extLst>
          </p:cNvPr>
          <p:cNvSpPr>
            <a:spLocks noGrp="1"/>
          </p:cNvSpPr>
          <p:nvPr/>
        </p:nvSpPr>
        <p:spPr>
          <a:xfrm>
            <a:off x="4029075" y="2314575"/>
            <a:ext cx="7429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0CB632FF-4C91-41BB-A99D-036B20F37C53}"/>
              </a:ext>
            </a:extLst>
          </p:cNvPr>
          <p:cNvSpPr>
            <a:spLocks noGrp="1"/>
          </p:cNvSpPr>
          <p:nvPr/>
        </p:nvSpPr>
        <p:spPr>
          <a:xfrm>
            <a:off x="40671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5707C7A6-A444-48D3-9A12-6CC0CB30C474}"/>
              </a:ext>
            </a:extLst>
          </p:cNvPr>
          <p:cNvSpPr>
            <a:spLocks noGrp="1"/>
          </p:cNvSpPr>
          <p:nvPr/>
        </p:nvSpPr>
        <p:spPr>
          <a:xfrm>
            <a:off x="47815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4F8F22DB-65DE-4BED-98AE-830391C648ED}"/>
              </a:ext>
            </a:extLst>
          </p:cNvPr>
          <p:cNvSpPr>
            <a:spLocks noGrp="1"/>
          </p:cNvSpPr>
          <p:nvPr/>
        </p:nvSpPr>
        <p:spPr>
          <a:xfrm>
            <a:off x="4867275" y="2314575"/>
            <a:ext cx="7429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21420DA8-6355-4DFD-9081-A2AFEE113DBA}"/>
              </a:ext>
            </a:extLst>
          </p:cNvPr>
          <p:cNvSpPr>
            <a:spLocks noGrp="1"/>
          </p:cNvSpPr>
          <p:nvPr/>
        </p:nvSpPr>
        <p:spPr>
          <a:xfrm>
            <a:off x="49053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8B76A01B-D5CA-4CB6-B3A9-356B114EA080}"/>
              </a:ext>
            </a:extLst>
          </p:cNvPr>
          <p:cNvSpPr>
            <a:spLocks noGrp="1"/>
          </p:cNvSpPr>
          <p:nvPr/>
        </p:nvSpPr>
        <p:spPr>
          <a:xfrm>
            <a:off x="56197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067D11A4-0456-4C1A-A59F-915E25582BA9}"/>
              </a:ext>
            </a:extLst>
          </p:cNvPr>
          <p:cNvSpPr>
            <a:spLocks noGrp="1"/>
          </p:cNvSpPr>
          <p:nvPr/>
        </p:nvSpPr>
        <p:spPr>
          <a:xfrm>
            <a:off x="5705475" y="2314575"/>
            <a:ext cx="7429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C371A84F-9920-4CC5-8D3B-2CBD10E03DFF}"/>
              </a:ext>
            </a:extLst>
          </p:cNvPr>
          <p:cNvSpPr>
            <a:spLocks noGrp="1"/>
          </p:cNvSpPr>
          <p:nvPr/>
        </p:nvSpPr>
        <p:spPr>
          <a:xfrm>
            <a:off x="57435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1F8E5C30-09A3-4238-A904-7E7C36022263}"/>
              </a:ext>
            </a:extLst>
          </p:cNvPr>
          <p:cNvSpPr>
            <a:spLocks noGrp="1"/>
          </p:cNvSpPr>
          <p:nvPr/>
        </p:nvSpPr>
        <p:spPr>
          <a:xfrm>
            <a:off x="64579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65A8E25C-DAC2-415C-A7BB-C266574588C9}"/>
              </a:ext>
            </a:extLst>
          </p:cNvPr>
          <p:cNvSpPr>
            <a:spLocks noGrp="1"/>
          </p:cNvSpPr>
          <p:nvPr/>
        </p:nvSpPr>
        <p:spPr>
          <a:xfrm>
            <a:off x="6543675" y="2314575"/>
            <a:ext cx="7429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101A7F07-61FB-4315-8310-F65A86644D4A}"/>
              </a:ext>
            </a:extLst>
          </p:cNvPr>
          <p:cNvSpPr>
            <a:spLocks noGrp="1"/>
          </p:cNvSpPr>
          <p:nvPr/>
        </p:nvSpPr>
        <p:spPr>
          <a:xfrm>
            <a:off x="65817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59531C04-045A-403D-AE7F-1E934C1965C0}"/>
              </a:ext>
            </a:extLst>
          </p:cNvPr>
          <p:cNvSpPr>
            <a:spLocks noGrp="1"/>
          </p:cNvSpPr>
          <p:nvPr/>
        </p:nvSpPr>
        <p:spPr>
          <a:xfrm>
            <a:off x="72961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3DDD7BF7-E234-4A34-8FAE-C38C0A723A36}"/>
              </a:ext>
            </a:extLst>
          </p:cNvPr>
          <p:cNvSpPr>
            <a:spLocks noGrp="1"/>
          </p:cNvSpPr>
          <p:nvPr/>
        </p:nvSpPr>
        <p:spPr>
          <a:xfrm>
            <a:off x="7381875" y="2314575"/>
            <a:ext cx="7429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B921F617-1357-485A-A442-42B7CE6AA179}"/>
              </a:ext>
            </a:extLst>
          </p:cNvPr>
          <p:cNvSpPr>
            <a:spLocks noGrp="1"/>
          </p:cNvSpPr>
          <p:nvPr/>
        </p:nvSpPr>
        <p:spPr>
          <a:xfrm>
            <a:off x="74199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01718957-F9D7-4D1F-B6AA-F7A75221A5AD}"/>
              </a:ext>
            </a:extLst>
          </p:cNvPr>
          <p:cNvSpPr>
            <a:spLocks noGrp="1"/>
          </p:cNvSpPr>
          <p:nvPr/>
        </p:nvSpPr>
        <p:spPr>
          <a:xfrm>
            <a:off x="81343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C955C264-BA4B-4E95-8681-03BABE19164F}"/>
              </a:ext>
            </a:extLst>
          </p:cNvPr>
          <p:cNvSpPr>
            <a:spLocks noGrp="1"/>
          </p:cNvSpPr>
          <p:nvPr/>
        </p:nvSpPr>
        <p:spPr>
          <a:xfrm>
            <a:off x="8220075" y="2314575"/>
            <a:ext cx="7429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917CD7C7-420A-4154-BBCA-8723BDEC2770}"/>
              </a:ext>
            </a:extLst>
          </p:cNvPr>
          <p:cNvSpPr>
            <a:spLocks noGrp="1"/>
          </p:cNvSpPr>
          <p:nvPr/>
        </p:nvSpPr>
        <p:spPr>
          <a:xfrm>
            <a:off x="82581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00337F62-A9F7-4FED-AC30-3F204AE62052}"/>
              </a:ext>
            </a:extLst>
          </p:cNvPr>
          <p:cNvSpPr>
            <a:spLocks noGrp="1"/>
          </p:cNvSpPr>
          <p:nvPr/>
        </p:nvSpPr>
        <p:spPr>
          <a:xfrm>
            <a:off x="89725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9E60B077-E573-4C35-B297-7CF615F06209}"/>
              </a:ext>
            </a:extLst>
          </p:cNvPr>
          <p:cNvSpPr>
            <a:spLocks noGrp="1"/>
          </p:cNvSpPr>
          <p:nvPr/>
        </p:nvSpPr>
        <p:spPr>
          <a:xfrm>
            <a:off x="9058275" y="2314575"/>
            <a:ext cx="7429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79D22C32-A3A0-4E6D-888D-61706D21B353}"/>
              </a:ext>
            </a:extLst>
          </p:cNvPr>
          <p:cNvSpPr>
            <a:spLocks noGrp="1"/>
          </p:cNvSpPr>
          <p:nvPr/>
        </p:nvSpPr>
        <p:spPr>
          <a:xfrm>
            <a:off x="90963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6CFF1A55-602C-4F66-8A4C-6AF6AE212211}"/>
              </a:ext>
            </a:extLst>
          </p:cNvPr>
          <p:cNvSpPr>
            <a:spLocks noGrp="1"/>
          </p:cNvSpPr>
          <p:nvPr/>
        </p:nvSpPr>
        <p:spPr>
          <a:xfrm>
            <a:off x="98107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10C078B2-28DB-47F9-9128-250EC52E5220}"/>
              </a:ext>
            </a:extLst>
          </p:cNvPr>
          <p:cNvSpPr>
            <a:spLocks noGrp="1"/>
          </p:cNvSpPr>
          <p:nvPr/>
        </p:nvSpPr>
        <p:spPr>
          <a:xfrm>
            <a:off x="9896475" y="2314575"/>
            <a:ext cx="7429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1392205E-26A9-4FBC-B575-A519F158E243}"/>
              </a:ext>
            </a:extLst>
          </p:cNvPr>
          <p:cNvSpPr>
            <a:spLocks noGrp="1"/>
          </p:cNvSpPr>
          <p:nvPr/>
        </p:nvSpPr>
        <p:spPr>
          <a:xfrm>
            <a:off x="99345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9EBD391D-AC13-4A4F-9DEA-994130C7A47C}"/>
              </a:ext>
            </a:extLst>
          </p:cNvPr>
          <p:cNvSpPr>
            <a:spLocks noGrp="1"/>
          </p:cNvSpPr>
          <p:nvPr/>
        </p:nvSpPr>
        <p:spPr>
          <a:xfrm>
            <a:off x="10648950" y="2466975"/>
            <a:ext cx="7620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5A0EAEC8-5C4E-4415-BB8B-50F08447EE05}"/>
              </a:ext>
            </a:extLst>
          </p:cNvPr>
          <p:cNvSpPr>
            <a:spLocks noGrp="1"/>
          </p:cNvSpPr>
          <p:nvPr/>
        </p:nvSpPr>
        <p:spPr>
          <a:xfrm>
            <a:off x="10734675" y="2314575"/>
            <a:ext cx="7429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8A16EAFA-1C08-4BE2-B752-639394DD0BD0}"/>
              </a:ext>
            </a:extLst>
          </p:cNvPr>
          <p:cNvSpPr>
            <a:spLocks noGrp="1"/>
          </p:cNvSpPr>
          <p:nvPr/>
        </p:nvSpPr>
        <p:spPr>
          <a:xfrm>
            <a:off x="10772775" y="2371725"/>
            <a:ext cx="6667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C11F2D4C-7A13-48B2-9850-7EE667F71BBE}"/>
              </a:ext>
            </a:extLst>
          </p:cNvPr>
          <p:cNvSpPr>
            <a:spLocks noGrp="1"/>
          </p:cNvSpPr>
          <p:nvPr/>
        </p:nvSpPr>
        <p:spPr>
          <a:xfrm>
            <a:off x="5229225" y="26765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9A039DFB-66C6-4D6A-B52C-54E88678E7CA}"/>
              </a:ext>
            </a:extLst>
          </p:cNvPr>
          <p:cNvSpPr>
            <a:spLocks noGrp="1"/>
          </p:cNvSpPr>
          <p:nvPr/>
        </p:nvSpPr>
        <p:spPr>
          <a:xfrm>
            <a:off x="5238750" y="2905125"/>
            <a:ext cx="5276850"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6A0C108C-7F9A-4228-A760-A217FD1810CF}"/>
              </a:ext>
            </a:extLst>
          </p:cNvPr>
          <p:cNvSpPr>
            <a:spLocks noGrp="1"/>
          </p:cNvSpPr>
          <p:nvPr/>
        </p:nvSpPr>
        <p:spPr>
          <a:xfrm>
            <a:off x="10477500" y="28194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F24D21E6-5B9B-4CE0-AB65-56723B12FCD1}"/>
              </a:ext>
            </a:extLst>
          </p:cNvPr>
          <p:cNvSpPr>
            <a:spLocks noGrp="1"/>
          </p:cNvSpPr>
          <p:nvPr/>
        </p:nvSpPr>
        <p:spPr>
          <a:xfrm>
            <a:off x="5314950" y="27527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BEB7B4A1-C28C-4203-A8CC-7D01573B6C56}"/>
              </a:ext>
            </a:extLst>
          </p:cNvPr>
          <p:cNvSpPr>
            <a:spLocks noGrp="1"/>
          </p:cNvSpPr>
          <p:nvPr/>
        </p:nvSpPr>
        <p:spPr>
          <a:xfrm>
            <a:off x="6905625" y="26765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2DECE767-BBD2-4B4B-9942-20155959A43C}"/>
              </a:ext>
            </a:extLst>
          </p:cNvPr>
          <p:cNvSpPr>
            <a:spLocks noGrp="1"/>
          </p:cNvSpPr>
          <p:nvPr/>
        </p:nvSpPr>
        <p:spPr>
          <a:xfrm>
            <a:off x="6915150" y="3076575"/>
            <a:ext cx="3600450"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5177A163-CEF1-430A-9B5B-6A41A90E03E6}"/>
              </a:ext>
            </a:extLst>
          </p:cNvPr>
          <p:cNvSpPr>
            <a:spLocks noGrp="1"/>
          </p:cNvSpPr>
          <p:nvPr/>
        </p:nvSpPr>
        <p:spPr>
          <a:xfrm>
            <a:off x="10477500" y="29908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E73DAE19-70F3-4451-8BBB-ADAFF7CAA239}"/>
              </a:ext>
            </a:extLst>
          </p:cNvPr>
          <p:cNvSpPr>
            <a:spLocks noGrp="1"/>
          </p:cNvSpPr>
          <p:nvPr/>
        </p:nvSpPr>
        <p:spPr>
          <a:xfrm>
            <a:off x="6991350" y="29241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084B5585-34B0-440A-A732-C6DBB0988B36}"/>
              </a:ext>
            </a:extLst>
          </p:cNvPr>
          <p:cNvSpPr>
            <a:spLocks noGrp="1"/>
          </p:cNvSpPr>
          <p:nvPr/>
        </p:nvSpPr>
        <p:spPr>
          <a:xfrm>
            <a:off x="10258425" y="26765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29D5B05E-EFC7-476E-BC70-F0C0A5E1BA8B}"/>
              </a:ext>
            </a:extLst>
          </p:cNvPr>
          <p:cNvSpPr>
            <a:spLocks noGrp="1"/>
          </p:cNvSpPr>
          <p:nvPr/>
        </p:nvSpPr>
        <p:spPr>
          <a:xfrm>
            <a:off x="10267950" y="3248025"/>
            <a:ext cx="247650"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542CA15C-641A-4559-8D5E-77D662EF3528}"/>
              </a:ext>
            </a:extLst>
          </p:cNvPr>
          <p:cNvSpPr>
            <a:spLocks noGrp="1"/>
          </p:cNvSpPr>
          <p:nvPr/>
        </p:nvSpPr>
        <p:spPr>
          <a:xfrm>
            <a:off x="10477500" y="3162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DEAFAD1C-0382-4079-BA1D-EDD55C742137}"/>
              </a:ext>
            </a:extLst>
          </p:cNvPr>
          <p:cNvSpPr>
            <a:spLocks noGrp="1"/>
          </p:cNvSpPr>
          <p:nvPr/>
        </p:nvSpPr>
        <p:spPr>
          <a:xfrm>
            <a:off x="9486900" y="3095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2E596AA8-1810-4758-B9FA-81591525B6E6}"/>
              </a:ext>
            </a:extLst>
          </p:cNvPr>
          <p:cNvSpPr>
            <a:spLocks noGrp="1"/>
          </p:cNvSpPr>
          <p:nvPr/>
        </p:nvSpPr>
        <p:spPr>
          <a:xfrm>
            <a:off x="10629900" y="28956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45A294C5-0779-45D6-9FA7-005710C748DC}"/>
              </a:ext>
            </a:extLst>
          </p:cNvPr>
          <p:cNvSpPr>
            <a:spLocks noGrp="1"/>
          </p:cNvSpPr>
          <p:nvPr/>
        </p:nvSpPr>
        <p:spPr>
          <a:xfrm>
            <a:off x="10677525" y="29622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4543A236-520A-4C35-A647-A2FC6C95E432}"/>
              </a:ext>
            </a:extLst>
          </p:cNvPr>
          <p:cNvSpPr>
            <a:spLocks noGrp="1"/>
          </p:cNvSpPr>
          <p:nvPr/>
        </p:nvSpPr>
        <p:spPr>
          <a:xfrm>
            <a:off x="1009650" y="3752850"/>
            <a:ext cx="9144000" cy="723900"/>
          </a:xfrm>
          <a:prstGeom prst="rect">
            <a:avLst/>
          </a:prstGeom>
          <a:solidFill>
            <a:srgbClr val="FFFFFF"/>
          </a:solidFill>
          <a:ln w="19050">
            <a:solidFill>
              <a:srgbClr val="007F68"/>
            </a:solidFill>
            <a:prstDash val="solid"/>
          </a:ln>
        </p:spPr>
        <p:txBody>
          <a:bodyPr/>
          <a:lstStyle/>
          <a:p>
            <a:endParaRPr lang="en-US"/>
          </a:p>
        </p:txBody>
      </p:sp>
      <p:sp>
        <p:nvSpPr>
          <p:cNvPr id="62" name="Rectangle 61">
            <a:extLst>
              <a:ext uri="{FF2B5EF4-FFF2-40B4-BE49-F238E27FC236}">
                <a16:creationId xmlns:a16="http://schemas.microsoft.com/office/drawing/2014/main" id="{5FFC7D25-62FC-4263-B696-3762479F08F2}"/>
              </a:ext>
            </a:extLst>
          </p:cNvPr>
          <p:cNvSpPr>
            <a:spLocks noGrp="1"/>
          </p:cNvSpPr>
          <p:nvPr/>
        </p:nvSpPr>
        <p:spPr>
          <a:xfrm>
            <a:off x="1257300" y="3943350"/>
            <a:ext cx="86487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500" b="1">
                <a:solidFill>
                  <a:srgbClr val="18212B"/>
                </a:solidFill>
                <a:latin typeface="Aptos"/>
                <a:ea typeface="Aptos"/>
                <a:cs typeface="Aptos"/>
              </a:defRPr>
            </a:pPr>
            <a:r>
              <a:rPr sz="1500" b="1">
                <a:solidFill>
                  <a:srgbClr val="18212B"/>
                </a:solidFill>
                <a:latin typeface="Aptos"/>
                <a:ea typeface="Aptos"/>
                <a:cs typeface="Aptos"/>
              </a:rPr>
              <a:t>Human review and execution approval are explicit gates; rejection or verifier failure returns to Blocked / revise instead of fabricating evidence.</a:t>
            </a:r>
          </a:p>
        </p:txBody>
      </p:sp>
      <p:sp>
        <p:nvSpPr>
          <p:cNvPr id="63" name="Rectangle 62">
            <a:extLst>
              <a:ext uri="{FF2B5EF4-FFF2-40B4-BE49-F238E27FC236}">
                <a16:creationId xmlns:a16="http://schemas.microsoft.com/office/drawing/2014/main" id="{B2C46BAB-DE87-44EE-B897-912ABE7A6421}"/>
              </a:ext>
            </a:extLst>
          </p:cNvPr>
          <p:cNvSpPr>
            <a:spLocks noGrp="1"/>
          </p:cNvSpPr>
          <p:nvPr/>
        </p:nvSpPr>
        <p:spPr>
          <a:xfrm>
            <a:off x="914400" y="5219700"/>
            <a:ext cx="96202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0">
                <a:solidFill>
                  <a:srgbClr val="5B6470"/>
                </a:solidFill>
                <a:latin typeface="Aptos"/>
                <a:ea typeface="Aptos"/>
                <a:cs typeface="Aptos"/>
              </a:defRPr>
            </a:pPr>
            <a:r>
              <a:rPr sz="1275" b="0">
                <a:solidFill>
                  <a:srgbClr val="5B6470"/>
                </a:solidFill>
                <a:latin typeface="Aptos"/>
                <a:ea typeface="Aptos"/>
                <a:cs typeface="Aptos"/>
              </a:rPr>
              <a:t>Harness internals are still omitted: capsule resolution, routing, leases, inbox/result envelopes, guard/resource attachment, accepted artifact records, and sprint traces.</a:t>
            </a:r>
          </a:p>
        </p:txBody>
      </p:sp>
    </p:spTree>
    <p:extLst>
      <p:ext uri="{BB962C8B-B14F-4D97-AF65-F5344CB8AC3E}">
        <p14:creationId xmlns:p14="http://schemas.microsoft.com/office/powerpoint/2010/main" val="1456565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FC0CA41D-3768-4197-B5DF-4C20AB518A8A}"/>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B0A008F-784F-471B-88E4-9C675AA336D1}"/>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48C3E7A1-CF3E-4795-967F-CD7682B34E49}"/>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2FB46493-7DCA-4F7C-9D41-6F251AFFDB03}"/>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0</a:t>
            </a:r>
          </a:p>
        </p:txBody>
      </p:sp>
      <p:sp>
        <p:nvSpPr>
          <p:cNvPr id="5" name="Rectangle 4">
            <a:extLst>
              <a:ext uri="{FF2B5EF4-FFF2-40B4-BE49-F238E27FC236}">
                <a16:creationId xmlns:a16="http://schemas.microsoft.com/office/drawing/2014/main" id="{1AC2628E-1577-486F-8377-9A60FD1E04D2}"/>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One-time setup</a:t>
            </a:r>
          </a:p>
        </p:txBody>
      </p:sp>
      <p:sp>
        <p:nvSpPr>
          <p:cNvPr id="6" name="Rectangle 5">
            <a:extLst>
              <a:ext uri="{FF2B5EF4-FFF2-40B4-BE49-F238E27FC236}">
                <a16:creationId xmlns:a16="http://schemas.microsoft.com/office/drawing/2014/main" id="{EF82B156-D9FE-4FC9-9B77-3209D98557D0}"/>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D6FD8432-DEF0-4270-A962-1B296CF41F64}"/>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05</a:t>
            </a:r>
          </a:p>
        </p:txBody>
      </p:sp>
      <p:sp>
        <p:nvSpPr>
          <p:cNvPr id="8" name="Rectangle 7">
            <a:extLst>
              <a:ext uri="{FF2B5EF4-FFF2-40B4-BE49-F238E27FC236}">
                <a16:creationId xmlns:a16="http://schemas.microsoft.com/office/drawing/2014/main" id="{995A96B4-7728-43C8-A23E-27862CDA4150}"/>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dirty="0">
                <a:solidFill>
                  <a:srgbClr val="5B6470"/>
                </a:solidFill>
                <a:latin typeface="Aptos Display"/>
                <a:ea typeface="Aptos Display"/>
                <a:cs typeface="Aptos Display"/>
              </a:rPr>
              <a:t>Teach Solar what </a:t>
            </a:r>
            <a:r>
              <a:rPr lang="en-CA" sz="1425" b="0" dirty="0">
                <a:solidFill>
                  <a:srgbClr val="5B6470"/>
                </a:solidFill>
                <a:latin typeface="Aptos Display"/>
                <a:ea typeface="Aptos Display"/>
                <a:cs typeface="Aptos Display"/>
              </a:rPr>
              <a:t>paper-to-claim </a:t>
            </a:r>
            <a:r>
              <a:rPr sz="1425" b="0" dirty="0">
                <a:solidFill>
                  <a:srgbClr val="5B6470"/>
                </a:solidFill>
                <a:latin typeface="Aptos Display"/>
                <a:ea typeface="Aptos Display"/>
                <a:cs typeface="Aptos Display"/>
              </a:rPr>
              <a:t>means.</a:t>
            </a:r>
          </a:p>
        </p:txBody>
      </p:sp>
      <p:sp>
        <p:nvSpPr>
          <p:cNvPr id="9" name="Rectangle 8">
            <a:extLst>
              <a:ext uri="{FF2B5EF4-FFF2-40B4-BE49-F238E27FC236}">
                <a16:creationId xmlns:a16="http://schemas.microsoft.com/office/drawing/2014/main" id="{994A7A87-2482-47CC-BFD0-47A2E5F1190B}"/>
              </a:ext>
            </a:extLst>
          </p:cNvPr>
          <p:cNvSpPr>
            <a:spLocks noGrp="1"/>
          </p:cNvSpPr>
          <p:nvPr/>
        </p:nvSpPr>
        <p:spPr>
          <a:xfrm>
            <a:off x="135255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10" name="Rectangle 9">
            <a:extLst>
              <a:ext uri="{FF2B5EF4-FFF2-40B4-BE49-F238E27FC236}">
                <a16:creationId xmlns:a16="http://schemas.microsoft.com/office/drawing/2014/main" id="{28893CC7-9D46-48E3-9478-7EAF75B39753}"/>
              </a:ext>
            </a:extLst>
          </p:cNvPr>
          <p:cNvSpPr>
            <a:spLocks noGrp="1"/>
          </p:cNvSpPr>
          <p:nvPr/>
        </p:nvSpPr>
        <p:spPr>
          <a:xfrm>
            <a:off x="139065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One-time</a:t>
            </a:r>
          </a:p>
          <a:p>
            <a:pPr algn="ctr">
              <a:defRPr sz="788" b="1">
                <a:solidFill>
                  <a:srgbClr val="FFFFFF"/>
                </a:solidFill>
                <a:latin typeface="Aptos"/>
                <a:ea typeface="Aptos"/>
                <a:cs typeface="Aptos"/>
              </a:defRPr>
            </a:pPr>
            <a:r>
              <a:rPr sz="788" b="1">
                <a:solidFill>
                  <a:srgbClr val="FFFFFF"/>
                </a:solidFill>
                <a:latin typeface="Aptos"/>
                <a:ea typeface="Aptos"/>
                <a:cs typeface="Aptos"/>
              </a:rPr>
              <a:t>setup</a:t>
            </a:r>
          </a:p>
        </p:txBody>
      </p:sp>
      <p:sp>
        <p:nvSpPr>
          <p:cNvPr id="11" name="Rectangle 10">
            <a:extLst>
              <a:ext uri="{FF2B5EF4-FFF2-40B4-BE49-F238E27FC236}">
                <a16:creationId xmlns:a16="http://schemas.microsoft.com/office/drawing/2014/main" id="{A0ECC5BD-5570-4C19-AD92-7B6AE46E1196}"/>
              </a:ext>
            </a:extLst>
          </p:cNvPr>
          <p:cNvSpPr>
            <a:spLocks noGrp="1"/>
          </p:cNvSpPr>
          <p:nvPr/>
        </p:nvSpPr>
        <p:spPr>
          <a:xfrm>
            <a:off x="23526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C3C5C1AA-3494-4E9E-B07A-34044F6A5D22}"/>
              </a:ext>
            </a:extLst>
          </p:cNvPr>
          <p:cNvSpPr>
            <a:spLocks noGrp="1"/>
          </p:cNvSpPr>
          <p:nvPr/>
        </p:nvSpPr>
        <p:spPr>
          <a:xfrm>
            <a:off x="24193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F0A6B9E7-940D-49DC-84E0-27711AD0701C}"/>
              </a:ext>
            </a:extLst>
          </p:cNvPr>
          <p:cNvSpPr>
            <a:spLocks noGrp="1"/>
          </p:cNvSpPr>
          <p:nvPr/>
        </p:nvSpPr>
        <p:spPr>
          <a:xfrm>
            <a:off x="24574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4E2CBE0A-7545-4C2B-AF45-E12E5BFB6705}"/>
              </a:ext>
            </a:extLst>
          </p:cNvPr>
          <p:cNvSpPr>
            <a:spLocks noGrp="1"/>
          </p:cNvSpPr>
          <p:nvPr/>
        </p:nvSpPr>
        <p:spPr>
          <a:xfrm>
            <a:off x="30575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45BCD9C7-48AE-45C9-9810-31D97B985F20}"/>
              </a:ext>
            </a:extLst>
          </p:cNvPr>
          <p:cNvSpPr>
            <a:spLocks noGrp="1"/>
          </p:cNvSpPr>
          <p:nvPr/>
        </p:nvSpPr>
        <p:spPr>
          <a:xfrm>
            <a:off x="31242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78E1BFD7-A9C2-4D1A-9175-0C3D53FA5C78}"/>
              </a:ext>
            </a:extLst>
          </p:cNvPr>
          <p:cNvSpPr>
            <a:spLocks noGrp="1"/>
          </p:cNvSpPr>
          <p:nvPr/>
        </p:nvSpPr>
        <p:spPr>
          <a:xfrm>
            <a:off x="31623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E18BD30C-757C-4543-9525-C583EF3AEAAA}"/>
              </a:ext>
            </a:extLst>
          </p:cNvPr>
          <p:cNvSpPr>
            <a:spLocks noGrp="1"/>
          </p:cNvSpPr>
          <p:nvPr/>
        </p:nvSpPr>
        <p:spPr>
          <a:xfrm>
            <a:off x="37623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8FCF4A63-8440-4369-B7F5-2BB862559DA7}"/>
              </a:ext>
            </a:extLst>
          </p:cNvPr>
          <p:cNvSpPr>
            <a:spLocks noGrp="1"/>
          </p:cNvSpPr>
          <p:nvPr/>
        </p:nvSpPr>
        <p:spPr>
          <a:xfrm>
            <a:off x="38290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6BEAC353-09D4-4AD6-B299-CD0E5FB5212D}"/>
              </a:ext>
            </a:extLst>
          </p:cNvPr>
          <p:cNvSpPr>
            <a:spLocks noGrp="1"/>
          </p:cNvSpPr>
          <p:nvPr/>
        </p:nvSpPr>
        <p:spPr>
          <a:xfrm>
            <a:off x="38671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EFB128D8-01A7-4E91-944B-AD0AA699229B}"/>
              </a:ext>
            </a:extLst>
          </p:cNvPr>
          <p:cNvSpPr>
            <a:spLocks noGrp="1"/>
          </p:cNvSpPr>
          <p:nvPr/>
        </p:nvSpPr>
        <p:spPr>
          <a:xfrm>
            <a:off x="44672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ECD06667-7FAE-4434-9D7F-F03E03168BB9}"/>
              </a:ext>
            </a:extLst>
          </p:cNvPr>
          <p:cNvSpPr>
            <a:spLocks noGrp="1"/>
          </p:cNvSpPr>
          <p:nvPr/>
        </p:nvSpPr>
        <p:spPr>
          <a:xfrm>
            <a:off x="45339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A874ABBB-DB51-45D7-885C-AE93962486AC}"/>
              </a:ext>
            </a:extLst>
          </p:cNvPr>
          <p:cNvSpPr>
            <a:spLocks noGrp="1"/>
          </p:cNvSpPr>
          <p:nvPr/>
        </p:nvSpPr>
        <p:spPr>
          <a:xfrm>
            <a:off x="45720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49D20080-EA31-41FD-8C79-DECA33792BB1}"/>
              </a:ext>
            </a:extLst>
          </p:cNvPr>
          <p:cNvSpPr>
            <a:spLocks noGrp="1"/>
          </p:cNvSpPr>
          <p:nvPr/>
        </p:nvSpPr>
        <p:spPr>
          <a:xfrm>
            <a:off x="51720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01EF672B-1D70-42A0-8E1B-948FC1E1868B}"/>
              </a:ext>
            </a:extLst>
          </p:cNvPr>
          <p:cNvSpPr>
            <a:spLocks noGrp="1"/>
          </p:cNvSpPr>
          <p:nvPr/>
        </p:nvSpPr>
        <p:spPr>
          <a:xfrm>
            <a:off x="52387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3F1BDC37-C88E-4068-B0C7-6D3C21691FB1}"/>
              </a:ext>
            </a:extLst>
          </p:cNvPr>
          <p:cNvSpPr>
            <a:spLocks noGrp="1"/>
          </p:cNvSpPr>
          <p:nvPr/>
        </p:nvSpPr>
        <p:spPr>
          <a:xfrm>
            <a:off x="52768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6021370C-ADF0-4F1A-A462-6B3C7EFB7E7A}"/>
              </a:ext>
            </a:extLst>
          </p:cNvPr>
          <p:cNvSpPr>
            <a:spLocks noGrp="1"/>
          </p:cNvSpPr>
          <p:nvPr/>
        </p:nvSpPr>
        <p:spPr>
          <a:xfrm>
            <a:off x="58769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88F6A9D3-3FD4-4FB9-8C3A-9F5EDDA34444}"/>
              </a:ext>
            </a:extLst>
          </p:cNvPr>
          <p:cNvSpPr>
            <a:spLocks noGrp="1"/>
          </p:cNvSpPr>
          <p:nvPr/>
        </p:nvSpPr>
        <p:spPr>
          <a:xfrm>
            <a:off x="59436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1D168817-CEA1-4D6F-829D-BE654C18DC3C}"/>
              </a:ext>
            </a:extLst>
          </p:cNvPr>
          <p:cNvSpPr>
            <a:spLocks noGrp="1"/>
          </p:cNvSpPr>
          <p:nvPr/>
        </p:nvSpPr>
        <p:spPr>
          <a:xfrm>
            <a:off x="59817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EA435CB4-6195-48D4-BF39-F249C49C277E}"/>
              </a:ext>
            </a:extLst>
          </p:cNvPr>
          <p:cNvSpPr>
            <a:spLocks noGrp="1"/>
          </p:cNvSpPr>
          <p:nvPr/>
        </p:nvSpPr>
        <p:spPr>
          <a:xfrm>
            <a:off x="65817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B2538BE2-3D1D-40E3-853A-66E374578E6A}"/>
              </a:ext>
            </a:extLst>
          </p:cNvPr>
          <p:cNvSpPr>
            <a:spLocks noGrp="1"/>
          </p:cNvSpPr>
          <p:nvPr/>
        </p:nvSpPr>
        <p:spPr>
          <a:xfrm>
            <a:off x="66484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6F7EB19B-6B41-443C-AE25-4D388445B70C}"/>
              </a:ext>
            </a:extLst>
          </p:cNvPr>
          <p:cNvSpPr>
            <a:spLocks noGrp="1"/>
          </p:cNvSpPr>
          <p:nvPr/>
        </p:nvSpPr>
        <p:spPr>
          <a:xfrm>
            <a:off x="66865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BBE7CCE8-1421-4710-9436-99F9F762E19F}"/>
              </a:ext>
            </a:extLst>
          </p:cNvPr>
          <p:cNvSpPr>
            <a:spLocks noGrp="1"/>
          </p:cNvSpPr>
          <p:nvPr/>
        </p:nvSpPr>
        <p:spPr>
          <a:xfrm>
            <a:off x="72866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2CCB0CA5-6CA6-4B63-BD84-5BD3F80D6311}"/>
              </a:ext>
            </a:extLst>
          </p:cNvPr>
          <p:cNvSpPr>
            <a:spLocks noGrp="1"/>
          </p:cNvSpPr>
          <p:nvPr/>
        </p:nvSpPr>
        <p:spPr>
          <a:xfrm>
            <a:off x="73533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A6B5F0AC-01E0-4DE3-A4DC-BAE2836D6CAE}"/>
              </a:ext>
            </a:extLst>
          </p:cNvPr>
          <p:cNvSpPr>
            <a:spLocks noGrp="1"/>
          </p:cNvSpPr>
          <p:nvPr/>
        </p:nvSpPr>
        <p:spPr>
          <a:xfrm>
            <a:off x="73914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DA947B77-418C-43E2-A6A8-71B2ED1822B3}"/>
              </a:ext>
            </a:extLst>
          </p:cNvPr>
          <p:cNvSpPr>
            <a:spLocks noGrp="1"/>
          </p:cNvSpPr>
          <p:nvPr/>
        </p:nvSpPr>
        <p:spPr>
          <a:xfrm>
            <a:off x="79914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B58828C5-DDAE-42D8-B6F1-F2FD94DF97EC}"/>
              </a:ext>
            </a:extLst>
          </p:cNvPr>
          <p:cNvSpPr>
            <a:spLocks noGrp="1"/>
          </p:cNvSpPr>
          <p:nvPr/>
        </p:nvSpPr>
        <p:spPr>
          <a:xfrm>
            <a:off x="80581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8BF87BF4-7C58-4408-9D61-551245C94DAF}"/>
              </a:ext>
            </a:extLst>
          </p:cNvPr>
          <p:cNvSpPr>
            <a:spLocks noGrp="1"/>
          </p:cNvSpPr>
          <p:nvPr/>
        </p:nvSpPr>
        <p:spPr>
          <a:xfrm>
            <a:off x="80962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E2E62DD6-50D5-45E7-B8A7-D7F2CCE069AF}"/>
              </a:ext>
            </a:extLst>
          </p:cNvPr>
          <p:cNvSpPr>
            <a:spLocks noGrp="1"/>
          </p:cNvSpPr>
          <p:nvPr/>
        </p:nvSpPr>
        <p:spPr>
          <a:xfrm>
            <a:off x="86963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5C8FB5CF-B5D3-46E5-8CCF-B7E097A584C0}"/>
              </a:ext>
            </a:extLst>
          </p:cNvPr>
          <p:cNvSpPr>
            <a:spLocks noGrp="1"/>
          </p:cNvSpPr>
          <p:nvPr/>
        </p:nvSpPr>
        <p:spPr>
          <a:xfrm>
            <a:off x="87630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935C29ED-34B6-43AB-B678-A651EE1FB8FB}"/>
              </a:ext>
            </a:extLst>
          </p:cNvPr>
          <p:cNvSpPr>
            <a:spLocks noGrp="1"/>
          </p:cNvSpPr>
          <p:nvPr/>
        </p:nvSpPr>
        <p:spPr>
          <a:xfrm>
            <a:off x="88011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CA45405D-2A29-4339-AA44-4E73EC30496E}"/>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9DA77460-4990-46DF-9F15-9D63456A04B6}"/>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97AD65E2-B6E9-479A-9FAA-CCB3AE6868F5}"/>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5E8C8869-29A1-4E49-A34E-316B816BE08A}"/>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1C02F608-0F45-47A8-B422-EF881836AFA3}"/>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9A3DC1E2-44B6-4634-92A3-123C1E896080}"/>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E9B035AA-D3E2-4647-9ECE-F9A334DE1847}"/>
              </a:ext>
            </a:extLst>
          </p:cNvPr>
          <p:cNvSpPr>
            <a:spLocks noGrp="1"/>
          </p:cNvSpPr>
          <p:nvPr/>
        </p:nvSpPr>
        <p:spPr>
          <a:xfrm>
            <a:off x="554355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31FAC005-5AD5-4555-92BB-19150CB6A2A9}"/>
              </a:ext>
            </a:extLst>
          </p:cNvPr>
          <p:cNvSpPr>
            <a:spLocks noGrp="1"/>
          </p:cNvSpPr>
          <p:nvPr/>
        </p:nvSpPr>
        <p:spPr>
          <a:xfrm>
            <a:off x="5553075" y="2486025"/>
            <a:ext cx="501967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4F9FA4A5-8055-43FB-8DF0-BBE1809FCF45}"/>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85DE4885-C573-418A-A60E-CEACB2A6BD10}"/>
              </a:ext>
            </a:extLst>
          </p:cNvPr>
          <p:cNvSpPr>
            <a:spLocks noGrp="1"/>
          </p:cNvSpPr>
          <p:nvPr/>
        </p:nvSpPr>
        <p:spPr>
          <a:xfrm>
            <a:off x="562927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454185BA-8BD6-4F05-9AE4-794D398DD8B7}"/>
              </a:ext>
            </a:extLst>
          </p:cNvPr>
          <p:cNvSpPr>
            <a:spLocks noGrp="1"/>
          </p:cNvSpPr>
          <p:nvPr/>
        </p:nvSpPr>
        <p:spPr>
          <a:xfrm>
            <a:off x="695325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46EB5EA9-C3E0-4E8F-815B-B6A6B7963B96}"/>
              </a:ext>
            </a:extLst>
          </p:cNvPr>
          <p:cNvSpPr>
            <a:spLocks noGrp="1"/>
          </p:cNvSpPr>
          <p:nvPr/>
        </p:nvSpPr>
        <p:spPr>
          <a:xfrm>
            <a:off x="6962775" y="2657475"/>
            <a:ext cx="360997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4D2344CA-08BE-409A-88EA-FB6714A597E1}"/>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72FD950F-D0C9-4861-A9BB-6CB37ED4947D}"/>
              </a:ext>
            </a:extLst>
          </p:cNvPr>
          <p:cNvSpPr>
            <a:spLocks noGrp="1"/>
          </p:cNvSpPr>
          <p:nvPr/>
        </p:nvSpPr>
        <p:spPr>
          <a:xfrm>
            <a:off x="703897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1427F143-E9C9-4562-BFCB-BBD532678D86}"/>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F188B5DA-4B76-47A0-AC16-694018FCC493}"/>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47D21B29-3FD4-44C9-BAF3-4A7804E6F23F}"/>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5A97F50F-A01D-442B-BA81-8418572C3FB0}"/>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FCA311E8-0FB2-45EF-9E59-483D9E4447BA}"/>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9AFBC58E-1078-47E0-BE4B-C9CF617FA13B}"/>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5D3042CE-3645-4C19-88DC-2D4DF4C3304E}"/>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B7C093F0-F20D-4B27-A1E7-D593F1B91839}"/>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6142625B-0A2C-4315-B4DD-8660D1D89F34}"/>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3437253D-1158-4CA5-B524-CA19F6CA3778}"/>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6C646FB2-0EE7-46ED-94AA-EDDAA021215F}"/>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21BF38CC-53DB-4DBE-8D00-3C8A4EBC1ED7}"/>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5C5DF7C4-07C1-4FD7-B469-8186F22BCB87}"/>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36FC1CF0-61B2-4A12-8A2D-15188DFCE778}"/>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3999C329-C3C9-47A1-A621-0C9107F00D4E}"/>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3368339B-2C7B-4ECE-9ECC-CC7C215D2710}"/>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2C271DC2-1CF9-4732-B247-5E0B2D9C5528}"/>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DB0F1916-D695-41EA-AFB1-A095134F0F06}"/>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BD7C032D-747C-4E44-8FC6-808E9C0921F2}"/>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1C8F1451-E63D-4570-95BB-9213430C39EC}"/>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161D39E8-47EA-4E12-8EF8-A2386ACE43AC}"/>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0</a:t>
            </a:r>
          </a:p>
        </p:txBody>
      </p:sp>
      <p:sp>
        <p:nvSpPr>
          <p:cNvPr id="76" name="Rectangle 75">
            <a:extLst>
              <a:ext uri="{FF2B5EF4-FFF2-40B4-BE49-F238E27FC236}">
                <a16:creationId xmlns:a16="http://schemas.microsoft.com/office/drawing/2014/main" id="{5D3D8561-B3FB-4648-8A7F-C91604C3ABDF}"/>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B983BE30-09B6-4FA1-A04B-3842E1B90B3B}"/>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One-time setup</a:t>
            </a:r>
          </a:p>
        </p:txBody>
      </p:sp>
      <p:sp>
        <p:nvSpPr>
          <p:cNvPr id="78" name="Rectangle 77">
            <a:extLst>
              <a:ext uri="{FF2B5EF4-FFF2-40B4-BE49-F238E27FC236}">
                <a16:creationId xmlns:a16="http://schemas.microsoft.com/office/drawing/2014/main" id="{96E2EE99-6101-4C5E-BB3D-B4C6E05EE8F5}"/>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C32E17D3-E9E0-4EFB-804A-2E607E04C3AD}"/>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capability_capsules.py, logical-operators.json, existing physical operators</a:t>
            </a:r>
          </a:p>
        </p:txBody>
      </p:sp>
      <p:sp>
        <p:nvSpPr>
          <p:cNvPr id="80" name="Rectangle 79">
            <a:extLst>
              <a:ext uri="{FF2B5EF4-FFF2-40B4-BE49-F238E27FC236}">
                <a16:creationId xmlns:a16="http://schemas.microsoft.com/office/drawing/2014/main" id="{9E1ADE7B-C706-423D-8992-15244062DBD2}"/>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9BAC4C0D-5975-4BCA-ABB6-7598FC7F25E0}"/>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cap.phase0-claim-verification, ResearchClaimVerifier, schemas, comparator, golden fixture</a:t>
            </a:r>
          </a:p>
        </p:txBody>
      </p:sp>
      <p:sp>
        <p:nvSpPr>
          <p:cNvPr id="82" name="Rectangle 81">
            <a:extLst>
              <a:ext uri="{FF2B5EF4-FFF2-40B4-BE49-F238E27FC236}">
                <a16:creationId xmlns:a16="http://schemas.microsoft.com/office/drawing/2014/main" id="{27CD6AA8-6A82-467D-B82E-1722AFC5DCFB}"/>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E7D93B46-2134-41F8-9FE6-86810AF7E426}"/>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capsule, registry entry, logical binding, schema module, tests</a:t>
            </a:r>
          </a:p>
        </p:txBody>
      </p:sp>
      <p:sp>
        <p:nvSpPr>
          <p:cNvPr id="84" name="Rectangle 83">
            <a:extLst>
              <a:ext uri="{FF2B5EF4-FFF2-40B4-BE49-F238E27FC236}">
                <a16:creationId xmlns:a16="http://schemas.microsoft.com/office/drawing/2014/main" id="{E641B720-07D6-4109-A428-681B2BA33744}"/>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2F9640EA-5C6C-4684-AD1A-FDE8158680EA}"/>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Missing setup blocks the pipeline before runtime dispatch.</a:t>
            </a:r>
          </a:p>
        </p:txBody>
      </p:sp>
      <p:sp>
        <p:nvSpPr>
          <p:cNvPr id="86" name="Rectangle 85">
            <a:extLst>
              <a:ext uri="{FF2B5EF4-FFF2-40B4-BE49-F238E27FC236}">
                <a16:creationId xmlns:a16="http://schemas.microsoft.com/office/drawing/2014/main" id="{8D34BDA5-1C15-4E3B-96A0-3936D672F41A}"/>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650168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6A61642E-6DB2-4F36-82DA-36FAB010E571}"/>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1101F8A-F0B4-4B7A-822B-854D222F0B4D}"/>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B22BF70-732B-44BC-B0DE-CA7A9134AC7F}"/>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F7A5E00D-87BF-4EE0-894C-1CD29EEA2271}"/>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1</a:t>
            </a:r>
          </a:p>
        </p:txBody>
      </p:sp>
      <p:sp>
        <p:nvSpPr>
          <p:cNvPr id="5" name="Rectangle 4">
            <a:extLst>
              <a:ext uri="{FF2B5EF4-FFF2-40B4-BE49-F238E27FC236}">
                <a16:creationId xmlns:a16="http://schemas.microsoft.com/office/drawing/2014/main" id="{5F679912-0370-45A6-9F4F-2302A672C156}"/>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Intake paper verification request</a:t>
            </a:r>
          </a:p>
        </p:txBody>
      </p:sp>
      <p:sp>
        <p:nvSpPr>
          <p:cNvPr id="6" name="Rectangle 5">
            <a:extLst>
              <a:ext uri="{FF2B5EF4-FFF2-40B4-BE49-F238E27FC236}">
                <a16:creationId xmlns:a16="http://schemas.microsoft.com/office/drawing/2014/main" id="{3086472C-3325-4E24-888C-637C2968F78E}"/>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00E8913-8396-4BBC-B96A-A7A539C90826}"/>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06</a:t>
            </a:r>
          </a:p>
        </p:txBody>
      </p:sp>
      <p:sp>
        <p:nvSpPr>
          <p:cNvPr id="8" name="Rectangle 7">
            <a:extLst>
              <a:ext uri="{FF2B5EF4-FFF2-40B4-BE49-F238E27FC236}">
                <a16:creationId xmlns:a16="http://schemas.microsoft.com/office/drawing/2014/main" id="{7AE6FEDA-CBB7-465D-8F1C-69C1FD2DE80E}"/>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Turn a user request into a Solar task.</a:t>
            </a:r>
          </a:p>
        </p:txBody>
      </p:sp>
      <p:sp>
        <p:nvSpPr>
          <p:cNvPr id="9" name="Rectangle 8">
            <a:extLst>
              <a:ext uri="{FF2B5EF4-FFF2-40B4-BE49-F238E27FC236}">
                <a16:creationId xmlns:a16="http://schemas.microsoft.com/office/drawing/2014/main" id="{4F06055D-25D1-4F51-A047-AC790343100A}"/>
              </a:ext>
            </a:extLst>
          </p:cNvPr>
          <p:cNvSpPr>
            <a:spLocks noGrp="1"/>
          </p:cNvSpPr>
          <p:nvPr/>
        </p:nvSpPr>
        <p:spPr>
          <a:xfrm>
            <a:off x="13525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E69B9C50-929C-41D6-AABC-A977268421B6}"/>
              </a:ext>
            </a:extLst>
          </p:cNvPr>
          <p:cNvSpPr>
            <a:spLocks noGrp="1"/>
          </p:cNvSpPr>
          <p:nvPr/>
        </p:nvSpPr>
        <p:spPr>
          <a:xfrm>
            <a:off x="13906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C59C2E45-D2C3-4FB9-BABA-BD2106746026}"/>
              </a:ext>
            </a:extLst>
          </p:cNvPr>
          <p:cNvSpPr>
            <a:spLocks noGrp="1"/>
          </p:cNvSpPr>
          <p:nvPr/>
        </p:nvSpPr>
        <p:spPr>
          <a:xfrm>
            <a:off x="1990725"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CBC3C3CC-A0A9-41FC-ADF8-FB08938DA36C}"/>
              </a:ext>
            </a:extLst>
          </p:cNvPr>
          <p:cNvSpPr>
            <a:spLocks noGrp="1"/>
          </p:cNvSpPr>
          <p:nvPr/>
        </p:nvSpPr>
        <p:spPr>
          <a:xfrm>
            <a:off x="205740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13" name="Rectangle 12">
            <a:extLst>
              <a:ext uri="{FF2B5EF4-FFF2-40B4-BE49-F238E27FC236}">
                <a16:creationId xmlns:a16="http://schemas.microsoft.com/office/drawing/2014/main" id="{F646CF74-9547-454C-993F-4CA65069C61E}"/>
              </a:ext>
            </a:extLst>
          </p:cNvPr>
          <p:cNvSpPr>
            <a:spLocks noGrp="1"/>
          </p:cNvSpPr>
          <p:nvPr/>
        </p:nvSpPr>
        <p:spPr>
          <a:xfrm>
            <a:off x="209550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Request</a:t>
            </a:r>
          </a:p>
          <a:p>
            <a:pPr algn="ctr">
              <a:defRPr sz="788" b="1">
                <a:solidFill>
                  <a:srgbClr val="FFFFFF"/>
                </a:solidFill>
                <a:latin typeface="Aptos"/>
                <a:ea typeface="Aptos"/>
                <a:cs typeface="Aptos"/>
              </a:defRPr>
            </a:pPr>
            <a:r>
              <a:rPr sz="788" b="1">
                <a:solidFill>
                  <a:srgbClr val="FFFFFF"/>
                </a:solidFill>
                <a:latin typeface="Aptos"/>
                <a:ea typeface="Aptos"/>
                <a:cs typeface="Aptos"/>
              </a:rPr>
              <a:t>compilation</a:t>
            </a:r>
          </a:p>
        </p:txBody>
      </p:sp>
      <p:sp>
        <p:nvSpPr>
          <p:cNvPr id="14" name="Rectangle 13">
            <a:extLst>
              <a:ext uri="{FF2B5EF4-FFF2-40B4-BE49-F238E27FC236}">
                <a16:creationId xmlns:a16="http://schemas.microsoft.com/office/drawing/2014/main" id="{402B4C6A-0D7C-4907-8DCB-29EA6BF514DC}"/>
              </a:ext>
            </a:extLst>
          </p:cNvPr>
          <p:cNvSpPr>
            <a:spLocks noGrp="1"/>
          </p:cNvSpPr>
          <p:nvPr/>
        </p:nvSpPr>
        <p:spPr>
          <a:xfrm>
            <a:off x="30575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DD788293-8E4F-4542-98C2-F9F3588A63E7}"/>
              </a:ext>
            </a:extLst>
          </p:cNvPr>
          <p:cNvSpPr>
            <a:spLocks noGrp="1"/>
          </p:cNvSpPr>
          <p:nvPr/>
        </p:nvSpPr>
        <p:spPr>
          <a:xfrm>
            <a:off x="31242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B553CCA5-6991-4CE0-9C08-8CD1163F62D7}"/>
              </a:ext>
            </a:extLst>
          </p:cNvPr>
          <p:cNvSpPr>
            <a:spLocks noGrp="1"/>
          </p:cNvSpPr>
          <p:nvPr/>
        </p:nvSpPr>
        <p:spPr>
          <a:xfrm>
            <a:off x="31623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2ED646D3-69AB-4111-BAF4-A0D2BE5C8756}"/>
              </a:ext>
            </a:extLst>
          </p:cNvPr>
          <p:cNvSpPr>
            <a:spLocks noGrp="1"/>
          </p:cNvSpPr>
          <p:nvPr/>
        </p:nvSpPr>
        <p:spPr>
          <a:xfrm>
            <a:off x="37623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F6DBE505-6CE1-4950-8265-934C8880B853}"/>
              </a:ext>
            </a:extLst>
          </p:cNvPr>
          <p:cNvSpPr>
            <a:spLocks noGrp="1"/>
          </p:cNvSpPr>
          <p:nvPr/>
        </p:nvSpPr>
        <p:spPr>
          <a:xfrm>
            <a:off x="38290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7061DC0A-7BD2-49B3-A079-BB59A432D401}"/>
              </a:ext>
            </a:extLst>
          </p:cNvPr>
          <p:cNvSpPr>
            <a:spLocks noGrp="1"/>
          </p:cNvSpPr>
          <p:nvPr/>
        </p:nvSpPr>
        <p:spPr>
          <a:xfrm>
            <a:off x="38671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38783F0E-ACFC-428E-8348-874B4AAEFCF2}"/>
              </a:ext>
            </a:extLst>
          </p:cNvPr>
          <p:cNvSpPr>
            <a:spLocks noGrp="1"/>
          </p:cNvSpPr>
          <p:nvPr/>
        </p:nvSpPr>
        <p:spPr>
          <a:xfrm>
            <a:off x="44672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1062A4D7-DC0D-41F8-954A-A44FFA49E191}"/>
              </a:ext>
            </a:extLst>
          </p:cNvPr>
          <p:cNvSpPr>
            <a:spLocks noGrp="1"/>
          </p:cNvSpPr>
          <p:nvPr/>
        </p:nvSpPr>
        <p:spPr>
          <a:xfrm>
            <a:off x="45339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78F3B29A-29D4-418E-83DC-4E6A1FF060EB}"/>
              </a:ext>
            </a:extLst>
          </p:cNvPr>
          <p:cNvSpPr>
            <a:spLocks noGrp="1"/>
          </p:cNvSpPr>
          <p:nvPr/>
        </p:nvSpPr>
        <p:spPr>
          <a:xfrm>
            <a:off x="45720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423BDC52-CD06-4624-952E-6D5C686248F6}"/>
              </a:ext>
            </a:extLst>
          </p:cNvPr>
          <p:cNvSpPr>
            <a:spLocks noGrp="1"/>
          </p:cNvSpPr>
          <p:nvPr/>
        </p:nvSpPr>
        <p:spPr>
          <a:xfrm>
            <a:off x="51720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8FC538C7-3A52-4296-B99B-409449E5E26C}"/>
              </a:ext>
            </a:extLst>
          </p:cNvPr>
          <p:cNvSpPr>
            <a:spLocks noGrp="1"/>
          </p:cNvSpPr>
          <p:nvPr/>
        </p:nvSpPr>
        <p:spPr>
          <a:xfrm>
            <a:off x="52387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83A91A31-AC2F-4D51-989A-BA6965DD7AB0}"/>
              </a:ext>
            </a:extLst>
          </p:cNvPr>
          <p:cNvSpPr>
            <a:spLocks noGrp="1"/>
          </p:cNvSpPr>
          <p:nvPr/>
        </p:nvSpPr>
        <p:spPr>
          <a:xfrm>
            <a:off x="52768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A8768355-8BA1-4AE1-9960-7EAE3E029AD3}"/>
              </a:ext>
            </a:extLst>
          </p:cNvPr>
          <p:cNvSpPr>
            <a:spLocks noGrp="1"/>
          </p:cNvSpPr>
          <p:nvPr/>
        </p:nvSpPr>
        <p:spPr>
          <a:xfrm>
            <a:off x="58769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ACB8DD8A-35EC-48A9-A376-7112229055D1}"/>
              </a:ext>
            </a:extLst>
          </p:cNvPr>
          <p:cNvSpPr>
            <a:spLocks noGrp="1"/>
          </p:cNvSpPr>
          <p:nvPr/>
        </p:nvSpPr>
        <p:spPr>
          <a:xfrm>
            <a:off x="59436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8BD5108E-5821-479C-B68A-C1FF731E364E}"/>
              </a:ext>
            </a:extLst>
          </p:cNvPr>
          <p:cNvSpPr>
            <a:spLocks noGrp="1"/>
          </p:cNvSpPr>
          <p:nvPr/>
        </p:nvSpPr>
        <p:spPr>
          <a:xfrm>
            <a:off x="59817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397FB9AC-743D-438F-BA78-ED7EE4F10C9C}"/>
              </a:ext>
            </a:extLst>
          </p:cNvPr>
          <p:cNvSpPr>
            <a:spLocks noGrp="1"/>
          </p:cNvSpPr>
          <p:nvPr/>
        </p:nvSpPr>
        <p:spPr>
          <a:xfrm>
            <a:off x="65817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4AFFC225-DA6F-470F-B01D-C7663DB68AF6}"/>
              </a:ext>
            </a:extLst>
          </p:cNvPr>
          <p:cNvSpPr>
            <a:spLocks noGrp="1"/>
          </p:cNvSpPr>
          <p:nvPr/>
        </p:nvSpPr>
        <p:spPr>
          <a:xfrm>
            <a:off x="66484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B4AAA82A-029B-41D9-B131-9B2EB58789D9}"/>
              </a:ext>
            </a:extLst>
          </p:cNvPr>
          <p:cNvSpPr>
            <a:spLocks noGrp="1"/>
          </p:cNvSpPr>
          <p:nvPr/>
        </p:nvSpPr>
        <p:spPr>
          <a:xfrm>
            <a:off x="66865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33F65C71-B94C-4687-850A-6C94E936653E}"/>
              </a:ext>
            </a:extLst>
          </p:cNvPr>
          <p:cNvSpPr>
            <a:spLocks noGrp="1"/>
          </p:cNvSpPr>
          <p:nvPr/>
        </p:nvSpPr>
        <p:spPr>
          <a:xfrm>
            <a:off x="72866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37E9E9E6-DA75-4C05-A229-2568B9739E81}"/>
              </a:ext>
            </a:extLst>
          </p:cNvPr>
          <p:cNvSpPr>
            <a:spLocks noGrp="1"/>
          </p:cNvSpPr>
          <p:nvPr/>
        </p:nvSpPr>
        <p:spPr>
          <a:xfrm>
            <a:off x="73533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E45ADF7A-7E9E-43E5-A4C3-7FE2731B8B4E}"/>
              </a:ext>
            </a:extLst>
          </p:cNvPr>
          <p:cNvSpPr>
            <a:spLocks noGrp="1"/>
          </p:cNvSpPr>
          <p:nvPr/>
        </p:nvSpPr>
        <p:spPr>
          <a:xfrm>
            <a:off x="73914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84221DE1-D1A1-41FF-B3D2-3D5AEA635BA1}"/>
              </a:ext>
            </a:extLst>
          </p:cNvPr>
          <p:cNvSpPr>
            <a:spLocks noGrp="1"/>
          </p:cNvSpPr>
          <p:nvPr/>
        </p:nvSpPr>
        <p:spPr>
          <a:xfrm>
            <a:off x="79914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9B058259-C5EB-405C-923E-1B276F0DB483}"/>
              </a:ext>
            </a:extLst>
          </p:cNvPr>
          <p:cNvSpPr>
            <a:spLocks noGrp="1"/>
          </p:cNvSpPr>
          <p:nvPr/>
        </p:nvSpPr>
        <p:spPr>
          <a:xfrm>
            <a:off x="80581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E6B1E007-F8F9-4CB1-AC02-37A655DCF888}"/>
              </a:ext>
            </a:extLst>
          </p:cNvPr>
          <p:cNvSpPr>
            <a:spLocks noGrp="1"/>
          </p:cNvSpPr>
          <p:nvPr/>
        </p:nvSpPr>
        <p:spPr>
          <a:xfrm>
            <a:off x="80962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3912D96C-119E-4365-B844-32B5DF130A25}"/>
              </a:ext>
            </a:extLst>
          </p:cNvPr>
          <p:cNvSpPr>
            <a:spLocks noGrp="1"/>
          </p:cNvSpPr>
          <p:nvPr/>
        </p:nvSpPr>
        <p:spPr>
          <a:xfrm>
            <a:off x="86963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3CB6E588-6E27-4FB9-BA05-2F8B64060650}"/>
              </a:ext>
            </a:extLst>
          </p:cNvPr>
          <p:cNvSpPr>
            <a:spLocks noGrp="1"/>
          </p:cNvSpPr>
          <p:nvPr/>
        </p:nvSpPr>
        <p:spPr>
          <a:xfrm>
            <a:off x="87630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C9093FDC-F01A-4866-8A01-582568FE356A}"/>
              </a:ext>
            </a:extLst>
          </p:cNvPr>
          <p:cNvSpPr>
            <a:spLocks noGrp="1"/>
          </p:cNvSpPr>
          <p:nvPr/>
        </p:nvSpPr>
        <p:spPr>
          <a:xfrm>
            <a:off x="88011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8315D76A-D4B0-4C3D-AE02-9A2C219334C2}"/>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D0494A9B-791A-40A1-8749-69C20CD8FFFC}"/>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6B16632E-FA13-43C7-9682-124CCC8A27C4}"/>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53D1B0BC-95F7-46BB-8569-9A5CC222B416}"/>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DFE382A0-11A0-407A-90BD-6A64E3304834}"/>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C71AC37E-663D-4D33-AEED-B3FED87C86AE}"/>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86719B60-B409-4124-9CB7-333D662B214F}"/>
              </a:ext>
            </a:extLst>
          </p:cNvPr>
          <p:cNvSpPr>
            <a:spLocks noGrp="1"/>
          </p:cNvSpPr>
          <p:nvPr/>
        </p:nvSpPr>
        <p:spPr>
          <a:xfrm>
            <a:off x="554355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29F26524-8FA7-450F-AE65-2085D346A7A1}"/>
              </a:ext>
            </a:extLst>
          </p:cNvPr>
          <p:cNvSpPr>
            <a:spLocks noGrp="1"/>
          </p:cNvSpPr>
          <p:nvPr/>
        </p:nvSpPr>
        <p:spPr>
          <a:xfrm>
            <a:off x="5553075" y="2486025"/>
            <a:ext cx="501967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1FB4C549-6F94-449B-A819-F16848A4FD31}"/>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3FCDDE15-0E51-4184-B28A-2873709EE20D}"/>
              </a:ext>
            </a:extLst>
          </p:cNvPr>
          <p:cNvSpPr>
            <a:spLocks noGrp="1"/>
          </p:cNvSpPr>
          <p:nvPr/>
        </p:nvSpPr>
        <p:spPr>
          <a:xfrm>
            <a:off x="562927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2D995477-7455-4C50-9058-BFF7D43D954C}"/>
              </a:ext>
            </a:extLst>
          </p:cNvPr>
          <p:cNvSpPr>
            <a:spLocks noGrp="1"/>
          </p:cNvSpPr>
          <p:nvPr/>
        </p:nvSpPr>
        <p:spPr>
          <a:xfrm>
            <a:off x="695325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1E15EA06-9EE1-43B3-BE37-FF3BDA109018}"/>
              </a:ext>
            </a:extLst>
          </p:cNvPr>
          <p:cNvSpPr>
            <a:spLocks noGrp="1"/>
          </p:cNvSpPr>
          <p:nvPr/>
        </p:nvSpPr>
        <p:spPr>
          <a:xfrm>
            <a:off x="6962775" y="2657475"/>
            <a:ext cx="360997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0F4C7E7D-E328-435C-9ADB-294098589CA7}"/>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D3C6BB88-29B9-46DB-AED6-27D849B1F066}"/>
              </a:ext>
            </a:extLst>
          </p:cNvPr>
          <p:cNvSpPr>
            <a:spLocks noGrp="1"/>
          </p:cNvSpPr>
          <p:nvPr/>
        </p:nvSpPr>
        <p:spPr>
          <a:xfrm>
            <a:off x="703897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D4EA716C-6743-4A2F-BC4F-B49B632AD272}"/>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7819BE39-13FC-4E1E-8570-45148E9D91A5}"/>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43B18307-5380-4970-9B56-643877649FCD}"/>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781560E8-846B-4C61-BC5C-54FE8D103B27}"/>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59814143-FCF7-4666-8358-89E659DC5F04}"/>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4DFAE9F9-1DD1-46F7-9BEF-AFFE0D353CAC}"/>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1E3F0FE2-5ACB-45F0-AAA1-460CED539512}"/>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71E58607-761F-457B-8ABA-5C85D7FE3CFE}"/>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C497668E-6A6F-4300-B276-FBC3A1A510BD}"/>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019AE17B-9A42-40FD-96DA-A9503E5711F2}"/>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D0D7D807-81D3-481A-BF7B-92DACD790FBC}"/>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F64B02DD-D8EA-4333-98EB-6350C6AC8ABE}"/>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0C3F3FD9-6C89-4D65-BC84-E0C21EA5608B}"/>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5151670A-6108-4D3C-808B-141987A23F00}"/>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742B4314-229D-48B7-95E4-3AE433AC3BA0}"/>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0EA6DA97-FA0D-450A-B68A-AC9ED6596D6A}"/>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B5ED4641-9E90-4057-B526-5D37D56D9506}"/>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D0FBED54-AC6C-4015-AC92-618540E19EE3}"/>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AAD6E113-4417-42C5-B767-AAED27C64981}"/>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DEB0336C-A355-4567-A564-2EC71629DB2B}"/>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D18B1553-B45D-4AD9-9270-39BFBDBB3A92}"/>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1</a:t>
            </a:r>
          </a:p>
        </p:txBody>
      </p:sp>
      <p:sp>
        <p:nvSpPr>
          <p:cNvPr id="76" name="Rectangle 75">
            <a:extLst>
              <a:ext uri="{FF2B5EF4-FFF2-40B4-BE49-F238E27FC236}">
                <a16:creationId xmlns:a16="http://schemas.microsoft.com/office/drawing/2014/main" id="{451552E7-B809-4519-9742-8DEE8FAA746B}"/>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7F26D95B-EEC1-4B69-83F4-0F5BD7C7EE4E}"/>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Intake paper verification request</a:t>
            </a:r>
          </a:p>
        </p:txBody>
      </p:sp>
      <p:sp>
        <p:nvSpPr>
          <p:cNvPr id="78" name="Rectangle 77">
            <a:extLst>
              <a:ext uri="{FF2B5EF4-FFF2-40B4-BE49-F238E27FC236}">
                <a16:creationId xmlns:a16="http://schemas.microsoft.com/office/drawing/2014/main" id="{CF702555-258F-44F7-BAFB-C9EF42B92218}"/>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2F545F91-8924-4018-9115-E132F506896F}"/>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scripts/solar-codex-intake.sh, core/harness/submitCoreToHarness()</a:t>
            </a:r>
          </a:p>
        </p:txBody>
      </p:sp>
      <p:sp>
        <p:nvSpPr>
          <p:cNvPr id="80" name="Rectangle 79">
            <a:extLst>
              <a:ext uri="{FF2B5EF4-FFF2-40B4-BE49-F238E27FC236}">
                <a16:creationId xmlns:a16="http://schemas.microsoft.com/office/drawing/2014/main" id="{77FE2D39-31D9-4126-90C7-E382E50BF101}"/>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17A14826-EEBD-457E-86AE-BB9C4E9D657A}"/>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Pipeline request payload: paper, repo, objective, target claims, budget</a:t>
            </a:r>
          </a:p>
        </p:txBody>
      </p:sp>
      <p:sp>
        <p:nvSpPr>
          <p:cNvPr id="82" name="Rectangle 81">
            <a:extLst>
              <a:ext uri="{FF2B5EF4-FFF2-40B4-BE49-F238E27FC236}">
                <a16:creationId xmlns:a16="http://schemas.microsoft.com/office/drawing/2014/main" id="{E7337C02-3BE5-4D90-847B-2B0FC12E755C}"/>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6686F7F0-8077-4D5B-BDBB-F6CFD824E0CE}"/>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verification_request.json, requirement_ir.json</a:t>
            </a:r>
          </a:p>
        </p:txBody>
      </p:sp>
      <p:sp>
        <p:nvSpPr>
          <p:cNvPr id="84" name="Rectangle 83">
            <a:extLst>
              <a:ext uri="{FF2B5EF4-FFF2-40B4-BE49-F238E27FC236}">
                <a16:creationId xmlns:a16="http://schemas.microsoft.com/office/drawing/2014/main" id="{76F5998F-8FB6-46D2-AD85-53B5550E918B}"/>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3E089F68-5407-43F2-B1B8-D3F0F5F14C97}"/>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Missing paper/repo/budget returns to user before claim work starts.</a:t>
            </a:r>
          </a:p>
        </p:txBody>
      </p:sp>
      <p:sp>
        <p:nvSpPr>
          <p:cNvPr id="86" name="Rectangle 85">
            <a:extLst>
              <a:ext uri="{FF2B5EF4-FFF2-40B4-BE49-F238E27FC236}">
                <a16:creationId xmlns:a16="http://schemas.microsoft.com/office/drawing/2014/main" id="{2DCA1045-CD46-44D7-A892-D9BC5136CD1F}"/>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2076803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EE0E870A-FA45-45D9-BF59-803643146F31}"/>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CD0C14A8-3F5C-4FE0-B734-05D9E5CD207D}"/>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13E6345D-AB33-460B-B2EA-7DFB88D274A3}"/>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5F7F1922-ED59-4B11-859F-BDEA2012E10D}"/>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2</a:t>
            </a:r>
          </a:p>
        </p:txBody>
      </p:sp>
      <p:sp>
        <p:nvSpPr>
          <p:cNvPr id="5" name="Rectangle 4">
            <a:extLst>
              <a:ext uri="{FF2B5EF4-FFF2-40B4-BE49-F238E27FC236}">
                <a16:creationId xmlns:a16="http://schemas.microsoft.com/office/drawing/2014/main" id="{416E2BE7-C143-4D74-B45B-13F3D74BFD57}"/>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Ingest paper and repo evidence</a:t>
            </a:r>
          </a:p>
        </p:txBody>
      </p:sp>
      <p:sp>
        <p:nvSpPr>
          <p:cNvPr id="6" name="Rectangle 5">
            <a:extLst>
              <a:ext uri="{FF2B5EF4-FFF2-40B4-BE49-F238E27FC236}">
                <a16:creationId xmlns:a16="http://schemas.microsoft.com/office/drawing/2014/main" id="{AD88CC82-B978-4708-B4B7-34F508B03714}"/>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F3BC82E-3113-444C-97CF-0E214BF116E8}"/>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07</a:t>
            </a:r>
          </a:p>
        </p:txBody>
      </p:sp>
      <p:sp>
        <p:nvSpPr>
          <p:cNvPr id="8" name="Rectangle 7">
            <a:extLst>
              <a:ext uri="{FF2B5EF4-FFF2-40B4-BE49-F238E27FC236}">
                <a16:creationId xmlns:a16="http://schemas.microsoft.com/office/drawing/2014/main" id="{1DCDF56E-B839-4709-8EAB-0B333CDA678E}"/>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Collect the evidence base before extracting claims.</a:t>
            </a:r>
          </a:p>
        </p:txBody>
      </p:sp>
      <p:sp>
        <p:nvSpPr>
          <p:cNvPr id="9" name="Rectangle 8">
            <a:extLst>
              <a:ext uri="{FF2B5EF4-FFF2-40B4-BE49-F238E27FC236}">
                <a16:creationId xmlns:a16="http://schemas.microsoft.com/office/drawing/2014/main" id="{67F3E18C-8596-4EAC-95E2-FB164745E68D}"/>
              </a:ext>
            </a:extLst>
          </p:cNvPr>
          <p:cNvSpPr>
            <a:spLocks noGrp="1"/>
          </p:cNvSpPr>
          <p:nvPr/>
        </p:nvSpPr>
        <p:spPr>
          <a:xfrm>
            <a:off x="13525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0AC3D885-D8F2-4A66-A588-822420C9A6A2}"/>
              </a:ext>
            </a:extLst>
          </p:cNvPr>
          <p:cNvSpPr>
            <a:spLocks noGrp="1"/>
          </p:cNvSpPr>
          <p:nvPr/>
        </p:nvSpPr>
        <p:spPr>
          <a:xfrm>
            <a:off x="13906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F63696C2-509D-4C13-8F8B-54E998502737}"/>
              </a:ext>
            </a:extLst>
          </p:cNvPr>
          <p:cNvSpPr>
            <a:spLocks noGrp="1"/>
          </p:cNvSpPr>
          <p:nvPr/>
        </p:nvSpPr>
        <p:spPr>
          <a:xfrm>
            <a:off x="19907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0E946FB7-9F0A-4E2A-A103-BB7FA045E615}"/>
              </a:ext>
            </a:extLst>
          </p:cNvPr>
          <p:cNvSpPr>
            <a:spLocks noGrp="1"/>
          </p:cNvSpPr>
          <p:nvPr/>
        </p:nvSpPr>
        <p:spPr>
          <a:xfrm>
            <a:off x="205740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4E3E6BB5-65CC-4810-A04F-F158C40EA410}"/>
              </a:ext>
            </a:extLst>
          </p:cNvPr>
          <p:cNvSpPr>
            <a:spLocks noGrp="1"/>
          </p:cNvSpPr>
          <p:nvPr/>
        </p:nvSpPr>
        <p:spPr>
          <a:xfrm>
            <a:off x="20955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48F915A3-BAAD-49FA-84F1-F4C5BB7537F1}"/>
              </a:ext>
            </a:extLst>
          </p:cNvPr>
          <p:cNvSpPr>
            <a:spLocks noGrp="1"/>
          </p:cNvSpPr>
          <p:nvPr/>
        </p:nvSpPr>
        <p:spPr>
          <a:xfrm>
            <a:off x="2695575"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63697DC9-7584-4706-918B-42AA1BA0CB5F}"/>
              </a:ext>
            </a:extLst>
          </p:cNvPr>
          <p:cNvSpPr>
            <a:spLocks noGrp="1"/>
          </p:cNvSpPr>
          <p:nvPr/>
        </p:nvSpPr>
        <p:spPr>
          <a:xfrm>
            <a:off x="276225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16" name="Rectangle 15">
            <a:extLst>
              <a:ext uri="{FF2B5EF4-FFF2-40B4-BE49-F238E27FC236}">
                <a16:creationId xmlns:a16="http://schemas.microsoft.com/office/drawing/2014/main" id="{AD1C5FC2-CB40-4E82-A4E8-5A204DC705EE}"/>
              </a:ext>
            </a:extLst>
          </p:cNvPr>
          <p:cNvSpPr>
            <a:spLocks noGrp="1"/>
          </p:cNvSpPr>
          <p:nvPr/>
        </p:nvSpPr>
        <p:spPr>
          <a:xfrm>
            <a:off x="280035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Paper/repo</a:t>
            </a:r>
          </a:p>
          <a:p>
            <a:pPr algn="ctr">
              <a:defRPr sz="788" b="1">
                <a:solidFill>
                  <a:srgbClr val="FFFFFF"/>
                </a:solidFill>
                <a:latin typeface="Aptos"/>
                <a:ea typeface="Aptos"/>
                <a:cs typeface="Aptos"/>
              </a:defRPr>
            </a:pPr>
            <a:r>
              <a:rPr sz="788" b="1">
                <a:solidFill>
                  <a:srgbClr val="FFFFFF"/>
                </a:solidFill>
                <a:latin typeface="Aptos"/>
                <a:ea typeface="Aptos"/>
                <a:cs typeface="Aptos"/>
              </a:rPr>
              <a:t>evidence</a:t>
            </a:r>
          </a:p>
        </p:txBody>
      </p:sp>
      <p:sp>
        <p:nvSpPr>
          <p:cNvPr id="17" name="Rectangle 16">
            <a:extLst>
              <a:ext uri="{FF2B5EF4-FFF2-40B4-BE49-F238E27FC236}">
                <a16:creationId xmlns:a16="http://schemas.microsoft.com/office/drawing/2014/main" id="{A0538488-6F00-4816-8476-F0BE883E1332}"/>
              </a:ext>
            </a:extLst>
          </p:cNvPr>
          <p:cNvSpPr>
            <a:spLocks noGrp="1"/>
          </p:cNvSpPr>
          <p:nvPr/>
        </p:nvSpPr>
        <p:spPr>
          <a:xfrm>
            <a:off x="37623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C383E845-7123-4B16-8A8C-9CCDB78673FB}"/>
              </a:ext>
            </a:extLst>
          </p:cNvPr>
          <p:cNvSpPr>
            <a:spLocks noGrp="1"/>
          </p:cNvSpPr>
          <p:nvPr/>
        </p:nvSpPr>
        <p:spPr>
          <a:xfrm>
            <a:off x="38290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811C1977-EEF5-46A4-A79C-0DD54ACA3945}"/>
              </a:ext>
            </a:extLst>
          </p:cNvPr>
          <p:cNvSpPr>
            <a:spLocks noGrp="1"/>
          </p:cNvSpPr>
          <p:nvPr/>
        </p:nvSpPr>
        <p:spPr>
          <a:xfrm>
            <a:off x="38671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8736A6ED-EE40-4F30-900F-79A6501ED23C}"/>
              </a:ext>
            </a:extLst>
          </p:cNvPr>
          <p:cNvSpPr>
            <a:spLocks noGrp="1"/>
          </p:cNvSpPr>
          <p:nvPr/>
        </p:nvSpPr>
        <p:spPr>
          <a:xfrm>
            <a:off x="44672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9690235F-2D74-4004-B9E4-DCFB619A4ED2}"/>
              </a:ext>
            </a:extLst>
          </p:cNvPr>
          <p:cNvSpPr>
            <a:spLocks noGrp="1"/>
          </p:cNvSpPr>
          <p:nvPr/>
        </p:nvSpPr>
        <p:spPr>
          <a:xfrm>
            <a:off x="45339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34633AB3-A9D8-46CD-8B12-83358F937B57}"/>
              </a:ext>
            </a:extLst>
          </p:cNvPr>
          <p:cNvSpPr>
            <a:spLocks noGrp="1"/>
          </p:cNvSpPr>
          <p:nvPr/>
        </p:nvSpPr>
        <p:spPr>
          <a:xfrm>
            <a:off x="45720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13FCB772-FB86-4302-B01D-593A5C308410}"/>
              </a:ext>
            </a:extLst>
          </p:cNvPr>
          <p:cNvSpPr>
            <a:spLocks noGrp="1"/>
          </p:cNvSpPr>
          <p:nvPr/>
        </p:nvSpPr>
        <p:spPr>
          <a:xfrm>
            <a:off x="51720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44B72843-0AE0-46F9-85B3-1BCD9346DDCD}"/>
              </a:ext>
            </a:extLst>
          </p:cNvPr>
          <p:cNvSpPr>
            <a:spLocks noGrp="1"/>
          </p:cNvSpPr>
          <p:nvPr/>
        </p:nvSpPr>
        <p:spPr>
          <a:xfrm>
            <a:off x="52387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955FF9E9-2D12-4EAF-A31F-65A87CBE514B}"/>
              </a:ext>
            </a:extLst>
          </p:cNvPr>
          <p:cNvSpPr>
            <a:spLocks noGrp="1"/>
          </p:cNvSpPr>
          <p:nvPr/>
        </p:nvSpPr>
        <p:spPr>
          <a:xfrm>
            <a:off x="52768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B6F67FC7-0D06-4F67-90DB-8E2DDEA5879D}"/>
              </a:ext>
            </a:extLst>
          </p:cNvPr>
          <p:cNvSpPr>
            <a:spLocks noGrp="1"/>
          </p:cNvSpPr>
          <p:nvPr/>
        </p:nvSpPr>
        <p:spPr>
          <a:xfrm>
            <a:off x="58769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59F850A1-6911-4924-856D-612C1B92A567}"/>
              </a:ext>
            </a:extLst>
          </p:cNvPr>
          <p:cNvSpPr>
            <a:spLocks noGrp="1"/>
          </p:cNvSpPr>
          <p:nvPr/>
        </p:nvSpPr>
        <p:spPr>
          <a:xfrm>
            <a:off x="59436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A8C209B8-1095-4378-9E48-10B9266A0800}"/>
              </a:ext>
            </a:extLst>
          </p:cNvPr>
          <p:cNvSpPr>
            <a:spLocks noGrp="1"/>
          </p:cNvSpPr>
          <p:nvPr/>
        </p:nvSpPr>
        <p:spPr>
          <a:xfrm>
            <a:off x="59817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95E8D57B-B603-4BBE-87AE-72E44049AFFA}"/>
              </a:ext>
            </a:extLst>
          </p:cNvPr>
          <p:cNvSpPr>
            <a:spLocks noGrp="1"/>
          </p:cNvSpPr>
          <p:nvPr/>
        </p:nvSpPr>
        <p:spPr>
          <a:xfrm>
            <a:off x="65817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A2F79857-664F-4077-910D-F961C16A150F}"/>
              </a:ext>
            </a:extLst>
          </p:cNvPr>
          <p:cNvSpPr>
            <a:spLocks noGrp="1"/>
          </p:cNvSpPr>
          <p:nvPr/>
        </p:nvSpPr>
        <p:spPr>
          <a:xfrm>
            <a:off x="66484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76496094-93C1-40A4-864A-E8CF25FC4C38}"/>
              </a:ext>
            </a:extLst>
          </p:cNvPr>
          <p:cNvSpPr>
            <a:spLocks noGrp="1"/>
          </p:cNvSpPr>
          <p:nvPr/>
        </p:nvSpPr>
        <p:spPr>
          <a:xfrm>
            <a:off x="66865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3F7F8DD0-381A-4106-A9C1-BDC327742077}"/>
              </a:ext>
            </a:extLst>
          </p:cNvPr>
          <p:cNvSpPr>
            <a:spLocks noGrp="1"/>
          </p:cNvSpPr>
          <p:nvPr/>
        </p:nvSpPr>
        <p:spPr>
          <a:xfrm>
            <a:off x="72866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FD99F869-DFB1-4456-BAA8-867BCD22E803}"/>
              </a:ext>
            </a:extLst>
          </p:cNvPr>
          <p:cNvSpPr>
            <a:spLocks noGrp="1"/>
          </p:cNvSpPr>
          <p:nvPr/>
        </p:nvSpPr>
        <p:spPr>
          <a:xfrm>
            <a:off x="73533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57E4BEA4-030F-4055-83E3-FF4D44C0F6DA}"/>
              </a:ext>
            </a:extLst>
          </p:cNvPr>
          <p:cNvSpPr>
            <a:spLocks noGrp="1"/>
          </p:cNvSpPr>
          <p:nvPr/>
        </p:nvSpPr>
        <p:spPr>
          <a:xfrm>
            <a:off x="73914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54A2AE96-6CB3-4747-9B02-2AAB318E7CB7}"/>
              </a:ext>
            </a:extLst>
          </p:cNvPr>
          <p:cNvSpPr>
            <a:spLocks noGrp="1"/>
          </p:cNvSpPr>
          <p:nvPr/>
        </p:nvSpPr>
        <p:spPr>
          <a:xfrm>
            <a:off x="79914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06F560AF-0A16-45A0-B91D-0311EC5A370D}"/>
              </a:ext>
            </a:extLst>
          </p:cNvPr>
          <p:cNvSpPr>
            <a:spLocks noGrp="1"/>
          </p:cNvSpPr>
          <p:nvPr/>
        </p:nvSpPr>
        <p:spPr>
          <a:xfrm>
            <a:off x="80581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BEF8354C-FD17-494C-B8E3-5EBE202FFA4F}"/>
              </a:ext>
            </a:extLst>
          </p:cNvPr>
          <p:cNvSpPr>
            <a:spLocks noGrp="1"/>
          </p:cNvSpPr>
          <p:nvPr/>
        </p:nvSpPr>
        <p:spPr>
          <a:xfrm>
            <a:off x="80962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A4B6501C-B89F-4C3E-9798-459B991CB105}"/>
              </a:ext>
            </a:extLst>
          </p:cNvPr>
          <p:cNvSpPr>
            <a:spLocks noGrp="1"/>
          </p:cNvSpPr>
          <p:nvPr/>
        </p:nvSpPr>
        <p:spPr>
          <a:xfrm>
            <a:off x="86963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CC7B0AC6-C505-44A9-8784-EA2F9275BEBB}"/>
              </a:ext>
            </a:extLst>
          </p:cNvPr>
          <p:cNvSpPr>
            <a:spLocks noGrp="1"/>
          </p:cNvSpPr>
          <p:nvPr/>
        </p:nvSpPr>
        <p:spPr>
          <a:xfrm>
            <a:off x="87630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4FE02B9D-2416-4E52-B8B7-22164889BD5F}"/>
              </a:ext>
            </a:extLst>
          </p:cNvPr>
          <p:cNvSpPr>
            <a:spLocks noGrp="1"/>
          </p:cNvSpPr>
          <p:nvPr/>
        </p:nvSpPr>
        <p:spPr>
          <a:xfrm>
            <a:off x="88011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7FBFFB47-0D68-42B4-BDE1-622EB3604884}"/>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BD228089-974C-4CD5-ADB7-3080DEB298CC}"/>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E1EC123B-6A63-4A8F-9708-5147246407B9}"/>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417188F0-63D9-4007-A099-F23A5F6EC64E}"/>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72E42A7C-CC70-4541-BC72-5B120919B596}"/>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ED26390E-7744-4DA8-9F27-9785ED60D1BC}"/>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7D264B26-AAAA-49FA-A174-E29F69C29CC6}"/>
              </a:ext>
            </a:extLst>
          </p:cNvPr>
          <p:cNvSpPr>
            <a:spLocks noGrp="1"/>
          </p:cNvSpPr>
          <p:nvPr/>
        </p:nvSpPr>
        <p:spPr>
          <a:xfrm>
            <a:off x="554355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2C30CC7D-8EEF-4CDE-80B5-864A7EA1ADE5}"/>
              </a:ext>
            </a:extLst>
          </p:cNvPr>
          <p:cNvSpPr>
            <a:spLocks noGrp="1"/>
          </p:cNvSpPr>
          <p:nvPr/>
        </p:nvSpPr>
        <p:spPr>
          <a:xfrm>
            <a:off x="5553075" y="2486025"/>
            <a:ext cx="501967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72E516D3-20CA-4AE4-99D6-1F8E6AFCFB00}"/>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CE70ABA5-807C-4341-B1A3-0E989758E773}"/>
              </a:ext>
            </a:extLst>
          </p:cNvPr>
          <p:cNvSpPr>
            <a:spLocks noGrp="1"/>
          </p:cNvSpPr>
          <p:nvPr/>
        </p:nvSpPr>
        <p:spPr>
          <a:xfrm>
            <a:off x="562927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8D625470-8DFD-42CC-82C9-CAC4D83621B0}"/>
              </a:ext>
            </a:extLst>
          </p:cNvPr>
          <p:cNvSpPr>
            <a:spLocks noGrp="1"/>
          </p:cNvSpPr>
          <p:nvPr/>
        </p:nvSpPr>
        <p:spPr>
          <a:xfrm>
            <a:off x="695325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91DEAADD-B377-40BB-AA78-4EDD0C615214}"/>
              </a:ext>
            </a:extLst>
          </p:cNvPr>
          <p:cNvSpPr>
            <a:spLocks noGrp="1"/>
          </p:cNvSpPr>
          <p:nvPr/>
        </p:nvSpPr>
        <p:spPr>
          <a:xfrm>
            <a:off x="6962775" y="2657475"/>
            <a:ext cx="360997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24ADF099-8B09-46B1-86F4-593BA3ABFCE1}"/>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4171D55B-B8C0-4140-9C29-205CF9F7B197}"/>
              </a:ext>
            </a:extLst>
          </p:cNvPr>
          <p:cNvSpPr>
            <a:spLocks noGrp="1"/>
          </p:cNvSpPr>
          <p:nvPr/>
        </p:nvSpPr>
        <p:spPr>
          <a:xfrm>
            <a:off x="703897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75A605E8-7419-46D1-87DD-A0C33C36ECF9}"/>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C9B79163-A6DD-4346-BD52-D76DACFBC83C}"/>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EBC07E1D-667D-4839-A49D-8FD88544E7F0}"/>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EF4AB2C3-FBFE-42AF-B181-25B73BD1CB69}"/>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E2183121-7DF7-4425-BD54-0F8D0B3BC3E7}"/>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92D352A1-0DD3-492D-A9DB-10120D35AFC6}"/>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7744659D-44DE-40E7-83FF-5614388D91B6}"/>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81EA71E7-92D9-4828-959F-36C36A063494}"/>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F70A11A2-B8D4-4684-B42F-84CB4569904A}"/>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B8D5F209-A21C-4472-AC0A-34387E87B8A6}"/>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3F06665A-39DB-4E75-84F9-97363E82C318}"/>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06FA7492-927C-4633-8820-07D6E82B3D36}"/>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B11BBF6F-B40C-4805-9372-D5FD03C3DE17}"/>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889BE127-F800-4686-9999-39CFC7742035}"/>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D51F2C07-0716-45B5-B678-1DAFD946C02B}"/>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0B36BA54-27AD-47F0-9A8E-F13C1F6822D9}"/>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983C0CC3-10AC-4C61-B5AA-A9026931664F}"/>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CFCCB168-CDC6-4C9B-8BC1-B4F6560201A6}"/>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7DCD60E7-312B-40D5-97B0-9E45D94CB31C}"/>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275612E0-E840-4A0B-B653-004899F8130B}"/>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79BFD759-ED9D-4AB6-B153-BC929D563798}"/>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2</a:t>
            </a:r>
          </a:p>
        </p:txBody>
      </p:sp>
      <p:sp>
        <p:nvSpPr>
          <p:cNvPr id="76" name="Rectangle 75">
            <a:extLst>
              <a:ext uri="{FF2B5EF4-FFF2-40B4-BE49-F238E27FC236}">
                <a16:creationId xmlns:a16="http://schemas.microsoft.com/office/drawing/2014/main" id="{674E3278-07C5-4463-BCD2-602D824B257C}"/>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A394B292-B47F-4BB6-A201-1B777E8186AF}"/>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Ingest paper and repo evidence</a:t>
            </a:r>
          </a:p>
        </p:txBody>
      </p:sp>
      <p:sp>
        <p:nvSpPr>
          <p:cNvPr id="78" name="Rectangle 77">
            <a:extLst>
              <a:ext uri="{FF2B5EF4-FFF2-40B4-BE49-F238E27FC236}">
                <a16:creationId xmlns:a16="http://schemas.microsoft.com/office/drawing/2014/main" id="{2DFDB283-335B-49DE-A266-A5963A3037E1}"/>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0BE39C49-6460-49C1-BD5F-9B728658C20F}"/>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Solar knowledge/QMD/MinerU path, ResearchScout, ResearchSynthesizer, EvidenceItem, CitationSpan</a:t>
            </a:r>
          </a:p>
        </p:txBody>
      </p:sp>
      <p:sp>
        <p:nvSpPr>
          <p:cNvPr id="80" name="Rectangle 79">
            <a:extLst>
              <a:ext uri="{FF2B5EF4-FFF2-40B4-BE49-F238E27FC236}">
                <a16:creationId xmlns:a16="http://schemas.microsoft.com/office/drawing/2014/main" id="{393EDBA1-DDCD-42B4-9A15-5801EFC6B26C}"/>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44D33ECA-2BDC-45E9-8B61-BF86FCAE514E}"/>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Source map over paper sections, tables, appendix, repo files, configs, prior artifacts</a:t>
            </a:r>
          </a:p>
        </p:txBody>
      </p:sp>
      <p:sp>
        <p:nvSpPr>
          <p:cNvPr id="82" name="Rectangle 81">
            <a:extLst>
              <a:ext uri="{FF2B5EF4-FFF2-40B4-BE49-F238E27FC236}">
                <a16:creationId xmlns:a16="http://schemas.microsoft.com/office/drawing/2014/main" id="{563B2406-C603-4456-84E5-FCF12D8563C3}"/>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5B17AABF-2CC3-4354-87CF-A2B4CDD3304A}"/>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source_map.json, paper_evidence.json, repo_evidence.json</a:t>
            </a:r>
          </a:p>
        </p:txBody>
      </p:sp>
      <p:sp>
        <p:nvSpPr>
          <p:cNvPr id="84" name="Rectangle 83">
            <a:extLst>
              <a:ext uri="{FF2B5EF4-FFF2-40B4-BE49-F238E27FC236}">
                <a16:creationId xmlns:a16="http://schemas.microsoft.com/office/drawing/2014/main" id="{DBA85EF8-EC7D-4188-95B4-E49DFCA25DD2}"/>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E4503809-B5AE-42C5-8505-1D9CEC5B319E}"/>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Missing official source marks affected claims blocked or not_testable; no guessing.</a:t>
            </a:r>
          </a:p>
        </p:txBody>
      </p:sp>
      <p:sp>
        <p:nvSpPr>
          <p:cNvPr id="86" name="Rectangle 85">
            <a:extLst>
              <a:ext uri="{FF2B5EF4-FFF2-40B4-BE49-F238E27FC236}">
                <a16:creationId xmlns:a16="http://schemas.microsoft.com/office/drawing/2014/main" id="{3CE76DDC-E1F2-4FBE-AA94-7072D48C7EE2}"/>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1466483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39782F92-3EA6-4978-B596-F5E47E4FA6FC}"/>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3F3BF63D-211B-4892-976C-3F486C2B361C}"/>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4AAC9C6-A1A3-45F5-A0A0-35E2541AA653}"/>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4E9B9EC0-1550-4B1E-A77A-5650124BEC2E}"/>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3</a:t>
            </a:r>
          </a:p>
        </p:txBody>
      </p:sp>
      <p:sp>
        <p:nvSpPr>
          <p:cNvPr id="5" name="Rectangle 4">
            <a:extLst>
              <a:ext uri="{FF2B5EF4-FFF2-40B4-BE49-F238E27FC236}">
                <a16:creationId xmlns:a16="http://schemas.microsoft.com/office/drawing/2014/main" id="{61479AC2-26F0-4010-B9FA-ACFA6949C722}"/>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Extract benchmark claims</a:t>
            </a:r>
          </a:p>
        </p:txBody>
      </p:sp>
      <p:sp>
        <p:nvSpPr>
          <p:cNvPr id="6" name="Rectangle 5">
            <a:extLst>
              <a:ext uri="{FF2B5EF4-FFF2-40B4-BE49-F238E27FC236}">
                <a16:creationId xmlns:a16="http://schemas.microsoft.com/office/drawing/2014/main" id="{DB6010E2-3FD3-4914-A2B0-A1C89CB50D0C}"/>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CD98FE03-CE74-44DC-ADA9-5DFEA68C41A5}"/>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08</a:t>
            </a:r>
          </a:p>
        </p:txBody>
      </p:sp>
      <p:sp>
        <p:nvSpPr>
          <p:cNvPr id="8" name="Rectangle 7">
            <a:extLst>
              <a:ext uri="{FF2B5EF4-FFF2-40B4-BE49-F238E27FC236}">
                <a16:creationId xmlns:a16="http://schemas.microsoft.com/office/drawing/2014/main" id="{B23066C5-97B4-481C-9B98-F1E6244F2563}"/>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Convert paper statements into structured claims.</a:t>
            </a:r>
          </a:p>
        </p:txBody>
      </p:sp>
      <p:sp>
        <p:nvSpPr>
          <p:cNvPr id="9" name="Rectangle 8">
            <a:extLst>
              <a:ext uri="{FF2B5EF4-FFF2-40B4-BE49-F238E27FC236}">
                <a16:creationId xmlns:a16="http://schemas.microsoft.com/office/drawing/2014/main" id="{4C7E45EC-5690-4B54-A87F-8B8A9A361E99}"/>
              </a:ext>
            </a:extLst>
          </p:cNvPr>
          <p:cNvSpPr>
            <a:spLocks noGrp="1"/>
          </p:cNvSpPr>
          <p:nvPr/>
        </p:nvSpPr>
        <p:spPr>
          <a:xfrm>
            <a:off x="13525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81B371C0-93F7-4370-873D-DFBFE1B5025C}"/>
              </a:ext>
            </a:extLst>
          </p:cNvPr>
          <p:cNvSpPr>
            <a:spLocks noGrp="1"/>
          </p:cNvSpPr>
          <p:nvPr/>
        </p:nvSpPr>
        <p:spPr>
          <a:xfrm>
            <a:off x="13906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629BBAC4-74B9-4C09-9DC8-C62CD439165C}"/>
              </a:ext>
            </a:extLst>
          </p:cNvPr>
          <p:cNvSpPr>
            <a:spLocks noGrp="1"/>
          </p:cNvSpPr>
          <p:nvPr/>
        </p:nvSpPr>
        <p:spPr>
          <a:xfrm>
            <a:off x="19907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45EDD22B-E72D-44F0-990D-7C3060AEEB12}"/>
              </a:ext>
            </a:extLst>
          </p:cNvPr>
          <p:cNvSpPr>
            <a:spLocks noGrp="1"/>
          </p:cNvSpPr>
          <p:nvPr/>
        </p:nvSpPr>
        <p:spPr>
          <a:xfrm>
            <a:off x="205740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5C60704F-C676-443E-B1BF-850ECA43463E}"/>
              </a:ext>
            </a:extLst>
          </p:cNvPr>
          <p:cNvSpPr>
            <a:spLocks noGrp="1"/>
          </p:cNvSpPr>
          <p:nvPr/>
        </p:nvSpPr>
        <p:spPr>
          <a:xfrm>
            <a:off x="20955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294D85C2-9051-423F-9002-EF25A27CFE3E}"/>
              </a:ext>
            </a:extLst>
          </p:cNvPr>
          <p:cNvSpPr>
            <a:spLocks noGrp="1"/>
          </p:cNvSpPr>
          <p:nvPr/>
        </p:nvSpPr>
        <p:spPr>
          <a:xfrm>
            <a:off x="26955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7992F7E8-AD4A-4197-A77D-5C85B7ADFDCA}"/>
              </a:ext>
            </a:extLst>
          </p:cNvPr>
          <p:cNvSpPr>
            <a:spLocks noGrp="1"/>
          </p:cNvSpPr>
          <p:nvPr/>
        </p:nvSpPr>
        <p:spPr>
          <a:xfrm>
            <a:off x="27622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E597438D-2786-4625-A932-1ED803820609}"/>
              </a:ext>
            </a:extLst>
          </p:cNvPr>
          <p:cNvSpPr>
            <a:spLocks noGrp="1"/>
          </p:cNvSpPr>
          <p:nvPr/>
        </p:nvSpPr>
        <p:spPr>
          <a:xfrm>
            <a:off x="28003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139872D7-36B6-45D7-B404-BA325AF76545}"/>
              </a:ext>
            </a:extLst>
          </p:cNvPr>
          <p:cNvSpPr>
            <a:spLocks noGrp="1"/>
          </p:cNvSpPr>
          <p:nvPr/>
        </p:nvSpPr>
        <p:spPr>
          <a:xfrm>
            <a:off x="3400425"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D6ADA372-1246-4B15-8BE8-F7EB735716CB}"/>
              </a:ext>
            </a:extLst>
          </p:cNvPr>
          <p:cNvSpPr>
            <a:spLocks noGrp="1"/>
          </p:cNvSpPr>
          <p:nvPr/>
        </p:nvSpPr>
        <p:spPr>
          <a:xfrm>
            <a:off x="346710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19" name="Rectangle 18">
            <a:extLst>
              <a:ext uri="{FF2B5EF4-FFF2-40B4-BE49-F238E27FC236}">
                <a16:creationId xmlns:a16="http://schemas.microsoft.com/office/drawing/2014/main" id="{87F4732E-FF82-4EBF-A880-7B06870ABE05}"/>
              </a:ext>
            </a:extLst>
          </p:cNvPr>
          <p:cNvSpPr>
            <a:spLocks noGrp="1"/>
          </p:cNvSpPr>
          <p:nvPr/>
        </p:nvSpPr>
        <p:spPr>
          <a:xfrm>
            <a:off x="350520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Claim</a:t>
            </a:r>
          </a:p>
          <a:p>
            <a:pPr algn="ctr">
              <a:defRPr sz="788" b="1">
                <a:solidFill>
                  <a:srgbClr val="FFFFFF"/>
                </a:solidFill>
                <a:latin typeface="Aptos"/>
                <a:ea typeface="Aptos"/>
                <a:cs typeface="Aptos"/>
              </a:defRPr>
            </a:pPr>
            <a:r>
              <a:rPr sz="788" b="1">
                <a:solidFill>
                  <a:srgbClr val="FFFFFF"/>
                </a:solidFill>
                <a:latin typeface="Aptos"/>
                <a:ea typeface="Aptos"/>
                <a:cs typeface="Aptos"/>
              </a:rPr>
              <a:t>extraction</a:t>
            </a:r>
          </a:p>
        </p:txBody>
      </p:sp>
      <p:sp>
        <p:nvSpPr>
          <p:cNvPr id="20" name="Rectangle 19">
            <a:extLst>
              <a:ext uri="{FF2B5EF4-FFF2-40B4-BE49-F238E27FC236}">
                <a16:creationId xmlns:a16="http://schemas.microsoft.com/office/drawing/2014/main" id="{BFB4DBE8-595C-4FE6-8A37-B98F918803AE}"/>
              </a:ext>
            </a:extLst>
          </p:cNvPr>
          <p:cNvSpPr>
            <a:spLocks noGrp="1"/>
          </p:cNvSpPr>
          <p:nvPr/>
        </p:nvSpPr>
        <p:spPr>
          <a:xfrm>
            <a:off x="44672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33BB237D-FCFB-449F-B930-441DD421631F}"/>
              </a:ext>
            </a:extLst>
          </p:cNvPr>
          <p:cNvSpPr>
            <a:spLocks noGrp="1"/>
          </p:cNvSpPr>
          <p:nvPr/>
        </p:nvSpPr>
        <p:spPr>
          <a:xfrm>
            <a:off x="45339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7976D540-34C4-4EE9-AA02-C25EE76BA905}"/>
              </a:ext>
            </a:extLst>
          </p:cNvPr>
          <p:cNvSpPr>
            <a:spLocks noGrp="1"/>
          </p:cNvSpPr>
          <p:nvPr/>
        </p:nvSpPr>
        <p:spPr>
          <a:xfrm>
            <a:off x="45720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1D3964CC-3CC1-4E19-A32B-0B4756FAD3C0}"/>
              </a:ext>
            </a:extLst>
          </p:cNvPr>
          <p:cNvSpPr>
            <a:spLocks noGrp="1"/>
          </p:cNvSpPr>
          <p:nvPr/>
        </p:nvSpPr>
        <p:spPr>
          <a:xfrm>
            <a:off x="51720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BB393726-17CC-4C20-9AA3-4C5D6194E998}"/>
              </a:ext>
            </a:extLst>
          </p:cNvPr>
          <p:cNvSpPr>
            <a:spLocks noGrp="1"/>
          </p:cNvSpPr>
          <p:nvPr/>
        </p:nvSpPr>
        <p:spPr>
          <a:xfrm>
            <a:off x="52387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8C085B2E-1F01-4E34-9481-6DA8963E5C84}"/>
              </a:ext>
            </a:extLst>
          </p:cNvPr>
          <p:cNvSpPr>
            <a:spLocks noGrp="1"/>
          </p:cNvSpPr>
          <p:nvPr/>
        </p:nvSpPr>
        <p:spPr>
          <a:xfrm>
            <a:off x="52768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6D317012-3AC5-4D8F-975A-BAD2A2EEC193}"/>
              </a:ext>
            </a:extLst>
          </p:cNvPr>
          <p:cNvSpPr>
            <a:spLocks noGrp="1"/>
          </p:cNvSpPr>
          <p:nvPr/>
        </p:nvSpPr>
        <p:spPr>
          <a:xfrm>
            <a:off x="58769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B81FF0BA-E6BD-439E-93CC-D287927B0AFA}"/>
              </a:ext>
            </a:extLst>
          </p:cNvPr>
          <p:cNvSpPr>
            <a:spLocks noGrp="1"/>
          </p:cNvSpPr>
          <p:nvPr/>
        </p:nvSpPr>
        <p:spPr>
          <a:xfrm>
            <a:off x="59436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7B26A2B1-FB3C-4995-8163-E43E49965089}"/>
              </a:ext>
            </a:extLst>
          </p:cNvPr>
          <p:cNvSpPr>
            <a:spLocks noGrp="1"/>
          </p:cNvSpPr>
          <p:nvPr/>
        </p:nvSpPr>
        <p:spPr>
          <a:xfrm>
            <a:off x="59817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8C7751A6-C862-41CB-8301-C6E229B31958}"/>
              </a:ext>
            </a:extLst>
          </p:cNvPr>
          <p:cNvSpPr>
            <a:spLocks noGrp="1"/>
          </p:cNvSpPr>
          <p:nvPr/>
        </p:nvSpPr>
        <p:spPr>
          <a:xfrm>
            <a:off x="65817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F5D579DA-0D22-40ED-820D-443B3A6CC0DD}"/>
              </a:ext>
            </a:extLst>
          </p:cNvPr>
          <p:cNvSpPr>
            <a:spLocks noGrp="1"/>
          </p:cNvSpPr>
          <p:nvPr/>
        </p:nvSpPr>
        <p:spPr>
          <a:xfrm>
            <a:off x="66484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9F95C12B-6275-458A-B51D-2C529E7D161A}"/>
              </a:ext>
            </a:extLst>
          </p:cNvPr>
          <p:cNvSpPr>
            <a:spLocks noGrp="1"/>
          </p:cNvSpPr>
          <p:nvPr/>
        </p:nvSpPr>
        <p:spPr>
          <a:xfrm>
            <a:off x="66865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10901639-1ED7-4EFE-8A14-AC606B3BD869}"/>
              </a:ext>
            </a:extLst>
          </p:cNvPr>
          <p:cNvSpPr>
            <a:spLocks noGrp="1"/>
          </p:cNvSpPr>
          <p:nvPr/>
        </p:nvSpPr>
        <p:spPr>
          <a:xfrm>
            <a:off x="72866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D3829452-12A7-45CA-9930-B7DBFC1C209B}"/>
              </a:ext>
            </a:extLst>
          </p:cNvPr>
          <p:cNvSpPr>
            <a:spLocks noGrp="1"/>
          </p:cNvSpPr>
          <p:nvPr/>
        </p:nvSpPr>
        <p:spPr>
          <a:xfrm>
            <a:off x="73533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D11993ED-EF76-4C92-944B-2576444CF8A1}"/>
              </a:ext>
            </a:extLst>
          </p:cNvPr>
          <p:cNvSpPr>
            <a:spLocks noGrp="1"/>
          </p:cNvSpPr>
          <p:nvPr/>
        </p:nvSpPr>
        <p:spPr>
          <a:xfrm>
            <a:off x="73914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F26594BF-F591-4455-9487-C2EC6CEDCFF6}"/>
              </a:ext>
            </a:extLst>
          </p:cNvPr>
          <p:cNvSpPr>
            <a:spLocks noGrp="1"/>
          </p:cNvSpPr>
          <p:nvPr/>
        </p:nvSpPr>
        <p:spPr>
          <a:xfrm>
            <a:off x="79914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7C21B2EE-E0F2-4C23-8A35-ED20421ED928}"/>
              </a:ext>
            </a:extLst>
          </p:cNvPr>
          <p:cNvSpPr>
            <a:spLocks noGrp="1"/>
          </p:cNvSpPr>
          <p:nvPr/>
        </p:nvSpPr>
        <p:spPr>
          <a:xfrm>
            <a:off x="80581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820C6264-880A-45D9-A16F-FDBE6A3E6892}"/>
              </a:ext>
            </a:extLst>
          </p:cNvPr>
          <p:cNvSpPr>
            <a:spLocks noGrp="1"/>
          </p:cNvSpPr>
          <p:nvPr/>
        </p:nvSpPr>
        <p:spPr>
          <a:xfrm>
            <a:off x="80962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3EDB44F9-2B18-4CA9-A928-A9EA4888927E}"/>
              </a:ext>
            </a:extLst>
          </p:cNvPr>
          <p:cNvSpPr>
            <a:spLocks noGrp="1"/>
          </p:cNvSpPr>
          <p:nvPr/>
        </p:nvSpPr>
        <p:spPr>
          <a:xfrm>
            <a:off x="86963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0A36F954-35FB-4F80-AE48-6BDED2895EA6}"/>
              </a:ext>
            </a:extLst>
          </p:cNvPr>
          <p:cNvSpPr>
            <a:spLocks noGrp="1"/>
          </p:cNvSpPr>
          <p:nvPr/>
        </p:nvSpPr>
        <p:spPr>
          <a:xfrm>
            <a:off x="87630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2CDEAAA6-6E54-4437-8204-2854DE8437A7}"/>
              </a:ext>
            </a:extLst>
          </p:cNvPr>
          <p:cNvSpPr>
            <a:spLocks noGrp="1"/>
          </p:cNvSpPr>
          <p:nvPr/>
        </p:nvSpPr>
        <p:spPr>
          <a:xfrm>
            <a:off x="88011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A104D474-9263-4CD4-9A9D-4C5925B648BA}"/>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57D6D21D-E1C6-450B-A766-80EEAED5996B}"/>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02AE0238-F3DD-4933-ACB2-2DE2835E1CFF}"/>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E5AE4B85-472A-4ADD-9C45-9E7A34904B14}"/>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DB27C212-05EF-4E7C-96DE-0C03C7BEAA03}"/>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C278F060-045B-4A53-9AAE-116D57635760}"/>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C7CE40E8-FB3E-4BD2-A6FD-A0929DFA1578}"/>
              </a:ext>
            </a:extLst>
          </p:cNvPr>
          <p:cNvSpPr>
            <a:spLocks noGrp="1"/>
          </p:cNvSpPr>
          <p:nvPr/>
        </p:nvSpPr>
        <p:spPr>
          <a:xfrm>
            <a:off x="554355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9087A8E8-BBFB-42D6-B20D-CFB136659A0C}"/>
              </a:ext>
            </a:extLst>
          </p:cNvPr>
          <p:cNvSpPr>
            <a:spLocks noGrp="1"/>
          </p:cNvSpPr>
          <p:nvPr/>
        </p:nvSpPr>
        <p:spPr>
          <a:xfrm>
            <a:off x="5553075" y="2486025"/>
            <a:ext cx="501967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81AA5BC2-81C8-4D9B-B46F-B32D7707FB99}"/>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770D8765-7E17-4F18-97A7-EBC907940732}"/>
              </a:ext>
            </a:extLst>
          </p:cNvPr>
          <p:cNvSpPr>
            <a:spLocks noGrp="1"/>
          </p:cNvSpPr>
          <p:nvPr/>
        </p:nvSpPr>
        <p:spPr>
          <a:xfrm>
            <a:off x="562927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395417A8-7D0B-40CF-A096-E050610FCAD6}"/>
              </a:ext>
            </a:extLst>
          </p:cNvPr>
          <p:cNvSpPr>
            <a:spLocks noGrp="1"/>
          </p:cNvSpPr>
          <p:nvPr/>
        </p:nvSpPr>
        <p:spPr>
          <a:xfrm>
            <a:off x="695325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916FCB82-E89A-4F3B-8B8D-0A273C44037F}"/>
              </a:ext>
            </a:extLst>
          </p:cNvPr>
          <p:cNvSpPr>
            <a:spLocks noGrp="1"/>
          </p:cNvSpPr>
          <p:nvPr/>
        </p:nvSpPr>
        <p:spPr>
          <a:xfrm>
            <a:off x="6962775" y="2657475"/>
            <a:ext cx="360997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4A9E0236-3C3F-496E-85FE-803AA51B5B31}"/>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22C6F96E-420E-4380-99E5-40FD70356824}"/>
              </a:ext>
            </a:extLst>
          </p:cNvPr>
          <p:cNvSpPr>
            <a:spLocks noGrp="1"/>
          </p:cNvSpPr>
          <p:nvPr/>
        </p:nvSpPr>
        <p:spPr>
          <a:xfrm>
            <a:off x="703897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1B35C976-8ACF-4195-A3A2-415ECC383DF6}"/>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62B6AE70-5F4F-437A-9AE9-822F06256AA3}"/>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4E86998C-0419-4C82-9BD0-ED46889E1D45}"/>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D5D6E966-6994-4B63-A699-98DAE2AF1DB8}"/>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AB6FF0B6-572C-4279-BAD3-D3136EED1559}"/>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06A3C412-82D2-4551-BE79-C5337A413364}"/>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B819249E-92E4-4A21-BB2C-35628BA564EB}"/>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A2ECBB7E-052B-4999-8EDD-16B3115F9058}"/>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CA1E588C-9C2A-47D3-B02F-49904EC7DA25}"/>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0517837E-2AD1-4AE9-8AA3-A6975C9AB229}"/>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C9F0E4E6-603C-4ADD-82CC-23336E8A3B11}"/>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FF7B247A-D8F5-43BB-932C-D67F02AF3AAB}"/>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6B7EC0AF-42F2-4C4C-B1C0-FC9B0B7506D6}"/>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D1A12805-4949-49D3-A5A9-9BBFB8A050B6}"/>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01198030-360F-4439-BA0B-E0D307794DDB}"/>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4FA68766-84D6-450E-9913-3C6DBBE405FF}"/>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985E852A-2A77-447D-BB94-7E13B121B400}"/>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F2DA9C15-D960-4FC5-83BC-C52C6FDFAFE0}"/>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AD0A39BA-8642-4353-B2BF-C877C8FF4026}"/>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19246956-2B8E-48D0-86C1-0E2E314298D6}"/>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E30BFF67-6DCD-4D23-B3B7-1F6657A18C53}"/>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3</a:t>
            </a:r>
          </a:p>
        </p:txBody>
      </p:sp>
      <p:sp>
        <p:nvSpPr>
          <p:cNvPr id="76" name="Rectangle 75">
            <a:extLst>
              <a:ext uri="{FF2B5EF4-FFF2-40B4-BE49-F238E27FC236}">
                <a16:creationId xmlns:a16="http://schemas.microsoft.com/office/drawing/2014/main" id="{07AE3E3B-EF65-4BEC-8BBA-35579F3E712A}"/>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85CE0B26-63A1-430E-B93E-992FB29CA8A0}"/>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Extract benchmark claims</a:t>
            </a:r>
          </a:p>
        </p:txBody>
      </p:sp>
      <p:sp>
        <p:nvSpPr>
          <p:cNvPr id="78" name="Rectangle 77">
            <a:extLst>
              <a:ext uri="{FF2B5EF4-FFF2-40B4-BE49-F238E27FC236}">
                <a16:creationId xmlns:a16="http://schemas.microsoft.com/office/drawing/2014/main" id="{5D89BABA-8709-4FD9-9A91-612708FBAF1B}"/>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D53EEAD6-ADCC-498F-9BDB-973322D51B44}"/>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Research Claim, ClaimEvidenceLink, EvidenceItem</a:t>
            </a:r>
          </a:p>
        </p:txBody>
      </p:sp>
      <p:sp>
        <p:nvSpPr>
          <p:cNvPr id="80" name="Rectangle 79">
            <a:extLst>
              <a:ext uri="{FF2B5EF4-FFF2-40B4-BE49-F238E27FC236}">
                <a16:creationId xmlns:a16="http://schemas.microsoft.com/office/drawing/2014/main" id="{7935852F-F103-48CC-99A1-20DDB9D8514E}"/>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DDB8514E-3F4E-4C06-8180-E69DB283A189}"/>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BenchmarkClaim: metric, dataset, split, config, expected value, tolerance</a:t>
            </a:r>
          </a:p>
        </p:txBody>
      </p:sp>
      <p:sp>
        <p:nvSpPr>
          <p:cNvPr id="82" name="Rectangle 81">
            <a:extLst>
              <a:ext uri="{FF2B5EF4-FFF2-40B4-BE49-F238E27FC236}">
                <a16:creationId xmlns:a16="http://schemas.microsoft.com/office/drawing/2014/main" id="{F6908E11-5938-4275-96CF-45479CB47D27}"/>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88F53BFD-A0AD-4C23-B099-29AD83076108}"/>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paper_claims.json, claim_evidence_links.json</a:t>
            </a:r>
          </a:p>
        </p:txBody>
      </p:sp>
      <p:sp>
        <p:nvSpPr>
          <p:cNvPr id="84" name="Rectangle 83">
            <a:extLst>
              <a:ext uri="{FF2B5EF4-FFF2-40B4-BE49-F238E27FC236}">
                <a16:creationId xmlns:a16="http://schemas.microsoft.com/office/drawing/2014/main" id="{685600ED-0A85-4215-B712-22C2816B535E}"/>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22DD68C1-9BF3-4FF9-83CE-A563623AE19B}"/>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Ambiguous or non-benchmarkable claims go to human review.</a:t>
            </a:r>
          </a:p>
        </p:txBody>
      </p:sp>
      <p:sp>
        <p:nvSpPr>
          <p:cNvPr id="86" name="Rectangle 85">
            <a:extLst>
              <a:ext uri="{FF2B5EF4-FFF2-40B4-BE49-F238E27FC236}">
                <a16:creationId xmlns:a16="http://schemas.microsoft.com/office/drawing/2014/main" id="{1091DBDB-48D1-49B6-A305-045892B06712}"/>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886228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C8C584B5-1274-4650-82C8-CBC0B0DC2145}"/>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78A67595-29BF-4091-9E1B-97B74E864332}"/>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2E7433A4-81F9-48D7-A2ED-1724320C64D8}"/>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2B9D48DF-AD62-47FF-A8BD-6C7009CA0500}"/>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4</a:t>
            </a:r>
          </a:p>
        </p:txBody>
      </p:sp>
      <p:sp>
        <p:nvSpPr>
          <p:cNvPr id="5" name="Rectangle 4">
            <a:extLst>
              <a:ext uri="{FF2B5EF4-FFF2-40B4-BE49-F238E27FC236}">
                <a16:creationId xmlns:a16="http://schemas.microsoft.com/office/drawing/2014/main" id="{4D0AE6E1-EB52-4B86-A5C1-72260B319972}"/>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Write and approve benchmark contracts</a:t>
            </a:r>
          </a:p>
        </p:txBody>
      </p:sp>
      <p:sp>
        <p:nvSpPr>
          <p:cNvPr id="6" name="Rectangle 5">
            <a:extLst>
              <a:ext uri="{FF2B5EF4-FFF2-40B4-BE49-F238E27FC236}">
                <a16:creationId xmlns:a16="http://schemas.microsoft.com/office/drawing/2014/main" id="{DF044652-0597-460C-B4F5-4EEBD72336AE}"/>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CD5C5005-1284-4C1D-A375-6C8A5C1AC0EF}"/>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09</a:t>
            </a:r>
          </a:p>
        </p:txBody>
      </p:sp>
      <p:sp>
        <p:nvSpPr>
          <p:cNvPr id="8" name="Rectangle 7">
            <a:extLst>
              <a:ext uri="{FF2B5EF4-FFF2-40B4-BE49-F238E27FC236}">
                <a16:creationId xmlns:a16="http://schemas.microsoft.com/office/drawing/2014/main" id="{000590DE-0C64-4E7B-ADF5-DA532230F112}"/>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Turn each claim into an executable check.</a:t>
            </a:r>
          </a:p>
        </p:txBody>
      </p:sp>
      <p:sp>
        <p:nvSpPr>
          <p:cNvPr id="9" name="Rectangle 8">
            <a:extLst>
              <a:ext uri="{FF2B5EF4-FFF2-40B4-BE49-F238E27FC236}">
                <a16:creationId xmlns:a16="http://schemas.microsoft.com/office/drawing/2014/main" id="{CAF6276F-579A-4FB5-A451-FEB545444228}"/>
              </a:ext>
            </a:extLst>
          </p:cNvPr>
          <p:cNvSpPr>
            <a:spLocks noGrp="1"/>
          </p:cNvSpPr>
          <p:nvPr/>
        </p:nvSpPr>
        <p:spPr>
          <a:xfrm>
            <a:off x="1171575"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ECC078A3-EF11-4C54-948E-858212C4A40F}"/>
              </a:ext>
            </a:extLst>
          </p:cNvPr>
          <p:cNvSpPr>
            <a:spLocks noGrp="1"/>
          </p:cNvSpPr>
          <p:nvPr/>
        </p:nvSpPr>
        <p:spPr>
          <a:xfrm>
            <a:off x="12096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C95CD7A3-5B35-4FB6-A829-A143C54E69A9}"/>
              </a:ext>
            </a:extLst>
          </p:cNvPr>
          <p:cNvSpPr>
            <a:spLocks noGrp="1"/>
          </p:cNvSpPr>
          <p:nvPr/>
        </p:nvSpPr>
        <p:spPr>
          <a:xfrm>
            <a:off x="18097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6A67F5B5-42F8-4FC6-B323-58E6470FC562}"/>
              </a:ext>
            </a:extLst>
          </p:cNvPr>
          <p:cNvSpPr>
            <a:spLocks noGrp="1"/>
          </p:cNvSpPr>
          <p:nvPr/>
        </p:nvSpPr>
        <p:spPr>
          <a:xfrm>
            <a:off x="1876425"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D2888D40-2A5D-455E-9FB6-26572D602049}"/>
              </a:ext>
            </a:extLst>
          </p:cNvPr>
          <p:cNvSpPr>
            <a:spLocks noGrp="1"/>
          </p:cNvSpPr>
          <p:nvPr/>
        </p:nvSpPr>
        <p:spPr>
          <a:xfrm>
            <a:off x="19145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A9B6639D-B369-4B5C-97A9-8A397B1E0B85}"/>
              </a:ext>
            </a:extLst>
          </p:cNvPr>
          <p:cNvSpPr>
            <a:spLocks noGrp="1"/>
          </p:cNvSpPr>
          <p:nvPr/>
        </p:nvSpPr>
        <p:spPr>
          <a:xfrm>
            <a:off x="25146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B02AAAAD-D559-4DC6-83BB-8EBC36B9B319}"/>
              </a:ext>
            </a:extLst>
          </p:cNvPr>
          <p:cNvSpPr>
            <a:spLocks noGrp="1"/>
          </p:cNvSpPr>
          <p:nvPr/>
        </p:nvSpPr>
        <p:spPr>
          <a:xfrm>
            <a:off x="258127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34B65372-B14F-46E7-89A1-6F3989F5B5BF}"/>
              </a:ext>
            </a:extLst>
          </p:cNvPr>
          <p:cNvSpPr>
            <a:spLocks noGrp="1"/>
          </p:cNvSpPr>
          <p:nvPr/>
        </p:nvSpPr>
        <p:spPr>
          <a:xfrm>
            <a:off x="26193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81B87C8E-4ADA-4D3B-8EE7-34483B3F83E2}"/>
              </a:ext>
            </a:extLst>
          </p:cNvPr>
          <p:cNvSpPr>
            <a:spLocks noGrp="1"/>
          </p:cNvSpPr>
          <p:nvPr/>
        </p:nvSpPr>
        <p:spPr>
          <a:xfrm>
            <a:off x="32194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A453E7AE-70A9-4407-B93E-EEB8711D7653}"/>
              </a:ext>
            </a:extLst>
          </p:cNvPr>
          <p:cNvSpPr>
            <a:spLocks noGrp="1"/>
          </p:cNvSpPr>
          <p:nvPr/>
        </p:nvSpPr>
        <p:spPr>
          <a:xfrm>
            <a:off x="328612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5CD8AEE8-940F-4072-87BB-99BDA559788B}"/>
              </a:ext>
            </a:extLst>
          </p:cNvPr>
          <p:cNvSpPr>
            <a:spLocks noGrp="1"/>
          </p:cNvSpPr>
          <p:nvPr/>
        </p:nvSpPr>
        <p:spPr>
          <a:xfrm>
            <a:off x="33242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E4FD2A61-E26D-41C1-8CE7-FEB659345BEF}"/>
              </a:ext>
            </a:extLst>
          </p:cNvPr>
          <p:cNvSpPr>
            <a:spLocks noGrp="1"/>
          </p:cNvSpPr>
          <p:nvPr/>
        </p:nvSpPr>
        <p:spPr>
          <a:xfrm>
            <a:off x="3924300"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88C81554-56DC-4B90-9566-22FE4CDC95B8}"/>
              </a:ext>
            </a:extLst>
          </p:cNvPr>
          <p:cNvSpPr>
            <a:spLocks noGrp="1"/>
          </p:cNvSpPr>
          <p:nvPr/>
        </p:nvSpPr>
        <p:spPr>
          <a:xfrm>
            <a:off x="3990975"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22" name="Rectangle 21">
            <a:extLst>
              <a:ext uri="{FF2B5EF4-FFF2-40B4-BE49-F238E27FC236}">
                <a16:creationId xmlns:a16="http://schemas.microsoft.com/office/drawing/2014/main" id="{8D5CD261-458C-480C-8554-7167791384DE}"/>
              </a:ext>
            </a:extLst>
          </p:cNvPr>
          <p:cNvSpPr>
            <a:spLocks noGrp="1"/>
          </p:cNvSpPr>
          <p:nvPr/>
        </p:nvSpPr>
        <p:spPr>
          <a:xfrm>
            <a:off x="4029075"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Contracts</a:t>
            </a:r>
          </a:p>
          <a:p>
            <a:pPr algn="ctr">
              <a:defRPr sz="788" b="1">
                <a:solidFill>
                  <a:srgbClr val="FFFFFF"/>
                </a:solidFill>
                <a:latin typeface="Aptos"/>
                <a:ea typeface="Aptos"/>
                <a:cs typeface="Aptos"/>
              </a:defRPr>
            </a:pPr>
            <a:r>
              <a:rPr sz="788" b="1">
                <a:solidFill>
                  <a:srgbClr val="FFFFFF"/>
                </a:solidFill>
                <a:latin typeface="Aptos"/>
                <a:ea typeface="Aptos"/>
                <a:cs typeface="Aptos"/>
              </a:rPr>
              <a:t>generation</a:t>
            </a:r>
          </a:p>
        </p:txBody>
      </p:sp>
      <p:sp>
        <p:nvSpPr>
          <p:cNvPr id="23" name="Rectangle 22">
            <a:extLst>
              <a:ext uri="{FF2B5EF4-FFF2-40B4-BE49-F238E27FC236}">
                <a16:creationId xmlns:a16="http://schemas.microsoft.com/office/drawing/2014/main" id="{F39EFBF2-5133-4BB0-B8C2-6C8AC418C050}"/>
              </a:ext>
            </a:extLst>
          </p:cNvPr>
          <p:cNvSpPr>
            <a:spLocks noGrp="1"/>
          </p:cNvSpPr>
          <p:nvPr/>
        </p:nvSpPr>
        <p:spPr>
          <a:xfrm>
            <a:off x="4991100"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5A127C87-595B-4924-AEAB-FB29EE7A2202}"/>
              </a:ext>
            </a:extLst>
          </p:cNvPr>
          <p:cNvSpPr>
            <a:spLocks noGrp="1"/>
          </p:cNvSpPr>
          <p:nvPr/>
        </p:nvSpPr>
        <p:spPr>
          <a:xfrm>
            <a:off x="5057775"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25" name="Rectangle 24">
            <a:extLst>
              <a:ext uri="{FF2B5EF4-FFF2-40B4-BE49-F238E27FC236}">
                <a16:creationId xmlns:a16="http://schemas.microsoft.com/office/drawing/2014/main" id="{D6020E1F-0378-45CE-AAE1-AEC3791AFFE4}"/>
              </a:ext>
            </a:extLst>
          </p:cNvPr>
          <p:cNvSpPr>
            <a:spLocks noGrp="1"/>
          </p:cNvSpPr>
          <p:nvPr/>
        </p:nvSpPr>
        <p:spPr>
          <a:xfrm>
            <a:off x="5095875"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Human</a:t>
            </a:r>
          </a:p>
          <a:p>
            <a:pPr algn="ctr">
              <a:defRPr sz="788" b="1">
                <a:solidFill>
                  <a:srgbClr val="FFFFFF"/>
                </a:solidFill>
                <a:latin typeface="Aptos"/>
                <a:ea typeface="Aptos"/>
                <a:cs typeface="Aptos"/>
              </a:defRPr>
            </a:pPr>
            <a:r>
              <a:rPr sz="788" b="1">
                <a:solidFill>
                  <a:srgbClr val="FFFFFF"/>
                </a:solidFill>
                <a:latin typeface="Aptos"/>
                <a:ea typeface="Aptos"/>
                <a:cs typeface="Aptos"/>
              </a:rPr>
              <a:t>review</a:t>
            </a:r>
          </a:p>
        </p:txBody>
      </p:sp>
      <p:sp>
        <p:nvSpPr>
          <p:cNvPr id="26" name="Rectangle 25">
            <a:extLst>
              <a:ext uri="{FF2B5EF4-FFF2-40B4-BE49-F238E27FC236}">
                <a16:creationId xmlns:a16="http://schemas.microsoft.com/office/drawing/2014/main" id="{54A400D1-3E16-42E2-8E3C-6BA6F28A8BCE}"/>
              </a:ext>
            </a:extLst>
          </p:cNvPr>
          <p:cNvSpPr>
            <a:spLocks noGrp="1"/>
          </p:cNvSpPr>
          <p:nvPr/>
        </p:nvSpPr>
        <p:spPr>
          <a:xfrm>
            <a:off x="60579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A5D4077E-2FC1-44A2-A36B-EF9F4D89C83C}"/>
              </a:ext>
            </a:extLst>
          </p:cNvPr>
          <p:cNvSpPr>
            <a:spLocks noGrp="1"/>
          </p:cNvSpPr>
          <p:nvPr/>
        </p:nvSpPr>
        <p:spPr>
          <a:xfrm>
            <a:off x="612457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210A5ECA-5B65-452D-B5D9-74D7ABECC867}"/>
              </a:ext>
            </a:extLst>
          </p:cNvPr>
          <p:cNvSpPr>
            <a:spLocks noGrp="1"/>
          </p:cNvSpPr>
          <p:nvPr/>
        </p:nvSpPr>
        <p:spPr>
          <a:xfrm>
            <a:off x="61626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312430C8-CB68-422C-89DA-587C79724424}"/>
              </a:ext>
            </a:extLst>
          </p:cNvPr>
          <p:cNvSpPr>
            <a:spLocks noGrp="1"/>
          </p:cNvSpPr>
          <p:nvPr/>
        </p:nvSpPr>
        <p:spPr>
          <a:xfrm>
            <a:off x="67627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B815794A-C9B6-448D-BA26-B855C9979411}"/>
              </a:ext>
            </a:extLst>
          </p:cNvPr>
          <p:cNvSpPr>
            <a:spLocks noGrp="1"/>
          </p:cNvSpPr>
          <p:nvPr/>
        </p:nvSpPr>
        <p:spPr>
          <a:xfrm>
            <a:off x="68294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E981F8FE-5BE8-4E94-90D3-8B68FA5CF63C}"/>
              </a:ext>
            </a:extLst>
          </p:cNvPr>
          <p:cNvSpPr>
            <a:spLocks noGrp="1"/>
          </p:cNvSpPr>
          <p:nvPr/>
        </p:nvSpPr>
        <p:spPr>
          <a:xfrm>
            <a:off x="68675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7AADBF1E-0582-4E4B-86BB-EC4F3BF15F4F}"/>
              </a:ext>
            </a:extLst>
          </p:cNvPr>
          <p:cNvSpPr>
            <a:spLocks noGrp="1"/>
          </p:cNvSpPr>
          <p:nvPr/>
        </p:nvSpPr>
        <p:spPr>
          <a:xfrm>
            <a:off x="74676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0E5C06FC-C0DE-4246-840C-2B1491DD08FF}"/>
              </a:ext>
            </a:extLst>
          </p:cNvPr>
          <p:cNvSpPr>
            <a:spLocks noGrp="1"/>
          </p:cNvSpPr>
          <p:nvPr/>
        </p:nvSpPr>
        <p:spPr>
          <a:xfrm>
            <a:off x="753427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D10DBD39-FBAD-46D4-9D2D-D1112E1520E6}"/>
              </a:ext>
            </a:extLst>
          </p:cNvPr>
          <p:cNvSpPr>
            <a:spLocks noGrp="1"/>
          </p:cNvSpPr>
          <p:nvPr/>
        </p:nvSpPr>
        <p:spPr>
          <a:xfrm>
            <a:off x="75723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5BEC6E89-A7B1-4F8F-ACE2-AEFBE236CB4F}"/>
              </a:ext>
            </a:extLst>
          </p:cNvPr>
          <p:cNvSpPr>
            <a:spLocks noGrp="1"/>
          </p:cNvSpPr>
          <p:nvPr/>
        </p:nvSpPr>
        <p:spPr>
          <a:xfrm>
            <a:off x="81724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2603C75D-1F40-4CB2-A6D2-AC28678A5014}"/>
              </a:ext>
            </a:extLst>
          </p:cNvPr>
          <p:cNvSpPr>
            <a:spLocks noGrp="1"/>
          </p:cNvSpPr>
          <p:nvPr/>
        </p:nvSpPr>
        <p:spPr>
          <a:xfrm>
            <a:off x="82391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ABAA710A-084F-41F1-8319-5D92691B3E9A}"/>
              </a:ext>
            </a:extLst>
          </p:cNvPr>
          <p:cNvSpPr>
            <a:spLocks noGrp="1"/>
          </p:cNvSpPr>
          <p:nvPr/>
        </p:nvSpPr>
        <p:spPr>
          <a:xfrm>
            <a:off x="82772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4757E451-3A09-4F12-8FB5-5BE4CDE0EA1E}"/>
              </a:ext>
            </a:extLst>
          </p:cNvPr>
          <p:cNvSpPr>
            <a:spLocks noGrp="1"/>
          </p:cNvSpPr>
          <p:nvPr/>
        </p:nvSpPr>
        <p:spPr>
          <a:xfrm>
            <a:off x="88773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55FB129F-478E-4719-A81C-0E5DA62F12C6}"/>
              </a:ext>
            </a:extLst>
          </p:cNvPr>
          <p:cNvSpPr>
            <a:spLocks noGrp="1"/>
          </p:cNvSpPr>
          <p:nvPr/>
        </p:nvSpPr>
        <p:spPr>
          <a:xfrm>
            <a:off x="894397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D86CEBF6-052A-4DA6-B791-79CD69F63DA1}"/>
              </a:ext>
            </a:extLst>
          </p:cNvPr>
          <p:cNvSpPr>
            <a:spLocks noGrp="1"/>
          </p:cNvSpPr>
          <p:nvPr/>
        </p:nvSpPr>
        <p:spPr>
          <a:xfrm>
            <a:off x="89820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C328E62A-81BE-4105-A784-27A415C6DA11}"/>
              </a:ext>
            </a:extLst>
          </p:cNvPr>
          <p:cNvSpPr>
            <a:spLocks noGrp="1"/>
          </p:cNvSpPr>
          <p:nvPr/>
        </p:nvSpPr>
        <p:spPr>
          <a:xfrm>
            <a:off x="95821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6500DBED-9887-4A24-80BB-965DFF5CB870}"/>
              </a:ext>
            </a:extLst>
          </p:cNvPr>
          <p:cNvSpPr>
            <a:spLocks noGrp="1"/>
          </p:cNvSpPr>
          <p:nvPr/>
        </p:nvSpPr>
        <p:spPr>
          <a:xfrm>
            <a:off x="964882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338C1BAA-1924-4337-B960-C70DC30AB59B}"/>
              </a:ext>
            </a:extLst>
          </p:cNvPr>
          <p:cNvSpPr>
            <a:spLocks noGrp="1"/>
          </p:cNvSpPr>
          <p:nvPr/>
        </p:nvSpPr>
        <p:spPr>
          <a:xfrm>
            <a:off x="96869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08E3985D-231D-4DF3-A0D1-D0132F0C57FE}"/>
              </a:ext>
            </a:extLst>
          </p:cNvPr>
          <p:cNvSpPr>
            <a:spLocks noGrp="1"/>
          </p:cNvSpPr>
          <p:nvPr/>
        </p:nvSpPr>
        <p:spPr>
          <a:xfrm>
            <a:off x="102870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86FFCE07-D01D-4C45-897E-3EC3272BC568}"/>
              </a:ext>
            </a:extLst>
          </p:cNvPr>
          <p:cNvSpPr>
            <a:spLocks noGrp="1"/>
          </p:cNvSpPr>
          <p:nvPr/>
        </p:nvSpPr>
        <p:spPr>
          <a:xfrm>
            <a:off x="1035367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826C12D5-6CAD-4B91-9A9E-CEA79D2B116B}"/>
              </a:ext>
            </a:extLst>
          </p:cNvPr>
          <p:cNvSpPr>
            <a:spLocks noGrp="1"/>
          </p:cNvSpPr>
          <p:nvPr/>
        </p:nvSpPr>
        <p:spPr>
          <a:xfrm>
            <a:off x="103917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55D1B3CE-C5E2-4174-BECB-2B60C9F26E77}"/>
              </a:ext>
            </a:extLst>
          </p:cNvPr>
          <p:cNvSpPr>
            <a:spLocks noGrp="1"/>
          </p:cNvSpPr>
          <p:nvPr/>
        </p:nvSpPr>
        <p:spPr>
          <a:xfrm>
            <a:off x="5543550" y="2343150"/>
            <a:ext cx="19050" cy="142875"/>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B77870E0-9D86-4BBA-90A3-5A3D41E45BDA}"/>
              </a:ext>
            </a:extLst>
          </p:cNvPr>
          <p:cNvSpPr>
            <a:spLocks noGrp="1"/>
          </p:cNvSpPr>
          <p:nvPr/>
        </p:nvSpPr>
        <p:spPr>
          <a:xfrm>
            <a:off x="5553075" y="2486025"/>
            <a:ext cx="501967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AC984BAE-384A-4754-9D17-16436C3E5B74}"/>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0C5388D5-154C-4744-B224-43B77073C9EC}"/>
              </a:ext>
            </a:extLst>
          </p:cNvPr>
          <p:cNvSpPr>
            <a:spLocks noGrp="1"/>
          </p:cNvSpPr>
          <p:nvPr/>
        </p:nvSpPr>
        <p:spPr>
          <a:xfrm>
            <a:off x="562927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8C40A1BE-D92F-4940-A058-698146937D81}"/>
              </a:ext>
            </a:extLst>
          </p:cNvPr>
          <p:cNvSpPr>
            <a:spLocks noGrp="1"/>
          </p:cNvSpPr>
          <p:nvPr/>
        </p:nvSpPr>
        <p:spPr>
          <a:xfrm>
            <a:off x="7134225"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7461C6CD-0E7E-40FC-8400-AC3D2B7BDE6A}"/>
              </a:ext>
            </a:extLst>
          </p:cNvPr>
          <p:cNvSpPr>
            <a:spLocks noGrp="1"/>
          </p:cNvSpPr>
          <p:nvPr/>
        </p:nvSpPr>
        <p:spPr>
          <a:xfrm>
            <a:off x="7143750" y="2657475"/>
            <a:ext cx="3429000"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F79CDCB4-3E09-40A1-9144-D45D23A7D6F7}"/>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87EDD5A9-D75C-4319-9E71-FA7EB07F8A3C}"/>
              </a:ext>
            </a:extLst>
          </p:cNvPr>
          <p:cNvSpPr>
            <a:spLocks noGrp="1"/>
          </p:cNvSpPr>
          <p:nvPr/>
        </p:nvSpPr>
        <p:spPr>
          <a:xfrm>
            <a:off x="7219950"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658AC252-A020-454A-ABC7-51F163E7D7C3}"/>
              </a:ext>
            </a:extLst>
          </p:cNvPr>
          <p:cNvSpPr>
            <a:spLocks noGrp="1"/>
          </p:cNvSpPr>
          <p:nvPr/>
        </p:nvSpPr>
        <p:spPr>
          <a:xfrm>
            <a:off x="9953625"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EF0D48BD-865F-4802-A0BF-6E2AD995ED9A}"/>
              </a:ext>
            </a:extLst>
          </p:cNvPr>
          <p:cNvSpPr>
            <a:spLocks noGrp="1"/>
          </p:cNvSpPr>
          <p:nvPr/>
        </p:nvSpPr>
        <p:spPr>
          <a:xfrm>
            <a:off x="9963150" y="2828925"/>
            <a:ext cx="609600"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49435BBF-57DD-4D60-832E-82F2A241C931}"/>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EDA0B32A-D887-4007-8455-95ABBA9000B7}"/>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6D9E51FA-34A1-454A-BF8B-EF94D1D7C3C0}"/>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80CD119A-BD65-494D-B600-940971B60A43}"/>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D7C9BFBB-38BB-4576-B216-F780AD138C50}"/>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64C3FD1F-CC80-4925-8375-4109A0D0A6A6}"/>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D74563F8-AA6B-4CFD-9DEE-0324F04F14D6}"/>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78E1EF4F-C480-4591-A62E-E42B15968E4E}"/>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E6AE7856-E21B-4787-B1FF-9FAFEF7B85F2}"/>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5472A932-6F4E-49F8-89A1-E0A946C391C7}"/>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F97AF50B-C464-4EBE-B936-820C7F94D45D}"/>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CB46D91E-EEDB-44A2-A1AB-53E44572F32A}"/>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29254494-C1F5-4397-A016-862820F0A31A}"/>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BD2B14C4-7CD8-417C-A8CE-E2CD1C3DE35B}"/>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B6BC0588-0257-41A7-B8D2-CE20CA2A5A87}"/>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2E2E11DB-0781-4458-AF2D-0B2026BB2D5C}"/>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5A8E05D3-0AEE-4C40-9F59-E5026F48A91D}"/>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AB2292AD-7ACC-4464-B99B-09FFF47F452C}"/>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E5E330F5-C25B-4DF2-B9B0-628CEA40ADAD}"/>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4</a:t>
            </a:r>
          </a:p>
        </p:txBody>
      </p:sp>
      <p:sp>
        <p:nvSpPr>
          <p:cNvPr id="76" name="Rectangle 75">
            <a:extLst>
              <a:ext uri="{FF2B5EF4-FFF2-40B4-BE49-F238E27FC236}">
                <a16:creationId xmlns:a16="http://schemas.microsoft.com/office/drawing/2014/main" id="{9A4F3BC3-6359-4E6E-80CC-81BEF3A85BBE}"/>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6702A06F-8531-4FCA-A566-10D1F95B40E8}"/>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Write and approve benchmark contracts</a:t>
            </a:r>
          </a:p>
        </p:txBody>
      </p:sp>
      <p:sp>
        <p:nvSpPr>
          <p:cNvPr id="78" name="Rectangle 77">
            <a:extLst>
              <a:ext uri="{FF2B5EF4-FFF2-40B4-BE49-F238E27FC236}">
                <a16:creationId xmlns:a16="http://schemas.microsoft.com/office/drawing/2014/main" id="{975A112F-7B3E-429D-BCD6-878CEFEF719A}"/>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BC34B039-B7F8-430B-A9B1-830966492AB1}"/>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BenchmarkRunRequest, BenchmarkRunPlan, BenchmarkAdapter.plan(), VerifierLite</a:t>
            </a:r>
          </a:p>
        </p:txBody>
      </p:sp>
      <p:sp>
        <p:nvSpPr>
          <p:cNvPr id="80" name="Rectangle 79">
            <a:extLst>
              <a:ext uri="{FF2B5EF4-FFF2-40B4-BE49-F238E27FC236}">
                <a16:creationId xmlns:a16="http://schemas.microsoft.com/office/drawing/2014/main" id="{7D885F9C-8CBF-4282-B341-F8AF87343B76}"/>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A4509E5A-4857-4089-BA20-2620984DDB00}"/>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BenchmarkContract, HumanReviewDecision</a:t>
            </a:r>
          </a:p>
        </p:txBody>
      </p:sp>
      <p:sp>
        <p:nvSpPr>
          <p:cNvPr id="82" name="Rectangle 81">
            <a:extLst>
              <a:ext uri="{FF2B5EF4-FFF2-40B4-BE49-F238E27FC236}">
                <a16:creationId xmlns:a16="http://schemas.microsoft.com/office/drawing/2014/main" id="{BD619E13-39F1-41E4-9336-22A7FA821489}"/>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EA39AB11-5167-41A5-93AA-8B31B78C60A2}"/>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benchmark_contracts.json, contract_review.json</a:t>
            </a:r>
          </a:p>
        </p:txBody>
      </p:sp>
      <p:sp>
        <p:nvSpPr>
          <p:cNvPr id="84" name="Rectangle 83">
            <a:extLst>
              <a:ext uri="{FF2B5EF4-FFF2-40B4-BE49-F238E27FC236}">
                <a16:creationId xmlns:a16="http://schemas.microsoft.com/office/drawing/2014/main" id="{27F779FF-9EAD-4CDF-ADC5-13E34662C269}"/>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13F0F51A-F103-405B-97FA-7B5102C00D1D}"/>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Rejected/unclear contracts return to claim extraction; no execution before approval.</a:t>
            </a:r>
          </a:p>
        </p:txBody>
      </p:sp>
      <p:sp>
        <p:nvSpPr>
          <p:cNvPr id="86" name="Rectangle 85">
            <a:extLst>
              <a:ext uri="{FF2B5EF4-FFF2-40B4-BE49-F238E27FC236}">
                <a16:creationId xmlns:a16="http://schemas.microsoft.com/office/drawing/2014/main" id="{32B348EE-135B-4A78-9598-F1760F9E5784}"/>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753221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AABDCCA8-FA2A-47F2-B154-462F731F28F0}"/>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1F95F03-5984-45DC-9CE1-9762499CD8C5}"/>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72F22A34-957E-4368-BA17-E147D2865A3A}"/>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3923F68A-052E-4AE6-B2F9-FC464F174B7E}"/>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5</a:t>
            </a:r>
          </a:p>
        </p:txBody>
      </p:sp>
      <p:sp>
        <p:nvSpPr>
          <p:cNvPr id="5" name="Rectangle 4">
            <a:extLst>
              <a:ext uri="{FF2B5EF4-FFF2-40B4-BE49-F238E27FC236}">
                <a16:creationId xmlns:a16="http://schemas.microsoft.com/office/drawing/2014/main" id="{793FFFA8-1476-4F88-A25A-8E7DE10737A3}"/>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Preflight and approve execution</a:t>
            </a:r>
          </a:p>
        </p:txBody>
      </p:sp>
      <p:sp>
        <p:nvSpPr>
          <p:cNvPr id="6" name="Rectangle 5">
            <a:extLst>
              <a:ext uri="{FF2B5EF4-FFF2-40B4-BE49-F238E27FC236}">
                <a16:creationId xmlns:a16="http://schemas.microsoft.com/office/drawing/2014/main" id="{74F0CCB7-6142-4348-8019-71EEB911C817}"/>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E03C10F2-FFC6-4F74-A5D6-EF995073E7B6}"/>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10</a:t>
            </a:r>
          </a:p>
        </p:txBody>
      </p:sp>
      <p:sp>
        <p:nvSpPr>
          <p:cNvPr id="8" name="Rectangle 7">
            <a:extLst>
              <a:ext uri="{FF2B5EF4-FFF2-40B4-BE49-F238E27FC236}">
                <a16:creationId xmlns:a16="http://schemas.microsoft.com/office/drawing/2014/main" id="{CA313C09-47FF-48D7-A7E5-DCE3C8A68824}"/>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Check whether the run path is operationally safe and ready.</a:t>
            </a:r>
          </a:p>
        </p:txBody>
      </p:sp>
      <p:sp>
        <p:nvSpPr>
          <p:cNvPr id="9" name="Rectangle 8">
            <a:extLst>
              <a:ext uri="{FF2B5EF4-FFF2-40B4-BE49-F238E27FC236}">
                <a16:creationId xmlns:a16="http://schemas.microsoft.com/office/drawing/2014/main" id="{9C4177AD-DBA4-4568-9A3B-C1FCFED2AC2F}"/>
              </a:ext>
            </a:extLst>
          </p:cNvPr>
          <p:cNvSpPr>
            <a:spLocks noGrp="1"/>
          </p:cNvSpPr>
          <p:nvPr/>
        </p:nvSpPr>
        <p:spPr>
          <a:xfrm>
            <a:off x="1171575"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92AE9B76-8F1D-497A-AEE2-0C5B5D9B45E7}"/>
              </a:ext>
            </a:extLst>
          </p:cNvPr>
          <p:cNvSpPr>
            <a:spLocks noGrp="1"/>
          </p:cNvSpPr>
          <p:nvPr/>
        </p:nvSpPr>
        <p:spPr>
          <a:xfrm>
            <a:off x="12096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DCBD0F4B-C885-4234-AC23-AE49D7C4745E}"/>
              </a:ext>
            </a:extLst>
          </p:cNvPr>
          <p:cNvSpPr>
            <a:spLocks noGrp="1"/>
          </p:cNvSpPr>
          <p:nvPr/>
        </p:nvSpPr>
        <p:spPr>
          <a:xfrm>
            <a:off x="18097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D5591886-CDD3-4519-8018-E81D880F0348}"/>
              </a:ext>
            </a:extLst>
          </p:cNvPr>
          <p:cNvSpPr>
            <a:spLocks noGrp="1"/>
          </p:cNvSpPr>
          <p:nvPr/>
        </p:nvSpPr>
        <p:spPr>
          <a:xfrm>
            <a:off x="1876425"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4C128D5E-3277-4FE3-B972-096354259361}"/>
              </a:ext>
            </a:extLst>
          </p:cNvPr>
          <p:cNvSpPr>
            <a:spLocks noGrp="1"/>
          </p:cNvSpPr>
          <p:nvPr/>
        </p:nvSpPr>
        <p:spPr>
          <a:xfrm>
            <a:off x="19145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14D3BEA5-6754-438A-AE55-1F6ED6B6F156}"/>
              </a:ext>
            </a:extLst>
          </p:cNvPr>
          <p:cNvSpPr>
            <a:spLocks noGrp="1"/>
          </p:cNvSpPr>
          <p:nvPr/>
        </p:nvSpPr>
        <p:spPr>
          <a:xfrm>
            <a:off x="25146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6F9C1C00-C3A9-4A0D-8995-7BBE9F864EE3}"/>
              </a:ext>
            </a:extLst>
          </p:cNvPr>
          <p:cNvSpPr>
            <a:spLocks noGrp="1"/>
          </p:cNvSpPr>
          <p:nvPr/>
        </p:nvSpPr>
        <p:spPr>
          <a:xfrm>
            <a:off x="258127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CF929018-25B5-4835-803B-74EA5D69BE96}"/>
              </a:ext>
            </a:extLst>
          </p:cNvPr>
          <p:cNvSpPr>
            <a:spLocks noGrp="1"/>
          </p:cNvSpPr>
          <p:nvPr/>
        </p:nvSpPr>
        <p:spPr>
          <a:xfrm>
            <a:off x="26193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BB555501-6932-4696-97A6-E30ACC529841}"/>
              </a:ext>
            </a:extLst>
          </p:cNvPr>
          <p:cNvSpPr>
            <a:spLocks noGrp="1"/>
          </p:cNvSpPr>
          <p:nvPr/>
        </p:nvSpPr>
        <p:spPr>
          <a:xfrm>
            <a:off x="32194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0C372BEA-F048-44CB-902D-6766F364D602}"/>
              </a:ext>
            </a:extLst>
          </p:cNvPr>
          <p:cNvSpPr>
            <a:spLocks noGrp="1"/>
          </p:cNvSpPr>
          <p:nvPr/>
        </p:nvSpPr>
        <p:spPr>
          <a:xfrm>
            <a:off x="328612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442DB275-B479-45D5-AD12-A99FD7417778}"/>
              </a:ext>
            </a:extLst>
          </p:cNvPr>
          <p:cNvSpPr>
            <a:spLocks noGrp="1"/>
          </p:cNvSpPr>
          <p:nvPr/>
        </p:nvSpPr>
        <p:spPr>
          <a:xfrm>
            <a:off x="33242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8A8C6AD4-858E-4F13-B3D4-5A5C2C514645}"/>
              </a:ext>
            </a:extLst>
          </p:cNvPr>
          <p:cNvSpPr>
            <a:spLocks noGrp="1"/>
          </p:cNvSpPr>
          <p:nvPr/>
        </p:nvSpPr>
        <p:spPr>
          <a:xfrm>
            <a:off x="39243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4B5AFE89-77D9-4148-9BBB-8C4B05A3CBD8}"/>
              </a:ext>
            </a:extLst>
          </p:cNvPr>
          <p:cNvSpPr>
            <a:spLocks noGrp="1"/>
          </p:cNvSpPr>
          <p:nvPr/>
        </p:nvSpPr>
        <p:spPr>
          <a:xfrm>
            <a:off x="399097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BFE8C8FB-9230-4AC1-B97A-D2DF1D092786}"/>
              </a:ext>
            </a:extLst>
          </p:cNvPr>
          <p:cNvSpPr>
            <a:spLocks noGrp="1"/>
          </p:cNvSpPr>
          <p:nvPr/>
        </p:nvSpPr>
        <p:spPr>
          <a:xfrm>
            <a:off x="40290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E6C3775B-1469-4BC3-B5B7-F674D9BA2C80}"/>
              </a:ext>
            </a:extLst>
          </p:cNvPr>
          <p:cNvSpPr>
            <a:spLocks noGrp="1"/>
          </p:cNvSpPr>
          <p:nvPr/>
        </p:nvSpPr>
        <p:spPr>
          <a:xfrm>
            <a:off x="46291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6B64AF67-E395-49BA-A315-75832B89B239}"/>
              </a:ext>
            </a:extLst>
          </p:cNvPr>
          <p:cNvSpPr>
            <a:spLocks noGrp="1"/>
          </p:cNvSpPr>
          <p:nvPr/>
        </p:nvSpPr>
        <p:spPr>
          <a:xfrm>
            <a:off x="46958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FF69E61A-BF1A-431E-B1D2-30AB065F8457}"/>
              </a:ext>
            </a:extLst>
          </p:cNvPr>
          <p:cNvSpPr>
            <a:spLocks noGrp="1"/>
          </p:cNvSpPr>
          <p:nvPr/>
        </p:nvSpPr>
        <p:spPr>
          <a:xfrm>
            <a:off x="47339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993F2E20-CF5D-4490-8E9E-C80E2D47B062}"/>
              </a:ext>
            </a:extLst>
          </p:cNvPr>
          <p:cNvSpPr>
            <a:spLocks noGrp="1"/>
          </p:cNvSpPr>
          <p:nvPr/>
        </p:nvSpPr>
        <p:spPr>
          <a:xfrm>
            <a:off x="5334000"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82ADBAE5-375C-4801-9415-3F8BEAA407A4}"/>
              </a:ext>
            </a:extLst>
          </p:cNvPr>
          <p:cNvSpPr>
            <a:spLocks noGrp="1"/>
          </p:cNvSpPr>
          <p:nvPr/>
        </p:nvSpPr>
        <p:spPr>
          <a:xfrm>
            <a:off x="5400675"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28" name="Rectangle 27">
            <a:extLst>
              <a:ext uri="{FF2B5EF4-FFF2-40B4-BE49-F238E27FC236}">
                <a16:creationId xmlns:a16="http://schemas.microsoft.com/office/drawing/2014/main" id="{A1DD5B82-5D24-45A4-87EA-845DE6167BC1}"/>
              </a:ext>
            </a:extLst>
          </p:cNvPr>
          <p:cNvSpPr>
            <a:spLocks noGrp="1"/>
          </p:cNvSpPr>
          <p:nvPr/>
        </p:nvSpPr>
        <p:spPr>
          <a:xfrm>
            <a:off x="5438775"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Preflight +</a:t>
            </a:r>
          </a:p>
          <a:p>
            <a:pPr algn="ctr">
              <a:defRPr sz="788" b="1">
                <a:solidFill>
                  <a:srgbClr val="FFFFFF"/>
                </a:solidFill>
                <a:latin typeface="Aptos"/>
                <a:ea typeface="Aptos"/>
                <a:cs typeface="Aptos"/>
              </a:defRPr>
            </a:pPr>
            <a:r>
              <a:rPr sz="788" b="1">
                <a:solidFill>
                  <a:srgbClr val="FFFFFF"/>
                </a:solidFill>
                <a:latin typeface="Aptos"/>
                <a:ea typeface="Aptos"/>
                <a:cs typeface="Aptos"/>
              </a:rPr>
              <a:t>command plan</a:t>
            </a:r>
          </a:p>
        </p:txBody>
      </p:sp>
      <p:sp>
        <p:nvSpPr>
          <p:cNvPr id="29" name="Rectangle 28">
            <a:extLst>
              <a:ext uri="{FF2B5EF4-FFF2-40B4-BE49-F238E27FC236}">
                <a16:creationId xmlns:a16="http://schemas.microsoft.com/office/drawing/2014/main" id="{4340C689-B40A-40D7-8B3D-73942F61C961}"/>
              </a:ext>
            </a:extLst>
          </p:cNvPr>
          <p:cNvSpPr>
            <a:spLocks noGrp="1"/>
          </p:cNvSpPr>
          <p:nvPr/>
        </p:nvSpPr>
        <p:spPr>
          <a:xfrm>
            <a:off x="6400800"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72BF0922-739E-43B5-A1B1-9C7D62CDAEA3}"/>
              </a:ext>
            </a:extLst>
          </p:cNvPr>
          <p:cNvSpPr>
            <a:spLocks noGrp="1"/>
          </p:cNvSpPr>
          <p:nvPr/>
        </p:nvSpPr>
        <p:spPr>
          <a:xfrm>
            <a:off x="6467475"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31" name="Rectangle 30">
            <a:extLst>
              <a:ext uri="{FF2B5EF4-FFF2-40B4-BE49-F238E27FC236}">
                <a16:creationId xmlns:a16="http://schemas.microsoft.com/office/drawing/2014/main" id="{9D90FE23-0682-4FDF-813C-01393A69CB56}"/>
              </a:ext>
            </a:extLst>
          </p:cNvPr>
          <p:cNvSpPr>
            <a:spLocks noGrp="1"/>
          </p:cNvSpPr>
          <p:nvPr/>
        </p:nvSpPr>
        <p:spPr>
          <a:xfrm>
            <a:off x="6505575"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Execution</a:t>
            </a:r>
          </a:p>
          <a:p>
            <a:pPr algn="ctr">
              <a:defRPr sz="788" b="1">
                <a:solidFill>
                  <a:srgbClr val="FFFFFF"/>
                </a:solidFill>
                <a:latin typeface="Aptos"/>
                <a:ea typeface="Aptos"/>
                <a:cs typeface="Aptos"/>
              </a:defRPr>
            </a:pPr>
            <a:r>
              <a:rPr sz="788" b="1">
                <a:solidFill>
                  <a:srgbClr val="FFFFFF"/>
                </a:solidFill>
                <a:latin typeface="Aptos"/>
                <a:ea typeface="Aptos"/>
                <a:cs typeface="Aptos"/>
              </a:rPr>
              <a:t>approved?</a:t>
            </a:r>
          </a:p>
        </p:txBody>
      </p:sp>
      <p:sp>
        <p:nvSpPr>
          <p:cNvPr id="32" name="Rectangle 31">
            <a:extLst>
              <a:ext uri="{FF2B5EF4-FFF2-40B4-BE49-F238E27FC236}">
                <a16:creationId xmlns:a16="http://schemas.microsoft.com/office/drawing/2014/main" id="{127F9D3B-FF3F-4257-A02F-785211DC2A69}"/>
              </a:ext>
            </a:extLst>
          </p:cNvPr>
          <p:cNvSpPr>
            <a:spLocks noGrp="1"/>
          </p:cNvSpPr>
          <p:nvPr/>
        </p:nvSpPr>
        <p:spPr>
          <a:xfrm>
            <a:off x="74676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379BE749-D3B7-443C-9B6E-42AA6EA1DED2}"/>
              </a:ext>
            </a:extLst>
          </p:cNvPr>
          <p:cNvSpPr>
            <a:spLocks noGrp="1"/>
          </p:cNvSpPr>
          <p:nvPr/>
        </p:nvSpPr>
        <p:spPr>
          <a:xfrm>
            <a:off x="753427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69C0D020-7A89-4A41-B7AE-60141835616E}"/>
              </a:ext>
            </a:extLst>
          </p:cNvPr>
          <p:cNvSpPr>
            <a:spLocks noGrp="1"/>
          </p:cNvSpPr>
          <p:nvPr/>
        </p:nvSpPr>
        <p:spPr>
          <a:xfrm>
            <a:off x="75723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E4E7AC5C-F78A-47D4-8A34-327066E11FCC}"/>
              </a:ext>
            </a:extLst>
          </p:cNvPr>
          <p:cNvSpPr>
            <a:spLocks noGrp="1"/>
          </p:cNvSpPr>
          <p:nvPr/>
        </p:nvSpPr>
        <p:spPr>
          <a:xfrm>
            <a:off x="81724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A4B16C0A-FA5B-497E-9335-5BC6BF664CBF}"/>
              </a:ext>
            </a:extLst>
          </p:cNvPr>
          <p:cNvSpPr>
            <a:spLocks noGrp="1"/>
          </p:cNvSpPr>
          <p:nvPr/>
        </p:nvSpPr>
        <p:spPr>
          <a:xfrm>
            <a:off x="82391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1C4D8C8A-3146-4C10-BC2A-660702F74CBE}"/>
              </a:ext>
            </a:extLst>
          </p:cNvPr>
          <p:cNvSpPr>
            <a:spLocks noGrp="1"/>
          </p:cNvSpPr>
          <p:nvPr/>
        </p:nvSpPr>
        <p:spPr>
          <a:xfrm>
            <a:off x="82772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B0CD0C53-C9AC-47C9-87A7-B4C28D091FA6}"/>
              </a:ext>
            </a:extLst>
          </p:cNvPr>
          <p:cNvSpPr>
            <a:spLocks noGrp="1"/>
          </p:cNvSpPr>
          <p:nvPr/>
        </p:nvSpPr>
        <p:spPr>
          <a:xfrm>
            <a:off x="88773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23F66E6C-5ADF-44FE-A002-B56C045A9600}"/>
              </a:ext>
            </a:extLst>
          </p:cNvPr>
          <p:cNvSpPr>
            <a:spLocks noGrp="1"/>
          </p:cNvSpPr>
          <p:nvPr/>
        </p:nvSpPr>
        <p:spPr>
          <a:xfrm>
            <a:off x="894397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6108CF5E-A54D-422B-930E-B43B0E3A9EB0}"/>
              </a:ext>
            </a:extLst>
          </p:cNvPr>
          <p:cNvSpPr>
            <a:spLocks noGrp="1"/>
          </p:cNvSpPr>
          <p:nvPr/>
        </p:nvSpPr>
        <p:spPr>
          <a:xfrm>
            <a:off x="89820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3094ACAC-0381-4F3E-A9DE-99908EF9E595}"/>
              </a:ext>
            </a:extLst>
          </p:cNvPr>
          <p:cNvSpPr>
            <a:spLocks noGrp="1"/>
          </p:cNvSpPr>
          <p:nvPr/>
        </p:nvSpPr>
        <p:spPr>
          <a:xfrm>
            <a:off x="95821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D4411C87-DA9E-4A1E-B6EA-AD9A3A51BB83}"/>
              </a:ext>
            </a:extLst>
          </p:cNvPr>
          <p:cNvSpPr>
            <a:spLocks noGrp="1"/>
          </p:cNvSpPr>
          <p:nvPr/>
        </p:nvSpPr>
        <p:spPr>
          <a:xfrm>
            <a:off x="964882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94D618DE-4B1A-4C14-81FB-0E956A01A84C}"/>
              </a:ext>
            </a:extLst>
          </p:cNvPr>
          <p:cNvSpPr>
            <a:spLocks noGrp="1"/>
          </p:cNvSpPr>
          <p:nvPr/>
        </p:nvSpPr>
        <p:spPr>
          <a:xfrm>
            <a:off x="96869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9467A9A1-8143-4CE1-A85F-63B3ACFC67A7}"/>
              </a:ext>
            </a:extLst>
          </p:cNvPr>
          <p:cNvSpPr>
            <a:spLocks noGrp="1"/>
          </p:cNvSpPr>
          <p:nvPr/>
        </p:nvSpPr>
        <p:spPr>
          <a:xfrm>
            <a:off x="102870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513DFBA6-C8E8-44EB-941F-0667874D2401}"/>
              </a:ext>
            </a:extLst>
          </p:cNvPr>
          <p:cNvSpPr>
            <a:spLocks noGrp="1"/>
          </p:cNvSpPr>
          <p:nvPr/>
        </p:nvSpPr>
        <p:spPr>
          <a:xfrm>
            <a:off x="1035367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D1FDC02D-3FB9-4DD8-834E-FD36BDA0B26F}"/>
              </a:ext>
            </a:extLst>
          </p:cNvPr>
          <p:cNvSpPr>
            <a:spLocks noGrp="1"/>
          </p:cNvSpPr>
          <p:nvPr/>
        </p:nvSpPr>
        <p:spPr>
          <a:xfrm>
            <a:off x="103917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DEE3B659-A60B-4869-BDB8-EBF9C6C3A181}"/>
              </a:ext>
            </a:extLst>
          </p:cNvPr>
          <p:cNvSpPr>
            <a:spLocks noGrp="1"/>
          </p:cNvSpPr>
          <p:nvPr/>
        </p:nvSpPr>
        <p:spPr>
          <a:xfrm>
            <a:off x="5000625"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79DC1D3B-185B-4AE5-A062-DD3B8BED817B}"/>
              </a:ext>
            </a:extLst>
          </p:cNvPr>
          <p:cNvSpPr>
            <a:spLocks noGrp="1"/>
          </p:cNvSpPr>
          <p:nvPr/>
        </p:nvSpPr>
        <p:spPr>
          <a:xfrm>
            <a:off x="5010150" y="2486025"/>
            <a:ext cx="5562600"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CE821D1B-AF20-4D8B-A108-8BF2778AF8AE}"/>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645B0701-7CBA-4A72-9D81-A0DE4A19E7C0}"/>
              </a:ext>
            </a:extLst>
          </p:cNvPr>
          <p:cNvSpPr>
            <a:spLocks noGrp="1"/>
          </p:cNvSpPr>
          <p:nvPr/>
        </p:nvSpPr>
        <p:spPr>
          <a:xfrm>
            <a:off x="5086350"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E04CBE21-71DC-44AA-A189-88528BECC198}"/>
              </a:ext>
            </a:extLst>
          </p:cNvPr>
          <p:cNvSpPr>
            <a:spLocks noGrp="1"/>
          </p:cNvSpPr>
          <p:nvPr/>
        </p:nvSpPr>
        <p:spPr>
          <a:xfrm>
            <a:off x="6953250" y="2343150"/>
            <a:ext cx="19050" cy="314325"/>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F6E1EE55-8C6C-4498-810D-CBBBB1B3C80D}"/>
              </a:ext>
            </a:extLst>
          </p:cNvPr>
          <p:cNvSpPr>
            <a:spLocks noGrp="1"/>
          </p:cNvSpPr>
          <p:nvPr/>
        </p:nvSpPr>
        <p:spPr>
          <a:xfrm>
            <a:off x="6962775" y="2657475"/>
            <a:ext cx="360997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EB4862E4-99BE-467F-AC32-2505B8FECF15}"/>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A6F3C964-145E-4683-8CFF-FD3D20454FBE}"/>
              </a:ext>
            </a:extLst>
          </p:cNvPr>
          <p:cNvSpPr>
            <a:spLocks noGrp="1"/>
          </p:cNvSpPr>
          <p:nvPr/>
        </p:nvSpPr>
        <p:spPr>
          <a:xfrm>
            <a:off x="703897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802E2E1F-AA5E-431A-A7ED-EBBA08ABCE9C}"/>
              </a:ext>
            </a:extLst>
          </p:cNvPr>
          <p:cNvSpPr>
            <a:spLocks noGrp="1"/>
          </p:cNvSpPr>
          <p:nvPr/>
        </p:nvSpPr>
        <p:spPr>
          <a:xfrm>
            <a:off x="9953625"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B20FF47F-F5A4-4103-8CF5-370172DC2D54}"/>
              </a:ext>
            </a:extLst>
          </p:cNvPr>
          <p:cNvSpPr>
            <a:spLocks noGrp="1"/>
          </p:cNvSpPr>
          <p:nvPr/>
        </p:nvSpPr>
        <p:spPr>
          <a:xfrm>
            <a:off x="9963150" y="2828925"/>
            <a:ext cx="609600"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7C676A9C-922A-4BAD-A6E5-C9E0E64E9CDA}"/>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8F6E01FE-905B-4CCC-A3DD-ED67033346BC}"/>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FA25EE6C-E230-4056-9C6C-43A46CD133CD}"/>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7AEC85E3-7F67-44CB-9F37-C026420398C6}"/>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41FB7D08-A390-4A8D-ABF5-7C40FF90A4B4}"/>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BD0F7430-4248-4413-AE0C-8F494C61AFDF}"/>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5B9BD473-3A19-4870-9622-5CC9397EED01}"/>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C8B78B2E-81D3-4A9E-A3ED-A4B13357D1EA}"/>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34FE94E0-B04D-4091-A19C-5F36D62E11D1}"/>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23F681F9-5F08-464C-B18B-06F90BACC87C}"/>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0DEB475C-F679-40C0-B39C-CF9B705D2389}"/>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39F08C1A-5356-4991-9E5F-80CED8B8CFBE}"/>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C774DA01-7CD4-4CE7-878E-52637743C403}"/>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CC3C454E-FF42-47CC-BD48-B96A45BC7E0D}"/>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49B3E8DB-B7DB-475B-B71C-4F574401EC7E}"/>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5C3CF1A1-EB7B-4B2B-B9E7-AC3258DC718D}"/>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6CE7B018-3909-47B5-AEFC-A5450DB2C3AE}"/>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B2EE84F8-28F3-45A5-86AD-071247CE3C21}"/>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113B92C0-7306-41A7-B112-EA783DC6B81D}"/>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5</a:t>
            </a:r>
          </a:p>
        </p:txBody>
      </p:sp>
      <p:sp>
        <p:nvSpPr>
          <p:cNvPr id="76" name="Rectangle 75">
            <a:extLst>
              <a:ext uri="{FF2B5EF4-FFF2-40B4-BE49-F238E27FC236}">
                <a16:creationId xmlns:a16="http://schemas.microsoft.com/office/drawing/2014/main" id="{E788072B-8254-4554-966C-789CA450A9CE}"/>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02F2F96D-AD3E-4F14-AF86-FE1E31A6C0A7}"/>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Preflight and approve execution</a:t>
            </a:r>
          </a:p>
        </p:txBody>
      </p:sp>
      <p:sp>
        <p:nvSpPr>
          <p:cNvPr id="78" name="Rectangle 77">
            <a:extLst>
              <a:ext uri="{FF2B5EF4-FFF2-40B4-BE49-F238E27FC236}">
                <a16:creationId xmlns:a16="http://schemas.microsoft.com/office/drawing/2014/main" id="{169C21DB-35AC-41CD-B2C6-DF430A8A8829}"/>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12675C65-5C30-4678-B65E-80C85CD5D921}"/>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BenchmarkDoctor, BenchmarkAdapter.doctor(), BenchmarkRunPlan, VerificationGate.check_destructive_action()</a:t>
            </a:r>
          </a:p>
        </p:txBody>
      </p:sp>
      <p:sp>
        <p:nvSpPr>
          <p:cNvPr id="80" name="Rectangle 79">
            <a:extLst>
              <a:ext uri="{FF2B5EF4-FFF2-40B4-BE49-F238E27FC236}">
                <a16:creationId xmlns:a16="http://schemas.microsoft.com/office/drawing/2014/main" id="{6E7EE2D6-D54A-4816-89ED-2D3FCDFD0863}"/>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22E07504-3BD8-4D25-8442-7FE2E4ADB709}"/>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ExecutionReadinessStatus, provider/cost policy, command approval</a:t>
            </a:r>
          </a:p>
        </p:txBody>
      </p:sp>
      <p:sp>
        <p:nvSpPr>
          <p:cNvPr id="82" name="Rectangle 81">
            <a:extLst>
              <a:ext uri="{FF2B5EF4-FFF2-40B4-BE49-F238E27FC236}">
                <a16:creationId xmlns:a16="http://schemas.microsoft.com/office/drawing/2014/main" id="{7369B8BD-62DB-4697-BDF3-36F0F241056B}"/>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6CFC03D0-77AF-4562-8B78-1534D5AD9BFB}"/>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execution_readiness.json, benchmark_doctor.json, approved_command_plan.json, command_approval.json</a:t>
            </a:r>
          </a:p>
        </p:txBody>
      </p:sp>
      <p:sp>
        <p:nvSpPr>
          <p:cNvPr id="84" name="Rectangle 83">
            <a:extLst>
              <a:ext uri="{FF2B5EF4-FFF2-40B4-BE49-F238E27FC236}">
                <a16:creationId xmlns:a16="http://schemas.microsoft.com/office/drawing/2014/main" id="{5FEF1D59-E972-4B02-AA62-3506E74783C4}"/>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2C698939-534C-41FD-8581-B1942B03C425}"/>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Dependency/model/API failures affect readiness only; readiness cannot upgrade claim verdict.</a:t>
            </a:r>
          </a:p>
        </p:txBody>
      </p:sp>
      <p:sp>
        <p:nvSpPr>
          <p:cNvPr id="86" name="Rectangle 85">
            <a:extLst>
              <a:ext uri="{FF2B5EF4-FFF2-40B4-BE49-F238E27FC236}">
                <a16:creationId xmlns:a16="http://schemas.microsoft.com/office/drawing/2014/main" id="{43966F62-3179-477F-8FA1-26918213E5CB}"/>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33861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5C8BCEE5-B23C-4ED5-BBD6-568BEA02C9D3}"/>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3027D0A9-7C47-4CCA-91C7-890C4A0D3AA7}"/>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C3B9532-7F22-40C3-82CF-8DD870147650}"/>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5D7C6F99-E0AB-443C-9AFF-F0656D983322}"/>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6</a:t>
            </a:r>
          </a:p>
        </p:txBody>
      </p:sp>
      <p:sp>
        <p:nvSpPr>
          <p:cNvPr id="5" name="Rectangle 4">
            <a:extLst>
              <a:ext uri="{FF2B5EF4-FFF2-40B4-BE49-F238E27FC236}">
                <a16:creationId xmlns:a16="http://schemas.microsoft.com/office/drawing/2014/main" id="{E51D7462-367E-45B1-B7F8-12A7ED660707}"/>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Run benchmark or replay fixture</a:t>
            </a:r>
          </a:p>
        </p:txBody>
      </p:sp>
      <p:sp>
        <p:nvSpPr>
          <p:cNvPr id="6" name="Rectangle 5">
            <a:extLst>
              <a:ext uri="{FF2B5EF4-FFF2-40B4-BE49-F238E27FC236}">
                <a16:creationId xmlns:a16="http://schemas.microsoft.com/office/drawing/2014/main" id="{8D16AE3C-E200-4781-BCD9-346FD6FC3866}"/>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0BC77AAF-1DB1-49C2-9570-58B0633FB5DB}"/>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11</a:t>
            </a:r>
          </a:p>
        </p:txBody>
      </p:sp>
      <p:sp>
        <p:nvSpPr>
          <p:cNvPr id="8" name="Rectangle 7">
            <a:extLst>
              <a:ext uri="{FF2B5EF4-FFF2-40B4-BE49-F238E27FC236}">
                <a16:creationId xmlns:a16="http://schemas.microsoft.com/office/drawing/2014/main" id="{948444A5-4D64-492D-B2F1-3424325617CA}"/>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Produce observed evidence without inventing it.</a:t>
            </a:r>
          </a:p>
        </p:txBody>
      </p:sp>
      <p:sp>
        <p:nvSpPr>
          <p:cNvPr id="9" name="Rectangle 8">
            <a:extLst>
              <a:ext uri="{FF2B5EF4-FFF2-40B4-BE49-F238E27FC236}">
                <a16:creationId xmlns:a16="http://schemas.microsoft.com/office/drawing/2014/main" id="{2BC928A3-CFA2-4EB3-B439-D2BC937018B1}"/>
              </a:ext>
            </a:extLst>
          </p:cNvPr>
          <p:cNvSpPr>
            <a:spLocks noGrp="1"/>
          </p:cNvSpPr>
          <p:nvPr/>
        </p:nvSpPr>
        <p:spPr>
          <a:xfrm>
            <a:off x="13525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7C4ECB39-C969-4B09-9BEA-72B33866E85B}"/>
              </a:ext>
            </a:extLst>
          </p:cNvPr>
          <p:cNvSpPr>
            <a:spLocks noGrp="1"/>
          </p:cNvSpPr>
          <p:nvPr/>
        </p:nvSpPr>
        <p:spPr>
          <a:xfrm>
            <a:off x="13906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C8470DCD-E4F8-4CE9-90D4-1A39B7FC107D}"/>
              </a:ext>
            </a:extLst>
          </p:cNvPr>
          <p:cNvSpPr>
            <a:spLocks noGrp="1"/>
          </p:cNvSpPr>
          <p:nvPr/>
        </p:nvSpPr>
        <p:spPr>
          <a:xfrm>
            <a:off x="19907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5F9F10FD-D0FB-4148-8D9E-07E7C095327B}"/>
              </a:ext>
            </a:extLst>
          </p:cNvPr>
          <p:cNvSpPr>
            <a:spLocks noGrp="1"/>
          </p:cNvSpPr>
          <p:nvPr/>
        </p:nvSpPr>
        <p:spPr>
          <a:xfrm>
            <a:off x="205740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C34521DB-1A88-4B2F-810A-E905D7C1F27D}"/>
              </a:ext>
            </a:extLst>
          </p:cNvPr>
          <p:cNvSpPr>
            <a:spLocks noGrp="1"/>
          </p:cNvSpPr>
          <p:nvPr/>
        </p:nvSpPr>
        <p:spPr>
          <a:xfrm>
            <a:off x="20955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1EF014FC-C044-4F0D-986A-21B6F6D9BF97}"/>
              </a:ext>
            </a:extLst>
          </p:cNvPr>
          <p:cNvSpPr>
            <a:spLocks noGrp="1"/>
          </p:cNvSpPr>
          <p:nvPr/>
        </p:nvSpPr>
        <p:spPr>
          <a:xfrm>
            <a:off x="26955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9BEB74A1-8CDE-42C2-A854-FF504D1B58D5}"/>
              </a:ext>
            </a:extLst>
          </p:cNvPr>
          <p:cNvSpPr>
            <a:spLocks noGrp="1"/>
          </p:cNvSpPr>
          <p:nvPr/>
        </p:nvSpPr>
        <p:spPr>
          <a:xfrm>
            <a:off x="27622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836C7B74-8E54-4C17-B47D-C940975C9341}"/>
              </a:ext>
            </a:extLst>
          </p:cNvPr>
          <p:cNvSpPr>
            <a:spLocks noGrp="1"/>
          </p:cNvSpPr>
          <p:nvPr/>
        </p:nvSpPr>
        <p:spPr>
          <a:xfrm>
            <a:off x="28003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0782F02A-D75C-4544-BEC6-11BED488DE55}"/>
              </a:ext>
            </a:extLst>
          </p:cNvPr>
          <p:cNvSpPr>
            <a:spLocks noGrp="1"/>
          </p:cNvSpPr>
          <p:nvPr/>
        </p:nvSpPr>
        <p:spPr>
          <a:xfrm>
            <a:off x="34004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9A0443B3-3AB3-4451-ABA3-6D4C415360BB}"/>
              </a:ext>
            </a:extLst>
          </p:cNvPr>
          <p:cNvSpPr>
            <a:spLocks noGrp="1"/>
          </p:cNvSpPr>
          <p:nvPr/>
        </p:nvSpPr>
        <p:spPr>
          <a:xfrm>
            <a:off x="34671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3AEEB8CD-C602-4C46-839E-0EC0B419CC57}"/>
              </a:ext>
            </a:extLst>
          </p:cNvPr>
          <p:cNvSpPr>
            <a:spLocks noGrp="1"/>
          </p:cNvSpPr>
          <p:nvPr/>
        </p:nvSpPr>
        <p:spPr>
          <a:xfrm>
            <a:off x="35052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C187D7F4-EF3D-47AD-BE03-9D79441835A1}"/>
              </a:ext>
            </a:extLst>
          </p:cNvPr>
          <p:cNvSpPr>
            <a:spLocks noGrp="1"/>
          </p:cNvSpPr>
          <p:nvPr/>
        </p:nvSpPr>
        <p:spPr>
          <a:xfrm>
            <a:off x="41052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F114AECD-A094-4ADF-827A-58EA45F3DD57}"/>
              </a:ext>
            </a:extLst>
          </p:cNvPr>
          <p:cNvSpPr>
            <a:spLocks noGrp="1"/>
          </p:cNvSpPr>
          <p:nvPr/>
        </p:nvSpPr>
        <p:spPr>
          <a:xfrm>
            <a:off x="41719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24C77D68-6683-46E8-ACD5-DCBF5F4D346F}"/>
              </a:ext>
            </a:extLst>
          </p:cNvPr>
          <p:cNvSpPr>
            <a:spLocks noGrp="1"/>
          </p:cNvSpPr>
          <p:nvPr/>
        </p:nvSpPr>
        <p:spPr>
          <a:xfrm>
            <a:off x="42100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B40844E0-7334-4BBB-BBFC-DCADD4A72350}"/>
              </a:ext>
            </a:extLst>
          </p:cNvPr>
          <p:cNvSpPr>
            <a:spLocks noGrp="1"/>
          </p:cNvSpPr>
          <p:nvPr/>
        </p:nvSpPr>
        <p:spPr>
          <a:xfrm>
            <a:off x="48101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84C7EADA-024A-4B8B-94DE-B31FFBAAE002}"/>
              </a:ext>
            </a:extLst>
          </p:cNvPr>
          <p:cNvSpPr>
            <a:spLocks noGrp="1"/>
          </p:cNvSpPr>
          <p:nvPr/>
        </p:nvSpPr>
        <p:spPr>
          <a:xfrm>
            <a:off x="48768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7EE9B4A1-F641-4EBB-AFCB-EFAC7797D97D}"/>
              </a:ext>
            </a:extLst>
          </p:cNvPr>
          <p:cNvSpPr>
            <a:spLocks noGrp="1"/>
          </p:cNvSpPr>
          <p:nvPr/>
        </p:nvSpPr>
        <p:spPr>
          <a:xfrm>
            <a:off x="49149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73D65360-7F19-49C9-B144-5C3DE4735717}"/>
              </a:ext>
            </a:extLst>
          </p:cNvPr>
          <p:cNvSpPr>
            <a:spLocks noGrp="1"/>
          </p:cNvSpPr>
          <p:nvPr/>
        </p:nvSpPr>
        <p:spPr>
          <a:xfrm>
            <a:off x="55149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1A580441-33A6-456A-8623-B9B6067CCFD2}"/>
              </a:ext>
            </a:extLst>
          </p:cNvPr>
          <p:cNvSpPr>
            <a:spLocks noGrp="1"/>
          </p:cNvSpPr>
          <p:nvPr/>
        </p:nvSpPr>
        <p:spPr>
          <a:xfrm>
            <a:off x="55816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07EDCBE6-9A20-4306-AA74-A875BAFC368B}"/>
              </a:ext>
            </a:extLst>
          </p:cNvPr>
          <p:cNvSpPr>
            <a:spLocks noGrp="1"/>
          </p:cNvSpPr>
          <p:nvPr/>
        </p:nvSpPr>
        <p:spPr>
          <a:xfrm>
            <a:off x="56197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8FF4D53C-2909-4474-A9D7-EF890CD0D9C0}"/>
              </a:ext>
            </a:extLst>
          </p:cNvPr>
          <p:cNvSpPr>
            <a:spLocks noGrp="1"/>
          </p:cNvSpPr>
          <p:nvPr/>
        </p:nvSpPr>
        <p:spPr>
          <a:xfrm>
            <a:off x="62198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63F6B41E-6E7E-42AE-887E-7218FA7014DB}"/>
              </a:ext>
            </a:extLst>
          </p:cNvPr>
          <p:cNvSpPr>
            <a:spLocks noGrp="1"/>
          </p:cNvSpPr>
          <p:nvPr/>
        </p:nvSpPr>
        <p:spPr>
          <a:xfrm>
            <a:off x="62865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DC3D8C9F-B582-4230-966B-FD3D0C6007CA}"/>
              </a:ext>
            </a:extLst>
          </p:cNvPr>
          <p:cNvSpPr>
            <a:spLocks noGrp="1"/>
          </p:cNvSpPr>
          <p:nvPr/>
        </p:nvSpPr>
        <p:spPr>
          <a:xfrm>
            <a:off x="63246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621A109E-5472-4CFB-A297-0771512A7B73}"/>
              </a:ext>
            </a:extLst>
          </p:cNvPr>
          <p:cNvSpPr>
            <a:spLocks noGrp="1"/>
          </p:cNvSpPr>
          <p:nvPr/>
        </p:nvSpPr>
        <p:spPr>
          <a:xfrm>
            <a:off x="6924675"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91FFA46F-C37A-4D69-85C0-6453BD66D037}"/>
              </a:ext>
            </a:extLst>
          </p:cNvPr>
          <p:cNvSpPr>
            <a:spLocks noGrp="1"/>
          </p:cNvSpPr>
          <p:nvPr/>
        </p:nvSpPr>
        <p:spPr>
          <a:xfrm>
            <a:off x="699135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34" name="Rectangle 33">
            <a:extLst>
              <a:ext uri="{FF2B5EF4-FFF2-40B4-BE49-F238E27FC236}">
                <a16:creationId xmlns:a16="http://schemas.microsoft.com/office/drawing/2014/main" id="{58F80A71-6235-46FF-8AA0-19B085F572D6}"/>
              </a:ext>
            </a:extLst>
          </p:cNvPr>
          <p:cNvSpPr>
            <a:spLocks noGrp="1"/>
          </p:cNvSpPr>
          <p:nvPr/>
        </p:nvSpPr>
        <p:spPr>
          <a:xfrm>
            <a:off x="702945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Run/replay</a:t>
            </a:r>
          </a:p>
          <a:p>
            <a:pPr algn="ctr">
              <a:defRPr sz="788" b="1">
                <a:solidFill>
                  <a:srgbClr val="FFFFFF"/>
                </a:solidFill>
                <a:latin typeface="Aptos"/>
                <a:ea typeface="Aptos"/>
                <a:cs typeface="Aptos"/>
              </a:defRPr>
            </a:pPr>
            <a:r>
              <a:rPr sz="788" b="1">
                <a:solidFill>
                  <a:srgbClr val="FFFFFF"/>
                </a:solidFill>
                <a:latin typeface="Aptos"/>
                <a:ea typeface="Aptos"/>
                <a:cs typeface="Aptos"/>
              </a:rPr>
              <a:t>evidence</a:t>
            </a:r>
          </a:p>
        </p:txBody>
      </p:sp>
      <p:sp>
        <p:nvSpPr>
          <p:cNvPr id="35" name="Rectangle 34">
            <a:extLst>
              <a:ext uri="{FF2B5EF4-FFF2-40B4-BE49-F238E27FC236}">
                <a16:creationId xmlns:a16="http://schemas.microsoft.com/office/drawing/2014/main" id="{22967B44-A6E3-48AE-AF76-6E02F4B3497E}"/>
              </a:ext>
            </a:extLst>
          </p:cNvPr>
          <p:cNvSpPr>
            <a:spLocks noGrp="1"/>
          </p:cNvSpPr>
          <p:nvPr/>
        </p:nvSpPr>
        <p:spPr>
          <a:xfrm>
            <a:off x="79914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FE1AEF6F-3319-4353-9E95-E12D33B05662}"/>
              </a:ext>
            </a:extLst>
          </p:cNvPr>
          <p:cNvSpPr>
            <a:spLocks noGrp="1"/>
          </p:cNvSpPr>
          <p:nvPr/>
        </p:nvSpPr>
        <p:spPr>
          <a:xfrm>
            <a:off x="80581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9884EBEC-2F3C-4F80-904C-E879EC99538F}"/>
              </a:ext>
            </a:extLst>
          </p:cNvPr>
          <p:cNvSpPr>
            <a:spLocks noGrp="1"/>
          </p:cNvSpPr>
          <p:nvPr/>
        </p:nvSpPr>
        <p:spPr>
          <a:xfrm>
            <a:off x="80962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1861A5BD-19B1-4998-B0E7-90AB29373D06}"/>
              </a:ext>
            </a:extLst>
          </p:cNvPr>
          <p:cNvSpPr>
            <a:spLocks noGrp="1"/>
          </p:cNvSpPr>
          <p:nvPr/>
        </p:nvSpPr>
        <p:spPr>
          <a:xfrm>
            <a:off x="86963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8216255B-85B0-47D6-8A16-12AF959CD5BD}"/>
              </a:ext>
            </a:extLst>
          </p:cNvPr>
          <p:cNvSpPr>
            <a:spLocks noGrp="1"/>
          </p:cNvSpPr>
          <p:nvPr/>
        </p:nvSpPr>
        <p:spPr>
          <a:xfrm>
            <a:off x="87630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9AA1D94E-2CB9-4218-B5F5-321B92333DB4}"/>
              </a:ext>
            </a:extLst>
          </p:cNvPr>
          <p:cNvSpPr>
            <a:spLocks noGrp="1"/>
          </p:cNvSpPr>
          <p:nvPr/>
        </p:nvSpPr>
        <p:spPr>
          <a:xfrm>
            <a:off x="88011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FAB1AA77-F633-427B-881B-163A15031568}"/>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D46D8C34-C464-4F8A-B7B1-07908C12ACE0}"/>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E09FACF3-2E53-43A6-BBCB-C776B04831A9}"/>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C73E1689-DA51-4F0A-A8D8-4D1B5736474D}"/>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4C98E8B5-C006-4856-A043-97808535555B}"/>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D24669F5-BE68-4166-A44D-F8D206B69623}"/>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31DFD1B4-4BE1-4264-A179-F297D62D5B94}"/>
              </a:ext>
            </a:extLst>
          </p:cNvPr>
          <p:cNvSpPr>
            <a:spLocks noGrp="1"/>
          </p:cNvSpPr>
          <p:nvPr/>
        </p:nvSpPr>
        <p:spPr>
          <a:xfrm>
            <a:off x="518160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1E403FB8-26AC-4C02-92E9-930490B1B2D2}"/>
              </a:ext>
            </a:extLst>
          </p:cNvPr>
          <p:cNvSpPr>
            <a:spLocks noGrp="1"/>
          </p:cNvSpPr>
          <p:nvPr/>
        </p:nvSpPr>
        <p:spPr>
          <a:xfrm>
            <a:off x="5191125" y="2486025"/>
            <a:ext cx="538162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7091EEF6-8B90-4ED4-9E88-FD33350777C1}"/>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4D4C0833-E236-4E11-AA04-506354DBC266}"/>
              </a:ext>
            </a:extLst>
          </p:cNvPr>
          <p:cNvSpPr>
            <a:spLocks noGrp="1"/>
          </p:cNvSpPr>
          <p:nvPr/>
        </p:nvSpPr>
        <p:spPr>
          <a:xfrm>
            <a:off x="526732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28A74BD6-8622-403C-8A10-C251CB4B5A13}"/>
              </a:ext>
            </a:extLst>
          </p:cNvPr>
          <p:cNvSpPr>
            <a:spLocks noGrp="1"/>
          </p:cNvSpPr>
          <p:nvPr/>
        </p:nvSpPr>
        <p:spPr>
          <a:xfrm>
            <a:off x="659130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B178A664-4C83-43BD-9C24-BB7D316D9FD1}"/>
              </a:ext>
            </a:extLst>
          </p:cNvPr>
          <p:cNvSpPr>
            <a:spLocks noGrp="1"/>
          </p:cNvSpPr>
          <p:nvPr/>
        </p:nvSpPr>
        <p:spPr>
          <a:xfrm>
            <a:off x="6600825" y="2657475"/>
            <a:ext cx="397192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CC4F9799-BFE4-40B1-BA54-65ABE5F7A399}"/>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97C6D8E3-179F-4B8B-9887-FD49786E31C1}"/>
              </a:ext>
            </a:extLst>
          </p:cNvPr>
          <p:cNvSpPr>
            <a:spLocks noGrp="1"/>
          </p:cNvSpPr>
          <p:nvPr/>
        </p:nvSpPr>
        <p:spPr>
          <a:xfrm>
            <a:off x="667702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3D1A7F0B-D3DC-4AFB-8E72-D953061F05CC}"/>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E40B4EC3-1DD8-4055-A419-1D9650938CAA}"/>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4CC03EA9-5A41-40BB-BA08-C05EE333DB92}"/>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23D2E767-B0DF-4FCD-9E46-ECC8A11E44A5}"/>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88B4A139-0E20-4922-A20C-7DB443892A69}"/>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4A6C070C-1701-4605-AC14-3DAF8661FC84}"/>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C6F48E8D-993D-431E-BB45-6FFBC93D4343}"/>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06E93CAF-40CC-45C5-8EBC-A0F4B4C69603}"/>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1D22C206-619C-4569-A29F-E874C286CD88}"/>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E65C3166-EF6C-4462-87FF-0D6A35218A0E}"/>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3E3A4A28-57AB-4B32-B5A6-78E7DD487D17}"/>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FB7CA9D5-1EAD-47A9-8DF6-9F06D31B560F}"/>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367AFD01-24F3-462B-B006-B74A2E9EB06C}"/>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03D08525-18BF-4286-A008-9FECBCCEE626}"/>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08038AF9-55BC-49C8-942C-DFACF3A37B2B}"/>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6429F965-675D-4028-B1BD-DBB0DCE7B91E}"/>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90D9E9E2-41D1-43B7-95C5-A23597DAEBF7}"/>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3C9A8206-8BE8-4064-965C-2055B471C223}"/>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6E0B92F8-8D47-4D14-B20C-9F9699832609}"/>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4928DEA8-0855-4FE3-AFAF-1F329181BC49}"/>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FDA326E0-667E-449E-86AC-DCD27A57CB85}"/>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6</a:t>
            </a:r>
          </a:p>
        </p:txBody>
      </p:sp>
      <p:sp>
        <p:nvSpPr>
          <p:cNvPr id="76" name="Rectangle 75">
            <a:extLst>
              <a:ext uri="{FF2B5EF4-FFF2-40B4-BE49-F238E27FC236}">
                <a16:creationId xmlns:a16="http://schemas.microsoft.com/office/drawing/2014/main" id="{9D53B1CB-992F-4569-A3D1-8936235B0E0E}"/>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F39454E7-3C63-4E1C-ABC6-5FA293295ABB}"/>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Run benchmark or replay fixture</a:t>
            </a:r>
          </a:p>
        </p:txBody>
      </p:sp>
      <p:sp>
        <p:nvSpPr>
          <p:cNvPr id="78" name="Rectangle 77">
            <a:extLst>
              <a:ext uri="{FF2B5EF4-FFF2-40B4-BE49-F238E27FC236}">
                <a16:creationId xmlns:a16="http://schemas.microsoft.com/office/drawing/2014/main" id="{69033E86-0F40-4BE2-83E7-CA3453645816}"/>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A6D5273A-FFF7-4D37-9CE9-AADED2E54A1A}"/>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BenchmarkRunner, BenchmarkAdapter.run(), BenchmarkRunResult, existing physical operators</a:t>
            </a:r>
          </a:p>
        </p:txBody>
      </p:sp>
      <p:sp>
        <p:nvSpPr>
          <p:cNvPr id="80" name="Rectangle 79">
            <a:extLst>
              <a:ext uri="{FF2B5EF4-FFF2-40B4-BE49-F238E27FC236}">
                <a16:creationId xmlns:a16="http://schemas.microsoft.com/office/drawing/2014/main" id="{60EFACC8-B0F5-4BC6-828A-C3250CADC550}"/>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5A6E9707-FC12-4FAF-93AB-492FA5CE56F1}"/>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AI4Research-B adapter/replay runner; optional real benchmark adapter</a:t>
            </a:r>
          </a:p>
        </p:txBody>
      </p:sp>
      <p:sp>
        <p:nvSpPr>
          <p:cNvPr id="82" name="Rectangle 81">
            <a:extLst>
              <a:ext uri="{FF2B5EF4-FFF2-40B4-BE49-F238E27FC236}">
                <a16:creationId xmlns:a16="http://schemas.microsoft.com/office/drawing/2014/main" id="{0817CF64-AAE2-4922-9F93-49ED8FF89626}"/>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7B7A3AAA-0AE0-4F95-AE67-D0FB0B22B094}"/>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benchmark_run_result.json, stdout/stderr, raw artifacts</a:t>
            </a:r>
          </a:p>
        </p:txBody>
      </p:sp>
      <p:sp>
        <p:nvSpPr>
          <p:cNvPr id="84" name="Rectangle 83">
            <a:extLst>
              <a:ext uri="{FF2B5EF4-FFF2-40B4-BE49-F238E27FC236}">
                <a16:creationId xmlns:a16="http://schemas.microsoft.com/office/drawing/2014/main" id="{0AC7F091-CABA-43DD-8E92-A3434DE20344}"/>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3F38DF54-46A7-475C-A5CF-E5BF6B6FEA70}"/>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Preserve failed logs. Provider/API failures are readiness blockers; negative results stay not_reproduced.</a:t>
            </a:r>
          </a:p>
        </p:txBody>
      </p:sp>
      <p:sp>
        <p:nvSpPr>
          <p:cNvPr id="86" name="Rectangle 85">
            <a:extLst>
              <a:ext uri="{FF2B5EF4-FFF2-40B4-BE49-F238E27FC236}">
                <a16:creationId xmlns:a16="http://schemas.microsoft.com/office/drawing/2014/main" id="{2E8F4C22-AAE8-4208-8DBA-EEF40226D901}"/>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2010857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7C0913D9-7485-4792-B2F7-F8EBD969B26F}"/>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26992E2-6FE4-4EF0-B8FA-ED08D0F7D172}"/>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2E79B8A-9880-4059-8552-5D0F378CBFCB}"/>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56C6CB5D-49BD-4C30-9139-261A887A2AFF}"/>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7</a:t>
            </a:r>
          </a:p>
        </p:txBody>
      </p:sp>
      <p:sp>
        <p:nvSpPr>
          <p:cNvPr id="5" name="Rectangle 4">
            <a:extLst>
              <a:ext uri="{FF2B5EF4-FFF2-40B4-BE49-F238E27FC236}">
                <a16:creationId xmlns:a16="http://schemas.microsoft.com/office/drawing/2014/main" id="{CB17FF6D-7553-4E6A-B91E-83212A8A5238}"/>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Parse metrics and map evidence</a:t>
            </a:r>
          </a:p>
        </p:txBody>
      </p:sp>
      <p:sp>
        <p:nvSpPr>
          <p:cNvPr id="6" name="Rectangle 5">
            <a:extLst>
              <a:ext uri="{FF2B5EF4-FFF2-40B4-BE49-F238E27FC236}">
                <a16:creationId xmlns:a16="http://schemas.microsoft.com/office/drawing/2014/main" id="{11FDE0E7-EEA9-4705-AB9E-5E2D5B899E10}"/>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D7F7EE10-BA48-4D28-9CE8-199CD3439504}"/>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12</a:t>
            </a:r>
          </a:p>
        </p:txBody>
      </p:sp>
      <p:sp>
        <p:nvSpPr>
          <p:cNvPr id="8" name="Rectangle 7">
            <a:extLst>
              <a:ext uri="{FF2B5EF4-FFF2-40B4-BE49-F238E27FC236}">
                <a16:creationId xmlns:a16="http://schemas.microsoft.com/office/drawing/2014/main" id="{6B13BEC2-44E3-42DE-8025-94A9BE234A91}"/>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Convert raw run artifacts into claim-linked evidence.</a:t>
            </a:r>
          </a:p>
        </p:txBody>
      </p:sp>
      <p:sp>
        <p:nvSpPr>
          <p:cNvPr id="9" name="Rectangle 8">
            <a:extLst>
              <a:ext uri="{FF2B5EF4-FFF2-40B4-BE49-F238E27FC236}">
                <a16:creationId xmlns:a16="http://schemas.microsoft.com/office/drawing/2014/main" id="{AF957113-D571-44DD-877B-6EFF2BC55217}"/>
              </a:ext>
            </a:extLst>
          </p:cNvPr>
          <p:cNvSpPr>
            <a:spLocks noGrp="1"/>
          </p:cNvSpPr>
          <p:nvPr/>
        </p:nvSpPr>
        <p:spPr>
          <a:xfrm>
            <a:off x="13525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E3069944-80C4-4FF6-87BC-D7D600CA7B6D}"/>
              </a:ext>
            </a:extLst>
          </p:cNvPr>
          <p:cNvSpPr>
            <a:spLocks noGrp="1"/>
          </p:cNvSpPr>
          <p:nvPr/>
        </p:nvSpPr>
        <p:spPr>
          <a:xfrm>
            <a:off x="13906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D72371AD-2602-4FEE-AEA8-901BA6ADA76B}"/>
              </a:ext>
            </a:extLst>
          </p:cNvPr>
          <p:cNvSpPr>
            <a:spLocks noGrp="1"/>
          </p:cNvSpPr>
          <p:nvPr/>
        </p:nvSpPr>
        <p:spPr>
          <a:xfrm>
            <a:off x="19907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A562942C-3492-42EC-AAA7-B1C68AF953AF}"/>
              </a:ext>
            </a:extLst>
          </p:cNvPr>
          <p:cNvSpPr>
            <a:spLocks noGrp="1"/>
          </p:cNvSpPr>
          <p:nvPr/>
        </p:nvSpPr>
        <p:spPr>
          <a:xfrm>
            <a:off x="205740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CA56D5BE-74FF-408B-9C40-D25C3A5ABB24}"/>
              </a:ext>
            </a:extLst>
          </p:cNvPr>
          <p:cNvSpPr>
            <a:spLocks noGrp="1"/>
          </p:cNvSpPr>
          <p:nvPr/>
        </p:nvSpPr>
        <p:spPr>
          <a:xfrm>
            <a:off x="20955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4FBD703A-8166-4F98-AC00-1CB420CC8CBC}"/>
              </a:ext>
            </a:extLst>
          </p:cNvPr>
          <p:cNvSpPr>
            <a:spLocks noGrp="1"/>
          </p:cNvSpPr>
          <p:nvPr/>
        </p:nvSpPr>
        <p:spPr>
          <a:xfrm>
            <a:off x="26955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834BC421-ECA9-42D2-98D0-6350E9D0362D}"/>
              </a:ext>
            </a:extLst>
          </p:cNvPr>
          <p:cNvSpPr>
            <a:spLocks noGrp="1"/>
          </p:cNvSpPr>
          <p:nvPr/>
        </p:nvSpPr>
        <p:spPr>
          <a:xfrm>
            <a:off x="27622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23DE64CE-6F5E-4144-9745-8E69104D958B}"/>
              </a:ext>
            </a:extLst>
          </p:cNvPr>
          <p:cNvSpPr>
            <a:spLocks noGrp="1"/>
          </p:cNvSpPr>
          <p:nvPr/>
        </p:nvSpPr>
        <p:spPr>
          <a:xfrm>
            <a:off x="28003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49D6AE86-F6CB-439A-BE72-485A1F2BD853}"/>
              </a:ext>
            </a:extLst>
          </p:cNvPr>
          <p:cNvSpPr>
            <a:spLocks noGrp="1"/>
          </p:cNvSpPr>
          <p:nvPr/>
        </p:nvSpPr>
        <p:spPr>
          <a:xfrm>
            <a:off x="34004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A051C960-3C83-4A82-9F71-F24BD607629E}"/>
              </a:ext>
            </a:extLst>
          </p:cNvPr>
          <p:cNvSpPr>
            <a:spLocks noGrp="1"/>
          </p:cNvSpPr>
          <p:nvPr/>
        </p:nvSpPr>
        <p:spPr>
          <a:xfrm>
            <a:off x="34671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AB5652BD-84C8-4C4C-B024-3D736BA9CBD6}"/>
              </a:ext>
            </a:extLst>
          </p:cNvPr>
          <p:cNvSpPr>
            <a:spLocks noGrp="1"/>
          </p:cNvSpPr>
          <p:nvPr/>
        </p:nvSpPr>
        <p:spPr>
          <a:xfrm>
            <a:off x="35052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C2740702-379D-4000-AF4C-BAE444C4C8A3}"/>
              </a:ext>
            </a:extLst>
          </p:cNvPr>
          <p:cNvSpPr>
            <a:spLocks noGrp="1"/>
          </p:cNvSpPr>
          <p:nvPr/>
        </p:nvSpPr>
        <p:spPr>
          <a:xfrm>
            <a:off x="41052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E825C674-A17F-43D1-98C2-8A03732E3903}"/>
              </a:ext>
            </a:extLst>
          </p:cNvPr>
          <p:cNvSpPr>
            <a:spLocks noGrp="1"/>
          </p:cNvSpPr>
          <p:nvPr/>
        </p:nvSpPr>
        <p:spPr>
          <a:xfrm>
            <a:off x="41719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FACB67EA-5E76-4CF6-879F-4AB81920DDA5}"/>
              </a:ext>
            </a:extLst>
          </p:cNvPr>
          <p:cNvSpPr>
            <a:spLocks noGrp="1"/>
          </p:cNvSpPr>
          <p:nvPr/>
        </p:nvSpPr>
        <p:spPr>
          <a:xfrm>
            <a:off x="42100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EC864155-FEA9-4A33-AF15-F0E5FE17518B}"/>
              </a:ext>
            </a:extLst>
          </p:cNvPr>
          <p:cNvSpPr>
            <a:spLocks noGrp="1"/>
          </p:cNvSpPr>
          <p:nvPr/>
        </p:nvSpPr>
        <p:spPr>
          <a:xfrm>
            <a:off x="48101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928C25E8-49C9-4D43-8686-37479A2B10F0}"/>
              </a:ext>
            </a:extLst>
          </p:cNvPr>
          <p:cNvSpPr>
            <a:spLocks noGrp="1"/>
          </p:cNvSpPr>
          <p:nvPr/>
        </p:nvSpPr>
        <p:spPr>
          <a:xfrm>
            <a:off x="48768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D20C0348-66CC-4BBF-B5EC-9C5CDC08D1FA}"/>
              </a:ext>
            </a:extLst>
          </p:cNvPr>
          <p:cNvSpPr>
            <a:spLocks noGrp="1"/>
          </p:cNvSpPr>
          <p:nvPr/>
        </p:nvSpPr>
        <p:spPr>
          <a:xfrm>
            <a:off x="49149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A53BD872-9908-471B-9C43-9D4014B92846}"/>
              </a:ext>
            </a:extLst>
          </p:cNvPr>
          <p:cNvSpPr>
            <a:spLocks noGrp="1"/>
          </p:cNvSpPr>
          <p:nvPr/>
        </p:nvSpPr>
        <p:spPr>
          <a:xfrm>
            <a:off x="55149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9F62ED66-19C6-4BB4-8706-76ABCAE9E81A}"/>
              </a:ext>
            </a:extLst>
          </p:cNvPr>
          <p:cNvSpPr>
            <a:spLocks noGrp="1"/>
          </p:cNvSpPr>
          <p:nvPr/>
        </p:nvSpPr>
        <p:spPr>
          <a:xfrm>
            <a:off x="55816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651A7720-7D62-455C-88F8-07FFA39BDEEA}"/>
              </a:ext>
            </a:extLst>
          </p:cNvPr>
          <p:cNvSpPr>
            <a:spLocks noGrp="1"/>
          </p:cNvSpPr>
          <p:nvPr/>
        </p:nvSpPr>
        <p:spPr>
          <a:xfrm>
            <a:off x="56197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8C121B2D-F915-433B-A455-17EACE6E685B}"/>
              </a:ext>
            </a:extLst>
          </p:cNvPr>
          <p:cNvSpPr>
            <a:spLocks noGrp="1"/>
          </p:cNvSpPr>
          <p:nvPr/>
        </p:nvSpPr>
        <p:spPr>
          <a:xfrm>
            <a:off x="62198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275B84AD-A25E-453A-946F-C073C5C315E0}"/>
              </a:ext>
            </a:extLst>
          </p:cNvPr>
          <p:cNvSpPr>
            <a:spLocks noGrp="1"/>
          </p:cNvSpPr>
          <p:nvPr/>
        </p:nvSpPr>
        <p:spPr>
          <a:xfrm>
            <a:off x="62865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6645A4D7-4A1D-43C8-8838-821B3FF3E1C4}"/>
              </a:ext>
            </a:extLst>
          </p:cNvPr>
          <p:cNvSpPr>
            <a:spLocks noGrp="1"/>
          </p:cNvSpPr>
          <p:nvPr/>
        </p:nvSpPr>
        <p:spPr>
          <a:xfrm>
            <a:off x="63246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C98E5C3B-0A75-4546-8071-4579E1477D85}"/>
              </a:ext>
            </a:extLst>
          </p:cNvPr>
          <p:cNvSpPr>
            <a:spLocks noGrp="1"/>
          </p:cNvSpPr>
          <p:nvPr/>
        </p:nvSpPr>
        <p:spPr>
          <a:xfrm>
            <a:off x="69246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BA5EB47C-588D-45F5-8635-41F3C796A6BC}"/>
              </a:ext>
            </a:extLst>
          </p:cNvPr>
          <p:cNvSpPr>
            <a:spLocks noGrp="1"/>
          </p:cNvSpPr>
          <p:nvPr/>
        </p:nvSpPr>
        <p:spPr>
          <a:xfrm>
            <a:off x="69913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AD29C9DE-FF3F-4057-8E9D-E4B77CCD4FC3}"/>
              </a:ext>
            </a:extLst>
          </p:cNvPr>
          <p:cNvSpPr>
            <a:spLocks noGrp="1"/>
          </p:cNvSpPr>
          <p:nvPr/>
        </p:nvSpPr>
        <p:spPr>
          <a:xfrm>
            <a:off x="70294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797FB73A-E1CA-48D6-8840-D3BF932C9AA1}"/>
              </a:ext>
            </a:extLst>
          </p:cNvPr>
          <p:cNvSpPr>
            <a:spLocks noGrp="1"/>
          </p:cNvSpPr>
          <p:nvPr/>
        </p:nvSpPr>
        <p:spPr>
          <a:xfrm>
            <a:off x="7629525"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B72A12E2-2E92-471D-9748-54A7F77A9D50}"/>
              </a:ext>
            </a:extLst>
          </p:cNvPr>
          <p:cNvSpPr>
            <a:spLocks noGrp="1"/>
          </p:cNvSpPr>
          <p:nvPr/>
        </p:nvSpPr>
        <p:spPr>
          <a:xfrm>
            <a:off x="769620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37" name="Rectangle 36">
            <a:extLst>
              <a:ext uri="{FF2B5EF4-FFF2-40B4-BE49-F238E27FC236}">
                <a16:creationId xmlns:a16="http://schemas.microsoft.com/office/drawing/2014/main" id="{3030C2D1-7A91-4159-98E0-254AC4A6E72F}"/>
              </a:ext>
            </a:extLst>
          </p:cNvPr>
          <p:cNvSpPr>
            <a:spLocks noGrp="1"/>
          </p:cNvSpPr>
          <p:nvPr/>
        </p:nvSpPr>
        <p:spPr>
          <a:xfrm>
            <a:off x="773430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Parse + map</a:t>
            </a:r>
          </a:p>
          <a:p>
            <a:pPr algn="ctr">
              <a:defRPr sz="788" b="1">
                <a:solidFill>
                  <a:srgbClr val="FFFFFF"/>
                </a:solidFill>
                <a:latin typeface="Aptos"/>
                <a:ea typeface="Aptos"/>
                <a:cs typeface="Aptos"/>
              </a:defRPr>
            </a:pPr>
            <a:r>
              <a:rPr sz="788" b="1">
                <a:solidFill>
                  <a:srgbClr val="FFFFFF"/>
                </a:solidFill>
                <a:latin typeface="Aptos"/>
                <a:ea typeface="Aptos"/>
                <a:cs typeface="Aptos"/>
              </a:rPr>
              <a:t>evidence</a:t>
            </a:r>
          </a:p>
        </p:txBody>
      </p:sp>
      <p:sp>
        <p:nvSpPr>
          <p:cNvPr id="38" name="Rectangle 37">
            <a:extLst>
              <a:ext uri="{FF2B5EF4-FFF2-40B4-BE49-F238E27FC236}">
                <a16:creationId xmlns:a16="http://schemas.microsoft.com/office/drawing/2014/main" id="{B878E16F-024A-492D-A448-3446379A29FE}"/>
              </a:ext>
            </a:extLst>
          </p:cNvPr>
          <p:cNvSpPr>
            <a:spLocks noGrp="1"/>
          </p:cNvSpPr>
          <p:nvPr/>
        </p:nvSpPr>
        <p:spPr>
          <a:xfrm>
            <a:off x="86963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513A3398-0B95-40F3-A7F5-C9B4C05F95C4}"/>
              </a:ext>
            </a:extLst>
          </p:cNvPr>
          <p:cNvSpPr>
            <a:spLocks noGrp="1"/>
          </p:cNvSpPr>
          <p:nvPr/>
        </p:nvSpPr>
        <p:spPr>
          <a:xfrm>
            <a:off x="87630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67F8BAA2-3DFA-4D54-BBF2-B21CC1B3441D}"/>
              </a:ext>
            </a:extLst>
          </p:cNvPr>
          <p:cNvSpPr>
            <a:spLocks noGrp="1"/>
          </p:cNvSpPr>
          <p:nvPr/>
        </p:nvSpPr>
        <p:spPr>
          <a:xfrm>
            <a:off x="88011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D4F325B5-F2F8-42B9-A5E4-87CCDD5DB9E0}"/>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B6B9CAEF-3C4E-447C-9AF2-A5253F2D2188}"/>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D6368915-5B40-43C8-9C79-8EBED085DD69}"/>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14C8252A-BB46-4F3E-8094-FC56A8F4F646}"/>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72C3575F-40AB-4D5F-BC6B-4DAE564CAB07}"/>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32FC2663-17F4-4518-9368-D08B81005EB7}"/>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C3B93E10-0EAE-4613-8BA8-11D6E91229EA}"/>
              </a:ext>
            </a:extLst>
          </p:cNvPr>
          <p:cNvSpPr>
            <a:spLocks noGrp="1"/>
          </p:cNvSpPr>
          <p:nvPr/>
        </p:nvSpPr>
        <p:spPr>
          <a:xfrm>
            <a:off x="518160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07EF5D38-3E5D-4B9E-A142-6069B66A629D}"/>
              </a:ext>
            </a:extLst>
          </p:cNvPr>
          <p:cNvSpPr>
            <a:spLocks noGrp="1"/>
          </p:cNvSpPr>
          <p:nvPr/>
        </p:nvSpPr>
        <p:spPr>
          <a:xfrm>
            <a:off x="5191125" y="2486025"/>
            <a:ext cx="538162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5206BF5B-DECB-4D31-913D-BAC4D390788C}"/>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6C8D5174-A426-400C-9977-13241309A20F}"/>
              </a:ext>
            </a:extLst>
          </p:cNvPr>
          <p:cNvSpPr>
            <a:spLocks noGrp="1"/>
          </p:cNvSpPr>
          <p:nvPr/>
        </p:nvSpPr>
        <p:spPr>
          <a:xfrm>
            <a:off x="526732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69B632BB-5225-45CB-9EE0-763B39C004F7}"/>
              </a:ext>
            </a:extLst>
          </p:cNvPr>
          <p:cNvSpPr>
            <a:spLocks noGrp="1"/>
          </p:cNvSpPr>
          <p:nvPr/>
        </p:nvSpPr>
        <p:spPr>
          <a:xfrm>
            <a:off x="659130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23391919-CA8F-4232-80D5-1D1D6C3C4433}"/>
              </a:ext>
            </a:extLst>
          </p:cNvPr>
          <p:cNvSpPr>
            <a:spLocks noGrp="1"/>
          </p:cNvSpPr>
          <p:nvPr/>
        </p:nvSpPr>
        <p:spPr>
          <a:xfrm>
            <a:off x="6600825" y="2657475"/>
            <a:ext cx="397192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544F0D5B-6572-4344-AB56-8EB02FFFD9DF}"/>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7E27CE0D-E4E5-4207-8EF4-9AAA34995F00}"/>
              </a:ext>
            </a:extLst>
          </p:cNvPr>
          <p:cNvSpPr>
            <a:spLocks noGrp="1"/>
          </p:cNvSpPr>
          <p:nvPr/>
        </p:nvSpPr>
        <p:spPr>
          <a:xfrm>
            <a:off x="667702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456B87AF-14D7-4A55-BB58-1738D5D197BA}"/>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421E01E9-D7A0-4774-A5AD-37F69DECFA6D}"/>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8B4BA72F-D074-4CEB-A1A2-AB8F0526AAD8}"/>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EFA3144B-3400-488F-984A-C6F802DE23DD}"/>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FD0D8D8C-8C00-4412-856C-504E9E65EB21}"/>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263B9A19-F4E7-4704-AB81-99D0A9B6AEBD}"/>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7D98133E-A286-4106-AC03-D4D78B6C42A3}"/>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AC810FBB-BE39-48C0-9695-20D7564EC7BE}"/>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27894B21-E3AA-4D03-BCAF-5EE6435602F2}"/>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115D48C3-5F3D-4031-9424-73C564210C20}"/>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8AD773ED-8A08-45FA-AC11-171B2E239A99}"/>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6F322C3E-A444-46DE-B3EA-B141C6A11273}"/>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75A45FF1-FF12-4955-8B90-28C0AD2F208F}"/>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8ED65A52-DAE9-42EC-96E9-1C4090508F37}"/>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53CE28E9-4828-4005-AB9C-8E38222EB5E3}"/>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DC91936A-BE75-46C9-AC5B-2105199E85C9}"/>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8362BB69-A979-4FD8-B3A1-82056A88A49D}"/>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2ABC07D4-3FFF-4C0C-AC1F-59C747EDEE1A}"/>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4E59F3F2-73B6-40D7-A65D-221AB75421D6}"/>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C6CAFB85-502B-4031-B087-70EC831CCE08}"/>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2E480DE9-A896-438C-855D-9E548B47AD55}"/>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7</a:t>
            </a:r>
          </a:p>
        </p:txBody>
      </p:sp>
      <p:sp>
        <p:nvSpPr>
          <p:cNvPr id="76" name="Rectangle 75">
            <a:extLst>
              <a:ext uri="{FF2B5EF4-FFF2-40B4-BE49-F238E27FC236}">
                <a16:creationId xmlns:a16="http://schemas.microsoft.com/office/drawing/2014/main" id="{E435E136-A678-472D-BA94-DD1CC5979D0A}"/>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4B712793-25A0-4630-8FC0-333A4B14D27D}"/>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Parse metrics and map evidence</a:t>
            </a:r>
          </a:p>
        </p:txBody>
      </p:sp>
      <p:sp>
        <p:nvSpPr>
          <p:cNvPr id="78" name="Rectangle 77">
            <a:extLst>
              <a:ext uri="{FF2B5EF4-FFF2-40B4-BE49-F238E27FC236}">
                <a16:creationId xmlns:a16="http://schemas.microsoft.com/office/drawing/2014/main" id="{B12F7582-2B50-496A-B7C1-E69D40BF1EBF}"/>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73BFDEA3-E8F3-4E97-9FED-ED2B63B34E92}"/>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BenchmarkAdapter.parse_result(), BenchmarkRunResult.artifacts, EvidenceItem, ClaimEvidenceLink</a:t>
            </a:r>
          </a:p>
        </p:txBody>
      </p:sp>
      <p:sp>
        <p:nvSpPr>
          <p:cNvPr id="80" name="Rectangle 79">
            <a:extLst>
              <a:ext uri="{FF2B5EF4-FFF2-40B4-BE49-F238E27FC236}">
                <a16:creationId xmlns:a16="http://schemas.microsoft.com/office/drawing/2014/main" id="{E9A03AEB-03FF-4070-8808-288C17044EB6}"/>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B1678C3A-66AD-4416-8607-C8699A1E0DEF}"/>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ObservedMetric, Phase0RunManifest, Phase0EvidenceMap</a:t>
            </a:r>
          </a:p>
        </p:txBody>
      </p:sp>
      <p:sp>
        <p:nvSpPr>
          <p:cNvPr id="82" name="Rectangle 81">
            <a:extLst>
              <a:ext uri="{FF2B5EF4-FFF2-40B4-BE49-F238E27FC236}">
                <a16:creationId xmlns:a16="http://schemas.microsoft.com/office/drawing/2014/main" id="{43B07F29-AA17-4BEE-9D27-060F42B63732}"/>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6AE5756D-BA4B-4945-9E4A-32FC86573AE9}"/>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parsed_observed_results.json, run_manifest.json, evidence_map.json</a:t>
            </a:r>
          </a:p>
        </p:txBody>
      </p:sp>
      <p:sp>
        <p:nvSpPr>
          <p:cNvPr id="84" name="Rectangle 83">
            <a:extLst>
              <a:ext uri="{FF2B5EF4-FFF2-40B4-BE49-F238E27FC236}">
                <a16:creationId xmlns:a16="http://schemas.microsoft.com/office/drawing/2014/main" id="{013E0701-9245-4E49-AE08-9B85A4FFED0E}"/>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1C263218-6018-45ED-90CF-7F0DA8C59CFE}"/>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Low-confidence metrics or broken evidence links block comparison.</a:t>
            </a:r>
          </a:p>
        </p:txBody>
      </p:sp>
      <p:sp>
        <p:nvSpPr>
          <p:cNvPr id="86" name="Rectangle 85">
            <a:extLst>
              <a:ext uri="{FF2B5EF4-FFF2-40B4-BE49-F238E27FC236}">
                <a16:creationId xmlns:a16="http://schemas.microsoft.com/office/drawing/2014/main" id="{95259847-6765-4195-A376-82200DD1262A}"/>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282009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1B3450DF-0AB6-4266-9E08-16D4D71C3BB4}"/>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16A3353-3D9B-4760-82F5-EDEAF5638A08}"/>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C24E554-FEEB-4A5E-9830-821F41273F99}"/>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7ADF6F6D-11E8-4166-B958-483006405B7D}"/>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8</a:t>
            </a:r>
          </a:p>
        </p:txBody>
      </p:sp>
      <p:sp>
        <p:nvSpPr>
          <p:cNvPr id="5" name="Rectangle 4">
            <a:extLst>
              <a:ext uri="{FF2B5EF4-FFF2-40B4-BE49-F238E27FC236}">
                <a16:creationId xmlns:a16="http://schemas.microsoft.com/office/drawing/2014/main" id="{1FB168A3-48EC-4E8C-AF94-E3DFEA8D847E}"/>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Compare claim vs observation</a:t>
            </a:r>
          </a:p>
        </p:txBody>
      </p:sp>
      <p:sp>
        <p:nvSpPr>
          <p:cNvPr id="6" name="Rectangle 5">
            <a:extLst>
              <a:ext uri="{FF2B5EF4-FFF2-40B4-BE49-F238E27FC236}">
                <a16:creationId xmlns:a16="http://schemas.microsoft.com/office/drawing/2014/main" id="{F85239B4-4510-4644-83ED-0253AB344911}"/>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D5C2D8AB-C867-40CE-AE50-AB248BF6B5A0}"/>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13</a:t>
            </a:r>
          </a:p>
        </p:txBody>
      </p:sp>
      <p:sp>
        <p:nvSpPr>
          <p:cNvPr id="8" name="Rectangle 7">
            <a:extLst>
              <a:ext uri="{FF2B5EF4-FFF2-40B4-BE49-F238E27FC236}">
                <a16:creationId xmlns:a16="http://schemas.microsoft.com/office/drawing/2014/main" id="{C13860A9-220A-44E4-94CB-22896EE9B3A5}"/>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Assign verdicts only from evidence.</a:t>
            </a:r>
          </a:p>
        </p:txBody>
      </p:sp>
      <p:sp>
        <p:nvSpPr>
          <p:cNvPr id="9" name="Rectangle 8">
            <a:extLst>
              <a:ext uri="{FF2B5EF4-FFF2-40B4-BE49-F238E27FC236}">
                <a16:creationId xmlns:a16="http://schemas.microsoft.com/office/drawing/2014/main" id="{127F6860-56F4-4427-9511-972BAAD942CD}"/>
              </a:ext>
            </a:extLst>
          </p:cNvPr>
          <p:cNvSpPr>
            <a:spLocks noGrp="1"/>
          </p:cNvSpPr>
          <p:nvPr/>
        </p:nvSpPr>
        <p:spPr>
          <a:xfrm>
            <a:off x="135255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5F0AEEF8-9C98-4D4C-BF3C-717C41A23810}"/>
              </a:ext>
            </a:extLst>
          </p:cNvPr>
          <p:cNvSpPr>
            <a:spLocks noGrp="1"/>
          </p:cNvSpPr>
          <p:nvPr/>
        </p:nvSpPr>
        <p:spPr>
          <a:xfrm>
            <a:off x="13906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901101CD-DD7C-49B9-9130-6692F03C18AE}"/>
              </a:ext>
            </a:extLst>
          </p:cNvPr>
          <p:cNvSpPr>
            <a:spLocks noGrp="1"/>
          </p:cNvSpPr>
          <p:nvPr/>
        </p:nvSpPr>
        <p:spPr>
          <a:xfrm>
            <a:off x="19907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A9AEA5EE-C5E0-4DF0-8969-8D5AEFDBE3F7}"/>
              </a:ext>
            </a:extLst>
          </p:cNvPr>
          <p:cNvSpPr>
            <a:spLocks noGrp="1"/>
          </p:cNvSpPr>
          <p:nvPr/>
        </p:nvSpPr>
        <p:spPr>
          <a:xfrm>
            <a:off x="2057400"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E1DA5250-039B-4E88-B382-69581D5E780E}"/>
              </a:ext>
            </a:extLst>
          </p:cNvPr>
          <p:cNvSpPr>
            <a:spLocks noGrp="1"/>
          </p:cNvSpPr>
          <p:nvPr/>
        </p:nvSpPr>
        <p:spPr>
          <a:xfrm>
            <a:off x="20955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94A8D9D3-AACB-404F-B693-5C0AA6865690}"/>
              </a:ext>
            </a:extLst>
          </p:cNvPr>
          <p:cNvSpPr>
            <a:spLocks noGrp="1"/>
          </p:cNvSpPr>
          <p:nvPr/>
        </p:nvSpPr>
        <p:spPr>
          <a:xfrm>
            <a:off x="26955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91F9D569-032A-4AE5-9345-D72F8C8FB47F}"/>
              </a:ext>
            </a:extLst>
          </p:cNvPr>
          <p:cNvSpPr>
            <a:spLocks noGrp="1"/>
          </p:cNvSpPr>
          <p:nvPr/>
        </p:nvSpPr>
        <p:spPr>
          <a:xfrm>
            <a:off x="27622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A3F16D77-2026-48B0-84CF-50D3F4A9EC5A}"/>
              </a:ext>
            </a:extLst>
          </p:cNvPr>
          <p:cNvSpPr>
            <a:spLocks noGrp="1"/>
          </p:cNvSpPr>
          <p:nvPr/>
        </p:nvSpPr>
        <p:spPr>
          <a:xfrm>
            <a:off x="28003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354B6DFD-D037-4B99-BC2E-6145381C382B}"/>
              </a:ext>
            </a:extLst>
          </p:cNvPr>
          <p:cNvSpPr>
            <a:spLocks noGrp="1"/>
          </p:cNvSpPr>
          <p:nvPr/>
        </p:nvSpPr>
        <p:spPr>
          <a:xfrm>
            <a:off x="34004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856F0C89-A8CF-4D8A-84AF-1F0D1E82274C}"/>
              </a:ext>
            </a:extLst>
          </p:cNvPr>
          <p:cNvSpPr>
            <a:spLocks noGrp="1"/>
          </p:cNvSpPr>
          <p:nvPr/>
        </p:nvSpPr>
        <p:spPr>
          <a:xfrm>
            <a:off x="346710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3FF101F6-F0B5-4C9C-A572-0534BCB40828}"/>
              </a:ext>
            </a:extLst>
          </p:cNvPr>
          <p:cNvSpPr>
            <a:spLocks noGrp="1"/>
          </p:cNvSpPr>
          <p:nvPr/>
        </p:nvSpPr>
        <p:spPr>
          <a:xfrm>
            <a:off x="35052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599EDCEF-AFD3-47FC-B4A5-9FF0FC7D9584}"/>
              </a:ext>
            </a:extLst>
          </p:cNvPr>
          <p:cNvSpPr>
            <a:spLocks noGrp="1"/>
          </p:cNvSpPr>
          <p:nvPr/>
        </p:nvSpPr>
        <p:spPr>
          <a:xfrm>
            <a:off x="41052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6A493931-2AE7-4445-A4F6-21284E4ACE5C}"/>
              </a:ext>
            </a:extLst>
          </p:cNvPr>
          <p:cNvSpPr>
            <a:spLocks noGrp="1"/>
          </p:cNvSpPr>
          <p:nvPr/>
        </p:nvSpPr>
        <p:spPr>
          <a:xfrm>
            <a:off x="4171950"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2763E385-AAE4-479C-A808-71B928114241}"/>
              </a:ext>
            </a:extLst>
          </p:cNvPr>
          <p:cNvSpPr>
            <a:spLocks noGrp="1"/>
          </p:cNvSpPr>
          <p:nvPr/>
        </p:nvSpPr>
        <p:spPr>
          <a:xfrm>
            <a:off x="42100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6EF2636D-11DA-4D17-9D11-AB3CCC43C59C}"/>
              </a:ext>
            </a:extLst>
          </p:cNvPr>
          <p:cNvSpPr>
            <a:spLocks noGrp="1"/>
          </p:cNvSpPr>
          <p:nvPr/>
        </p:nvSpPr>
        <p:spPr>
          <a:xfrm>
            <a:off x="48101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76A5E8A5-D206-4CA0-94FC-DCFE174775FE}"/>
              </a:ext>
            </a:extLst>
          </p:cNvPr>
          <p:cNvSpPr>
            <a:spLocks noGrp="1"/>
          </p:cNvSpPr>
          <p:nvPr/>
        </p:nvSpPr>
        <p:spPr>
          <a:xfrm>
            <a:off x="48768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7BB434EC-69AA-4E33-B0C6-E3852AD16C79}"/>
              </a:ext>
            </a:extLst>
          </p:cNvPr>
          <p:cNvSpPr>
            <a:spLocks noGrp="1"/>
          </p:cNvSpPr>
          <p:nvPr/>
        </p:nvSpPr>
        <p:spPr>
          <a:xfrm>
            <a:off x="49149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CBA3C0AF-1B43-46C4-A676-807A65AA43E3}"/>
              </a:ext>
            </a:extLst>
          </p:cNvPr>
          <p:cNvSpPr>
            <a:spLocks noGrp="1"/>
          </p:cNvSpPr>
          <p:nvPr/>
        </p:nvSpPr>
        <p:spPr>
          <a:xfrm>
            <a:off x="55149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326C6821-104C-4067-A900-23DAF1F6E703}"/>
              </a:ext>
            </a:extLst>
          </p:cNvPr>
          <p:cNvSpPr>
            <a:spLocks noGrp="1"/>
          </p:cNvSpPr>
          <p:nvPr/>
        </p:nvSpPr>
        <p:spPr>
          <a:xfrm>
            <a:off x="55816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29962F17-141E-471A-AE54-651DC51B557D}"/>
              </a:ext>
            </a:extLst>
          </p:cNvPr>
          <p:cNvSpPr>
            <a:spLocks noGrp="1"/>
          </p:cNvSpPr>
          <p:nvPr/>
        </p:nvSpPr>
        <p:spPr>
          <a:xfrm>
            <a:off x="56197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CCD15B9C-393B-49C2-A516-019ECFDD8C74}"/>
              </a:ext>
            </a:extLst>
          </p:cNvPr>
          <p:cNvSpPr>
            <a:spLocks noGrp="1"/>
          </p:cNvSpPr>
          <p:nvPr/>
        </p:nvSpPr>
        <p:spPr>
          <a:xfrm>
            <a:off x="62198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4339EB22-A9C7-4EF6-85EB-6159BFEDBB52}"/>
              </a:ext>
            </a:extLst>
          </p:cNvPr>
          <p:cNvSpPr>
            <a:spLocks noGrp="1"/>
          </p:cNvSpPr>
          <p:nvPr/>
        </p:nvSpPr>
        <p:spPr>
          <a:xfrm>
            <a:off x="62865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218CD1AD-72DB-4DF5-8986-80C10ACB6090}"/>
              </a:ext>
            </a:extLst>
          </p:cNvPr>
          <p:cNvSpPr>
            <a:spLocks noGrp="1"/>
          </p:cNvSpPr>
          <p:nvPr/>
        </p:nvSpPr>
        <p:spPr>
          <a:xfrm>
            <a:off x="63246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80B969AA-B8C7-47D7-895F-EC2630BAA764}"/>
              </a:ext>
            </a:extLst>
          </p:cNvPr>
          <p:cNvSpPr>
            <a:spLocks noGrp="1"/>
          </p:cNvSpPr>
          <p:nvPr/>
        </p:nvSpPr>
        <p:spPr>
          <a:xfrm>
            <a:off x="69246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E7F55EAA-CFB7-4571-A51F-656B51BCCB00}"/>
              </a:ext>
            </a:extLst>
          </p:cNvPr>
          <p:cNvSpPr>
            <a:spLocks noGrp="1"/>
          </p:cNvSpPr>
          <p:nvPr/>
        </p:nvSpPr>
        <p:spPr>
          <a:xfrm>
            <a:off x="699135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C79249F2-F00E-4B33-BDE0-044EECD1A84A}"/>
              </a:ext>
            </a:extLst>
          </p:cNvPr>
          <p:cNvSpPr>
            <a:spLocks noGrp="1"/>
          </p:cNvSpPr>
          <p:nvPr/>
        </p:nvSpPr>
        <p:spPr>
          <a:xfrm>
            <a:off x="70294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8739EAD2-8753-4F5F-87CA-1C74E93756D3}"/>
              </a:ext>
            </a:extLst>
          </p:cNvPr>
          <p:cNvSpPr>
            <a:spLocks noGrp="1"/>
          </p:cNvSpPr>
          <p:nvPr/>
        </p:nvSpPr>
        <p:spPr>
          <a:xfrm>
            <a:off x="76295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3117008F-3DB5-461C-A141-E61F26314061}"/>
              </a:ext>
            </a:extLst>
          </p:cNvPr>
          <p:cNvSpPr>
            <a:spLocks noGrp="1"/>
          </p:cNvSpPr>
          <p:nvPr/>
        </p:nvSpPr>
        <p:spPr>
          <a:xfrm>
            <a:off x="7696200"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84584B29-B2CB-44F9-9083-17EA5912A8A1}"/>
              </a:ext>
            </a:extLst>
          </p:cNvPr>
          <p:cNvSpPr>
            <a:spLocks noGrp="1"/>
          </p:cNvSpPr>
          <p:nvPr/>
        </p:nvSpPr>
        <p:spPr>
          <a:xfrm>
            <a:off x="77343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A2ECAC0A-B137-490B-90F9-9FEA1F9A01CB}"/>
              </a:ext>
            </a:extLst>
          </p:cNvPr>
          <p:cNvSpPr>
            <a:spLocks noGrp="1"/>
          </p:cNvSpPr>
          <p:nvPr/>
        </p:nvSpPr>
        <p:spPr>
          <a:xfrm>
            <a:off x="8334375"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D6A85BBD-AE44-431C-B2A7-70E728CB2410}"/>
              </a:ext>
            </a:extLst>
          </p:cNvPr>
          <p:cNvSpPr>
            <a:spLocks noGrp="1"/>
          </p:cNvSpPr>
          <p:nvPr/>
        </p:nvSpPr>
        <p:spPr>
          <a:xfrm>
            <a:off x="8401050"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40" name="Rectangle 39">
            <a:extLst>
              <a:ext uri="{FF2B5EF4-FFF2-40B4-BE49-F238E27FC236}">
                <a16:creationId xmlns:a16="http://schemas.microsoft.com/office/drawing/2014/main" id="{1AFA8CF4-CFCC-4ED9-A446-1EA1F86D964B}"/>
              </a:ext>
            </a:extLst>
          </p:cNvPr>
          <p:cNvSpPr>
            <a:spLocks noGrp="1"/>
          </p:cNvSpPr>
          <p:nvPr/>
        </p:nvSpPr>
        <p:spPr>
          <a:xfrm>
            <a:off x="8439150"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Compare</a:t>
            </a:r>
          </a:p>
          <a:p>
            <a:pPr algn="ctr">
              <a:defRPr sz="788" b="1">
                <a:solidFill>
                  <a:srgbClr val="FFFFFF"/>
                </a:solidFill>
                <a:latin typeface="Aptos"/>
                <a:ea typeface="Aptos"/>
                <a:cs typeface="Aptos"/>
              </a:defRPr>
            </a:pPr>
            <a:r>
              <a:rPr sz="788" b="1">
                <a:solidFill>
                  <a:srgbClr val="FFFFFF"/>
                </a:solidFill>
                <a:latin typeface="Aptos"/>
                <a:ea typeface="Aptos"/>
                <a:cs typeface="Aptos"/>
              </a:rPr>
              <a:t>verdicts</a:t>
            </a:r>
          </a:p>
        </p:txBody>
      </p:sp>
      <p:sp>
        <p:nvSpPr>
          <p:cNvPr id="41" name="Rectangle 40">
            <a:extLst>
              <a:ext uri="{FF2B5EF4-FFF2-40B4-BE49-F238E27FC236}">
                <a16:creationId xmlns:a16="http://schemas.microsoft.com/office/drawing/2014/main" id="{FEA7E4D3-2E78-470F-9361-91074557C2A0}"/>
              </a:ext>
            </a:extLst>
          </p:cNvPr>
          <p:cNvSpPr>
            <a:spLocks noGrp="1"/>
          </p:cNvSpPr>
          <p:nvPr/>
        </p:nvSpPr>
        <p:spPr>
          <a:xfrm>
            <a:off x="940117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5C37428D-08B1-4778-B4F6-9237F0EDD17A}"/>
              </a:ext>
            </a:extLst>
          </p:cNvPr>
          <p:cNvSpPr>
            <a:spLocks noGrp="1"/>
          </p:cNvSpPr>
          <p:nvPr/>
        </p:nvSpPr>
        <p:spPr>
          <a:xfrm>
            <a:off x="946785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33F57D25-C79C-4AA8-9E0E-B319A2801423}"/>
              </a:ext>
            </a:extLst>
          </p:cNvPr>
          <p:cNvSpPr>
            <a:spLocks noGrp="1"/>
          </p:cNvSpPr>
          <p:nvPr/>
        </p:nvSpPr>
        <p:spPr>
          <a:xfrm>
            <a:off x="950595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Report +</a:t>
            </a:r>
          </a:p>
          <a:p>
            <a:pPr algn="ctr">
              <a:defRPr sz="585" b="1">
                <a:solidFill>
                  <a:srgbClr val="18212B"/>
                </a:solidFill>
                <a:latin typeface="Aptos"/>
                <a:ea typeface="Aptos"/>
                <a:cs typeface="Aptos"/>
              </a:defRPr>
            </a:pPr>
            <a:r>
              <a:rPr sz="585" b="1">
                <a:solidFill>
                  <a:srgbClr val="18212B"/>
                </a:solidFill>
                <a:latin typeface="Aptos"/>
                <a:ea typeface="Aptos"/>
                <a:cs typeface="Aptos"/>
              </a:rPr>
              <a:t>verifier gate</a:t>
            </a:r>
          </a:p>
        </p:txBody>
      </p:sp>
      <p:sp>
        <p:nvSpPr>
          <p:cNvPr id="44" name="Rectangle 43">
            <a:extLst>
              <a:ext uri="{FF2B5EF4-FFF2-40B4-BE49-F238E27FC236}">
                <a16:creationId xmlns:a16="http://schemas.microsoft.com/office/drawing/2014/main" id="{E9077597-9A17-4855-B713-3543FDD8A73D}"/>
              </a:ext>
            </a:extLst>
          </p:cNvPr>
          <p:cNvSpPr>
            <a:spLocks noGrp="1"/>
          </p:cNvSpPr>
          <p:nvPr/>
        </p:nvSpPr>
        <p:spPr>
          <a:xfrm>
            <a:off x="10106025"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0C5C54E2-51E0-40F9-923E-EA4DF77C0A0C}"/>
              </a:ext>
            </a:extLst>
          </p:cNvPr>
          <p:cNvSpPr>
            <a:spLocks noGrp="1"/>
          </p:cNvSpPr>
          <p:nvPr/>
        </p:nvSpPr>
        <p:spPr>
          <a:xfrm>
            <a:off x="10172700"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6" name="Rectangle 45">
            <a:extLst>
              <a:ext uri="{FF2B5EF4-FFF2-40B4-BE49-F238E27FC236}">
                <a16:creationId xmlns:a16="http://schemas.microsoft.com/office/drawing/2014/main" id="{421F0C00-FF81-4159-A122-CC39696DB8AF}"/>
              </a:ext>
            </a:extLst>
          </p:cNvPr>
          <p:cNvSpPr>
            <a:spLocks noGrp="1"/>
          </p:cNvSpPr>
          <p:nvPr/>
        </p:nvSpPr>
        <p:spPr>
          <a:xfrm>
            <a:off x="10210800"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Accepted</a:t>
            </a:r>
          </a:p>
          <a:p>
            <a:pPr algn="ctr">
              <a:defRPr sz="585" b="1">
                <a:solidFill>
                  <a:srgbClr val="18212B"/>
                </a:solidFill>
                <a:latin typeface="Aptos"/>
                <a:ea typeface="Aptos"/>
                <a:cs typeface="Aptos"/>
              </a:defRPr>
            </a:pPr>
            <a:r>
              <a:rPr sz="585" b="1">
                <a:solidFill>
                  <a:srgbClr val="18212B"/>
                </a:solidFill>
                <a:latin typeface="Aptos"/>
                <a:ea typeface="Aptos"/>
                <a:cs typeface="Aptos"/>
              </a:rPr>
              <a:t>trace</a:t>
            </a:r>
          </a:p>
        </p:txBody>
      </p:sp>
      <p:sp>
        <p:nvSpPr>
          <p:cNvPr id="47" name="Rectangle 46">
            <a:extLst>
              <a:ext uri="{FF2B5EF4-FFF2-40B4-BE49-F238E27FC236}">
                <a16:creationId xmlns:a16="http://schemas.microsoft.com/office/drawing/2014/main" id="{D19EBB7F-B3C5-4551-A2D6-1CA7B2B0CE85}"/>
              </a:ext>
            </a:extLst>
          </p:cNvPr>
          <p:cNvSpPr>
            <a:spLocks noGrp="1"/>
          </p:cNvSpPr>
          <p:nvPr/>
        </p:nvSpPr>
        <p:spPr>
          <a:xfrm>
            <a:off x="5181600"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F0A6AD78-07F7-4EEB-AA5F-7A1B8B576BD9}"/>
              </a:ext>
            </a:extLst>
          </p:cNvPr>
          <p:cNvSpPr>
            <a:spLocks noGrp="1"/>
          </p:cNvSpPr>
          <p:nvPr/>
        </p:nvSpPr>
        <p:spPr>
          <a:xfrm>
            <a:off x="5191125" y="2486025"/>
            <a:ext cx="5381625"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DE006CA7-03D6-4AE1-AE3A-343DFF518371}"/>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F95311A8-092F-411C-808B-D5326BB45FD5}"/>
              </a:ext>
            </a:extLst>
          </p:cNvPr>
          <p:cNvSpPr>
            <a:spLocks noGrp="1"/>
          </p:cNvSpPr>
          <p:nvPr/>
        </p:nvSpPr>
        <p:spPr>
          <a:xfrm>
            <a:off x="5267325"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69029A7E-F381-4290-AA94-3E57F6F2C752}"/>
              </a:ext>
            </a:extLst>
          </p:cNvPr>
          <p:cNvSpPr>
            <a:spLocks noGrp="1"/>
          </p:cNvSpPr>
          <p:nvPr/>
        </p:nvSpPr>
        <p:spPr>
          <a:xfrm>
            <a:off x="6591300"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B18E1DC3-6505-42E5-B236-341AB037C839}"/>
              </a:ext>
            </a:extLst>
          </p:cNvPr>
          <p:cNvSpPr>
            <a:spLocks noGrp="1"/>
          </p:cNvSpPr>
          <p:nvPr/>
        </p:nvSpPr>
        <p:spPr>
          <a:xfrm>
            <a:off x="6600825" y="2657475"/>
            <a:ext cx="3971925"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DFCDD5A4-F282-4ADF-9E36-BC92EDBC31E7}"/>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A42F92DE-3244-4F40-B521-3DB72278FC0D}"/>
              </a:ext>
            </a:extLst>
          </p:cNvPr>
          <p:cNvSpPr>
            <a:spLocks noGrp="1"/>
          </p:cNvSpPr>
          <p:nvPr/>
        </p:nvSpPr>
        <p:spPr>
          <a:xfrm>
            <a:off x="6677025"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E997A61B-330D-48FB-A492-55AED7A578E5}"/>
              </a:ext>
            </a:extLst>
          </p:cNvPr>
          <p:cNvSpPr>
            <a:spLocks noGrp="1"/>
          </p:cNvSpPr>
          <p:nvPr/>
        </p:nvSpPr>
        <p:spPr>
          <a:xfrm>
            <a:off x="9772650" y="2257425"/>
            <a:ext cx="19050" cy="571500"/>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6385E9E1-4F50-44C2-8FEB-B0C7D37AE2C4}"/>
              </a:ext>
            </a:extLst>
          </p:cNvPr>
          <p:cNvSpPr>
            <a:spLocks noGrp="1"/>
          </p:cNvSpPr>
          <p:nvPr/>
        </p:nvSpPr>
        <p:spPr>
          <a:xfrm>
            <a:off x="9782175" y="2828925"/>
            <a:ext cx="79057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7E2EC96A-1DAE-4697-8FF4-0408EBEB53A0}"/>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44250C92-E5DE-47F2-A058-8B9D6BA6B126}"/>
              </a:ext>
            </a:extLst>
          </p:cNvPr>
          <p:cNvSpPr>
            <a:spLocks noGrp="1"/>
          </p:cNvSpPr>
          <p:nvPr/>
        </p:nvSpPr>
        <p:spPr>
          <a:xfrm>
            <a:off x="9544050"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75769A47-729E-4FE8-A224-055BD9A7FFD9}"/>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FF99ACFF-8262-44EF-827F-D49B4552786E}"/>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DEA835C9-C045-40A3-9A68-9D0D2212463E}"/>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2C1C128A-897C-45D3-BC9B-38CEA931F05D}"/>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A89444DE-A7E3-44B7-9B62-63845373F6B2}"/>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2AA4AA88-286C-4C82-9911-57ECE5B49255}"/>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B0923E0C-2FCE-4E24-8CB4-263B6502683E}"/>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EECFE9E4-331E-477C-8951-F6EF3E7B89B6}"/>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29D2F7A7-B00C-460A-A6CD-218B329923FE}"/>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C77E937D-B506-4D54-81AE-137047C08263}"/>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70785BE9-3BE4-433C-9B29-9BB943A372EC}"/>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474237F0-FD04-4B79-AB16-ADB0FADC288A}"/>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92C9949C-B2FD-4C58-8C0A-42039A8FA148}"/>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9C1DF7C1-AE2D-4ED5-86D3-62AAF82F749D}"/>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A2FEDBB3-2248-479E-95EF-9C3F6FE6B185}"/>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6EAAAF71-DEA1-4A17-92A1-BA34A526F6AE}"/>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1CF3F58F-C619-461D-9BEB-2F844ED2DC9D}"/>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8</a:t>
            </a:r>
          </a:p>
        </p:txBody>
      </p:sp>
      <p:sp>
        <p:nvSpPr>
          <p:cNvPr id="76" name="Rectangle 75">
            <a:extLst>
              <a:ext uri="{FF2B5EF4-FFF2-40B4-BE49-F238E27FC236}">
                <a16:creationId xmlns:a16="http://schemas.microsoft.com/office/drawing/2014/main" id="{08C697DF-FE23-4D90-BAA6-E644D15206EF}"/>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8FABB133-6399-492F-9AB1-7D9E8687CCD2}"/>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Compare claim vs observation</a:t>
            </a:r>
          </a:p>
        </p:txBody>
      </p:sp>
      <p:sp>
        <p:nvSpPr>
          <p:cNvPr id="78" name="Rectangle 77">
            <a:extLst>
              <a:ext uri="{FF2B5EF4-FFF2-40B4-BE49-F238E27FC236}">
                <a16:creationId xmlns:a16="http://schemas.microsoft.com/office/drawing/2014/main" id="{F8FDA65E-F66F-4524-A354-CD1C573A4D5E}"/>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A47C4EF1-0184-4CE1-B37B-8FE1A7D7AB8D}"/>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Evidence alignment/evaluator patterns</a:t>
            </a:r>
          </a:p>
        </p:txBody>
      </p:sp>
      <p:sp>
        <p:nvSpPr>
          <p:cNvPr id="80" name="Rectangle 79">
            <a:extLst>
              <a:ext uri="{FF2B5EF4-FFF2-40B4-BE49-F238E27FC236}">
                <a16:creationId xmlns:a16="http://schemas.microsoft.com/office/drawing/2014/main" id="{E2C36CD8-1C91-4DF4-8B9E-F212DB285D9C}"/>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A4CDB79E-A2FB-438A-A581-6903F4B3D200}"/>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ClaimComparison, Phase0VerdictStatus, comparator policy</a:t>
            </a:r>
          </a:p>
        </p:txBody>
      </p:sp>
      <p:sp>
        <p:nvSpPr>
          <p:cNvPr id="82" name="Rectangle 81">
            <a:extLst>
              <a:ext uri="{FF2B5EF4-FFF2-40B4-BE49-F238E27FC236}">
                <a16:creationId xmlns:a16="http://schemas.microsoft.com/office/drawing/2014/main" id="{F3C5C938-7E7F-4D4E-A0D6-076F10D08844}"/>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B4C5A9EB-99FD-4754-B0BD-0B810C16F228}"/>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claim_comparison.json</a:t>
            </a:r>
          </a:p>
        </p:txBody>
      </p:sp>
      <p:sp>
        <p:nvSpPr>
          <p:cNvPr id="84" name="Rectangle 83">
            <a:extLst>
              <a:ext uri="{FF2B5EF4-FFF2-40B4-BE49-F238E27FC236}">
                <a16:creationId xmlns:a16="http://schemas.microsoft.com/office/drawing/2014/main" id="{823F0F26-A2B5-43CE-BBD6-088FEBBB3C4E}"/>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CAE237DB-6FFA-432D-8D37-35BA765EF779}"/>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No verdict without evidence ids. Smoke/reconstructed evidence cannot upgrade aggregate claims.</a:t>
            </a:r>
          </a:p>
        </p:txBody>
      </p:sp>
      <p:sp>
        <p:nvSpPr>
          <p:cNvPr id="86" name="Rectangle 85">
            <a:extLst>
              <a:ext uri="{FF2B5EF4-FFF2-40B4-BE49-F238E27FC236}">
                <a16:creationId xmlns:a16="http://schemas.microsoft.com/office/drawing/2014/main" id="{E59D6150-8FC1-4CEA-91B9-F347E6085CBC}"/>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2009104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96458B56-5D49-4985-AA64-B5E4C743C9A8}"/>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68FD2C09-EF5B-4FA7-A2FC-5D52760D86E4}"/>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F1EC2ABF-C799-4569-851A-CFBC14E83396}"/>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F3B1076F-2A2D-4418-86E8-F431F5F45B28}"/>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STEP 9</a:t>
            </a:r>
          </a:p>
        </p:txBody>
      </p:sp>
      <p:sp>
        <p:nvSpPr>
          <p:cNvPr id="5" name="Rectangle 4">
            <a:extLst>
              <a:ext uri="{FF2B5EF4-FFF2-40B4-BE49-F238E27FC236}">
                <a16:creationId xmlns:a16="http://schemas.microsoft.com/office/drawing/2014/main" id="{4BE3686D-FE3A-40C7-AAF2-209B0586BE66}"/>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Report, verify, and accept</a:t>
            </a:r>
          </a:p>
        </p:txBody>
      </p:sp>
      <p:sp>
        <p:nvSpPr>
          <p:cNvPr id="6" name="Rectangle 5">
            <a:extLst>
              <a:ext uri="{FF2B5EF4-FFF2-40B4-BE49-F238E27FC236}">
                <a16:creationId xmlns:a16="http://schemas.microsoft.com/office/drawing/2014/main" id="{8DD3D705-86BB-4795-B4F0-82F28E47D322}"/>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921E6991-8ABB-415B-A7C1-B81DB7656996}"/>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14</a:t>
            </a:r>
          </a:p>
        </p:txBody>
      </p:sp>
      <p:sp>
        <p:nvSpPr>
          <p:cNvPr id="8" name="Rectangle 7">
            <a:extLst>
              <a:ext uri="{FF2B5EF4-FFF2-40B4-BE49-F238E27FC236}">
                <a16:creationId xmlns:a16="http://schemas.microsoft.com/office/drawing/2014/main" id="{8A94DAC5-E534-467F-B068-92B2D22B9D8C}"/>
              </a:ext>
            </a:extLst>
          </p:cNvPr>
          <p:cNvSpPr>
            <a:spLocks noGrp="1"/>
          </p:cNvSpPr>
          <p:nvPr/>
        </p:nvSpPr>
        <p:spPr>
          <a:xfrm>
            <a:off x="609600" y="1381125"/>
            <a:ext cx="8096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5B6470"/>
                </a:solidFill>
                <a:latin typeface="Aptos Display"/>
                <a:ea typeface="Aptos Display"/>
                <a:cs typeface="Aptos Display"/>
              </a:defRPr>
            </a:pPr>
            <a:r>
              <a:rPr sz="1425" b="0">
                <a:solidFill>
                  <a:srgbClr val="5B6470"/>
                </a:solidFill>
                <a:latin typeface="Aptos Display"/>
                <a:ea typeface="Aptos Display"/>
                <a:cs typeface="Aptos Display"/>
              </a:rPr>
              <a:t>Produce a gated final result and preserve trace.</a:t>
            </a:r>
          </a:p>
        </p:txBody>
      </p:sp>
      <p:sp>
        <p:nvSpPr>
          <p:cNvPr id="9" name="Rectangle 8">
            <a:extLst>
              <a:ext uri="{FF2B5EF4-FFF2-40B4-BE49-F238E27FC236}">
                <a16:creationId xmlns:a16="http://schemas.microsoft.com/office/drawing/2014/main" id="{69F1F4BB-C922-44A8-BBD0-34A0069CC852}"/>
              </a:ext>
            </a:extLst>
          </p:cNvPr>
          <p:cNvSpPr>
            <a:spLocks noGrp="1"/>
          </p:cNvSpPr>
          <p:nvPr/>
        </p:nvSpPr>
        <p:spPr>
          <a:xfrm>
            <a:off x="1171575"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0" name="Rectangle 9">
            <a:extLst>
              <a:ext uri="{FF2B5EF4-FFF2-40B4-BE49-F238E27FC236}">
                <a16:creationId xmlns:a16="http://schemas.microsoft.com/office/drawing/2014/main" id="{7C93356F-CD81-4362-847D-B485D58F998D}"/>
              </a:ext>
            </a:extLst>
          </p:cNvPr>
          <p:cNvSpPr>
            <a:spLocks noGrp="1"/>
          </p:cNvSpPr>
          <p:nvPr/>
        </p:nvSpPr>
        <p:spPr>
          <a:xfrm>
            <a:off x="12096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One-time</a:t>
            </a:r>
          </a:p>
          <a:p>
            <a:pPr algn="ctr">
              <a:defRPr sz="585" b="1">
                <a:solidFill>
                  <a:srgbClr val="18212B"/>
                </a:solidFill>
                <a:latin typeface="Aptos"/>
                <a:ea typeface="Aptos"/>
                <a:cs typeface="Aptos"/>
              </a:defRPr>
            </a:pPr>
            <a:r>
              <a:rPr sz="585" b="1">
                <a:solidFill>
                  <a:srgbClr val="18212B"/>
                </a:solidFill>
                <a:latin typeface="Aptos"/>
                <a:ea typeface="Aptos"/>
                <a:cs typeface="Aptos"/>
              </a:rPr>
              <a:t>setup</a:t>
            </a:r>
          </a:p>
        </p:txBody>
      </p:sp>
      <p:sp>
        <p:nvSpPr>
          <p:cNvPr id="11" name="Rectangle 10">
            <a:extLst>
              <a:ext uri="{FF2B5EF4-FFF2-40B4-BE49-F238E27FC236}">
                <a16:creationId xmlns:a16="http://schemas.microsoft.com/office/drawing/2014/main" id="{DAD6C9D6-0AE8-40E7-9A9A-10EA873305B8}"/>
              </a:ext>
            </a:extLst>
          </p:cNvPr>
          <p:cNvSpPr>
            <a:spLocks noGrp="1"/>
          </p:cNvSpPr>
          <p:nvPr/>
        </p:nvSpPr>
        <p:spPr>
          <a:xfrm>
            <a:off x="18097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7B08BAC2-6BB2-485F-A8B4-2359E5964217}"/>
              </a:ext>
            </a:extLst>
          </p:cNvPr>
          <p:cNvSpPr>
            <a:spLocks noGrp="1"/>
          </p:cNvSpPr>
          <p:nvPr/>
        </p:nvSpPr>
        <p:spPr>
          <a:xfrm>
            <a:off x="1876425" y="1895475"/>
            <a:ext cx="628650" cy="323850"/>
          </a:xfrm>
          <a:prstGeom prst="rect">
            <a:avLst/>
          </a:prstGeom>
          <a:solidFill>
            <a:srgbClr val="DDE8F3"/>
          </a:solidFill>
          <a:ln w="9525">
            <a:solidFill>
              <a:srgbClr val="D8D2C6"/>
            </a:solidFill>
            <a:prstDash val="solid"/>
          </a:ln>
        </p:spPr>
        <p:txBody>
          <a:bodyPr/>
          <a:lstStyle/>
          <a:p>
            <a:endParaRPr lang="en-US"/>
          </a:p>
        </p:txBody>
      </p:sp>
      <p:sp>
        <p:nvSpPr>
          <p:cNvPr id="13" name="Rectangle 12">
            <a:extLst>
              <a:ext uri="{FF2B5EF4-FFF2-40B4-BE49-F238E27FC236}">
                <a16:creationId xmlns:a16="http://schemas.microsoft.com/office/drawing/2014/main" id="{7798E07B-DC9E-4D34-8DC6-799AFE223AA0}"/>
              </a:ext>
            </a:extLst>
          </p:cNvPr>
          <p:cNvSpPr>
            <a:spLocks noGrp="1"/>
          </p:cNvSpPr>
          <p:nvPr/>
        </p:nvSpPr>
        <p:spPr>
          <a:xfrm>
            <a:off x="19145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Request</a:t>
            </a:r>
          </a:p>
          <a:p>
            <a:pPr algn="ctr">
              <a:defRPr sz="585" b="1">
                <a:solidFill>
                  <a:srgbClr val="18212B"/>
                </a:solidFill>
                <a:latin typeface="Aptos"/>
                <a:ea typeface="Aptos"/>
                <a:cs typeface="Aptos"/>
              </a:defRPr>
            </a:pPr>
            <a:r>
              <a:rPr sz="585" b="1">
                <a:solidFill>
                  <a:srgbClr val="18212B"/>
                </a:solidFill>
                <a:latin typeface="Aptos"/>
                <a:ea typeface="Aptos"/>
                <a:cs typeface="Aptos"/>
              </a:rPr>
              <a:t>compilation</a:t>
            </a:r>
          </a:p>
        </p:txBody>
      </p:sp>
      <p:sp>
        <p:nvSpPr>
          <p:cNvPr id="14" name="Rectangle 13">
            <a:extLst>
              <a:ext uri="{FF2B5EF4-FFF2-40B4-BE49-F238E27FC236}">
                <a16:creationId xmlns:a16="http://schemas.microsoft.com/office/drawing/2014/main" id="{D4237CC3-F695-4E5A-BCC7-A5D8EB268C6E}"/>
              </a:ext>
            </a:extLst>
          </p:cNvPr>
          <p:cNvSpPr>
            <a:spLocks noGrp="1"/>
          </p:cNvSpPr>
          <p:nvPr/>
        </p:nvSpPr>
        <p:spPr>
          <a:xfrm>
            <a:off x="25146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E6A4ECA3-1058-448C-8268-72150C6AC973}"/>
              </a:ext>
            </a:extLst>
          </p:cNvPr>
          <p:cNvSpPr>
            <a:spLocks noGrp="1"/>
          </p:cNvSpPr>
          <p:nvPr/>
        </p:nvSpPr>
        <p:spPr>
          <a:xfrm>
            <a:off x="258127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6" name="Rectangle 15">
            <a:extLst>
              <a:ext uri="{FF2B5EF4-FFF2-40B4-BE49-F238E27FC236}">
                <a16:creationId xmlns:a16="http://schemas.microsoft.com/office/drawing/2014/main" id="{F4F23320-A612-469B-98DD-82E7D781439F}"/>
              </a:ext>
            </a:extLst>
          </p:cNvPr>
          <p:cNvSpPr>
            <a:spLocks noGrp="1"/>
          </p:cNvSpPr>
          <p:nvPr/>
        </p:nvSpPr>
        <p:spPr>
          <a:xfrm>
            <a:off x="26193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Paper/repo</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17" name="Rectangle 16">
            <a:extLst>
              <a:ext uri="{FF2B5EF4-FFF2-40B4-BE49-F238E27FC236}">
                <a16:creationId xmlns:a16="http://schemas.microsoft.com/office/drawing/2014/main" id="{B7590B94-B0BF-4F49-8CB8-CC700B3FECFE}"/>
              </a:ext>
            </a:extLst>
          </p:cNvPr>
          <p:cNvSpPr>
            <a:spLocks noGrp="1"/>
          </p:cNvSpPr>
          <p:nvPr/>
        </p:nvSpPr>
        <p:spPr>
          <a:xfrm>
            <a:off x="32194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18" name="Rectangle 17">
            <a:extLst>
              <a:ext uri="{FF2B5EF4-FFF2-40B4-BE49-F238E27FC236}">
                <a16:creationId xmlns:a16="http://schemas.microsoft.com/office/drawing/2014/main" id="{A2C01A42-505F-4D38-A96C-FE43E14DFC49}"/>
              </a:ext>
            </a:extLst>
          </p:cNvPr>
          <p:cNvSpPr>
            <a:spLocks noGrp="1"/>
          </p:cNvSpPr>
          <p:nvPr/>
        </p:nvSpPr>
        <p:spPr>
          <a:xfrm>
            <a:off x="328612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3F3A500E-EB43-4936-9858-177332A4A78C}"/>
              </a:ext>
            </a:extLst>
          </p:cNvPr>
          <p:cNvSpPr>
            <a:spLocks noGrp="1"/>
          </p:cNvSpPr>
          <p:nvPr/>
        </p:nvSpPr>
        <p:spPr>
          <a:xfrm>
            <a:off x="33242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Claim</a:t>
            </a:r>
          </a:p>
          <a:p>
            <a:pPr algn="ctr">
              <a:defRPr sz="585" b="1">
                <a:solidFill>
                  <a:srgbClr val="18212B"/>
                </a:solidFill>
                <a:latin typeface="Aptos"/>
                <a:ea typeface="Aptos"/>
                <a:cs typeface="Aptos"/>
              </a:defRPr>
            </a:pPr>
            <a:r>
              <a:rPr sz="585" b="1">
                <a:solidFill>
                  <a:srgbClr val="18212B"/>
                </a:solidFill>
                <a:latin typeface="Aptos"/>
                <a:ea typeface="Aptos"/>
                <a:cs typeface="Aptos"/>
              </a:rPr>
              <a:t>extraction</a:t>
            </a:r>
          </a:p>
        </p:txBody>
      </p:sp>
      <p:sp>
        <p:nvSpPr>
          <p:cNvPr id="20" name="Rectangle 19">
            <a:extLst>
              <a:ext uri="{FF2B5EF4-FFF2-40B4-BE49-F238E27FC236}">
                <a16:creationId xmlns:a16="http://schemas.microsoft.com/office/drawing/2014/main" id="{0C9DD6D5-8C63-4A59-85AE-A6776207ACB2}"/>
              </a:ext>
            </a:extLst>
          </p:cNvPr>
          <p:cNvSpPr>
            <a:spLocks noGrp="1"/>
          </p:cNvSpPr>
          <p:nvPr/>
        </p:nvSpPr>
        <p:spPr>
          <a:xfrm>
            <a:off x="39243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1" name="Rectangle 20">
            <a:extLst>
              <a:ext uri="{FF2B5EF4-FFF2-40B4-BE49-F238E27FC236}">
                <a16:creationId xmlns:a16="http://schemas.microsoft.com/office/drawing/2014/main" id="{26830BEE-FBA3-4FB7-8DA2-F2E841E39319}"/>
              </a:ext>
            </a:extLst>
          </p:cNvPr>
          <p:cNvSpPr>
            <a:spLocks noGrp="1"/>
          </p:cNvSpPr>
          <p:nvPr/>
        </p:nvSpPr>
        <p:spPr>
          <a:xfrm>
            <a:off x="3990975" y="1895475"/>
            <a:ext cx="628650" cy="323850"/>
          </a:xfrm>
          <a:prstGeom prst="rect">
            <a:avLst/>
          </a:prstGeom>
          <a:solidFill>
            <a:srgbClr val="DDEFE9"/>
          </a:solidFill>
          <a:ln w="9525">
            <a:solidFill>
              <a:srgbClr val="D8D2C6"/>
            </a:solidFill>
            <a:prstDash val="solid"/>
          </a:ln>
        </p:spPr>
        <p:txBody>
          <a:bodyPr/>
          <a:lstStyle/>
          <a:p>
            <a:endParaRPr lang="en-US"/>
          </a:p>
        </p:txBody>
      </p:sp>
      <p:sp>
        <p:nvSpPr>
          <p:cNvPr id="22" name="Rectangle 21">
            <a:extLst>
              <a:ext uri="{FF2B5EF4-FFF2-40B4-BE49-F238E27FC236}">
                <a16:creationId xmlns:a16="http://schemas.microsoft.com/office/drawing/2014/main" id="{9028F623-C167-482B-9D9E-6B6B529B1F55}"/>
              </a:ext>
            </a:extLst>
          </p:cNvPr>
          <p:cNvSpPr>
            <a:spLocks noGrp="1"/>
          </p:cNvSpPr>
          <p:nvPr/>
        </p:nvSpPr>
        <p:spPr>
          <a:xfrm>
            <a:off x="40290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Contracts</a:t>
            </a:r>
          </a:p>
          <a:p>
            <a:pPr algn="ctr">
              <a:defRPr sz="585" b="1">
                <a:solidFill>
                  <a:srgbClr val="18212B"/>
                </a:solidFill>
                <a:latin typeface="Aptos"/>
                <a:ea typeface="Aptos"/>
                <a:cs typeface="Aptos"/>
              </a:defRPr>
            </a:pPr>
            <a:r>
              <a:rPr sz="585" b="1">
                <a:solidFill>
                  <a:srgbClr val="18212B"/>
                </a:solidFill>
                <a:latin typeface="Aptos"/>
                <a:ea typeface="Aptos"/>
                <a:cs typeface="Aptos"/>
              </a:rPr>
              <a:t>generation</a:t>
            </a:r>
          </a:p>
        </p:txBody>
      </p:sp>
      <p:sp>
        <p:nvSpPr>
          <p:cNvPr id="23" name="Rectangle 22">
            <a:extLst>
              <a:ext uri="{FF2B5EF4-FFF2-40B4-BE49-F238E27FC236}">
                <a16:creationId xmlns:a16="http://schemas.microsoft.com/office/drawing/2014/main" id="{D442F6F1-1B28-4825-816F-BF11D58D3A41}"/>
              </a:ext>
            </a:extLst>
          </p:cNvPr>
          <p:cNvSpPr>
            <a:spLocks noGrp="1"/>
          </p:cNvSpPr>
          <p:nvPr/>
        </p:nvSpPr>
        <p:spPr>
          <a:xfrm>
            <a:off x="46291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B3225BD4-AACE-41E8-9D8C-79AD58449D0C}"/>
              </a:ext>
            </a:extLst>
          </p:cNvPr>
          <p:cNvSpPr>
            <a:spLocks noGrp="1"/>
          </p:cNvSpPr>
          <p:nvPr/>
        </p:nvSpPr>
        <p:spPr>
          <a:xfrm>
            <a:off x="46958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BF92FC0F-5732-4B2A-8003-157A2FA68D29}"/>
              </a:ext>
            </a:extLst>
          </p:cNvPr>
          <p:cNvSpPr>
            <a:spLocks noGrp="1"/>
          </p:cNvSpPr>
          <p:nvPr/>
        </p:nvSpPr>
        <p:spPr>
          <a:xfrm>
            <a:off x="47339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Human</a:t>
            </a:r>
          </a:p>
          <a:p>
            <a:pPr algn="ctr">
              <a:defRPr sz="585" b="1">
                <a:solidFill>
                  <a:srgbClr val="18212B"/>
                </a:solidFill>
                <a:latin typeface="Aptos"/>
                <a:ea typeface="Aptos"/>
                <a:cs typeface="Aptos"/>
              </a:defRPr>
            </a:pPr>
            <a:r>
              <a:rPr sz="585" b="1">
                <a:solidFill>
                  <a:srgbClr val="18212B"/>
                </a:solidFill>
                <a:latin typeface="Aptos"/>
                <a:ea typeface="Aptos"/>
                <a:cs typeface="Aptos"/>
              </a:rPr>
              <a:t>review</a:t>
            </a:r>
          </a:p>
        </p:txBody>
      </p:sp>
      <p:sp>
        <p:nvSpPr>
          <p:cNvPr id="26" name="Rectangle 25">
            <a:extLst>
              <a:ext uri="{FF2B5EF4-FFF2-40B4-BE49-F238E27FC236}">
                <a16:creationId xmlns:a16="http://schemas.microsoft.com/office/drawing/2014/main" id="{8ABEFD49-E903-4DD8-8096-F709E20B4988}"/>
              </a:ext>
            </a:extLst>
          </p:cNvPr>
          <p:cNvSpPr>
            <a:spLocks noGrp="1"/>
          </p:cNvSpPr>
          <p:nvPr/>
        </p:nvSpPr>
        <p:spPr>
          <a:xfrm>
            <a:off x="53340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3A26CDB5-7BB5-4E94-A735-F207FB3233EB}"/>
              </a:ext>
            </a:extLst>
          </p:cNvPr>
          <p:cNvSpPr>
            <a:spLocks noGrp="1"/>
          </p:cNvSpPr>
          <p:nvPr/>
        </p:nvSpPr>
        <p:spPr>
          <a:xfrm>
            <a:off x="540067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28" name="Rectangle 27">
            <a:extLst>
              <a:ext uri="{FF2B5EF4-FFF2-40B4-BE49-F238E27FC236}">
                <a16:creationId xmlns:a16="http://schemas.microsoft.com/office/drawing/2014/main" id="{B3AD20A6-6AB7-456D-8588-0AC60F94288A}"/>
              </a:ext>
            </a:extLst>
          </p:cNvPr>
          <p:cNvSpPr>
            <a:spLocks noGrp="1"/>
          </p:cNvSpPr>
          <p:nvPr/>
        </p:nvSpPr>
        <p:spPr>
          <a:xfrm>
            <a:off x="54387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Preflight +</a:t>
            </a:r>
          </a:p>
          <a:p>
            <a:pPr algn="ctr">
              <a:defRPr sz="585" b="1">
                <a:solidFill>
                  <a:srgbClr val="18212B"/>
                </a:solidFill>
                <a:latin typeface="Aptos"/>
                <a:ea typeface="Aptos"/>
                <a:cs typeface="Aptos"/>
              </a:defRPr>
            </a:pPr>
            <a:r>
              <a:rPr sz="585" b="1">
                <a:solidFill>
                  <a:srgbClr val="18212B"/>
                </a:solidFill>
                <a:latin typeface="Aptos"/>
                <a:ea typeface="Aptos"/>
                <a:cs typeface="Aptos"/>
              </a:rPr>
              <a:t>command plan</a:t>
            </a:r>
          </a:p>
        </p:txBody>
      </p:sp>
      <p:sp>
        <p:nvSpPr>
          <p:cNvPr id="29" name="Rectangle 28">
            <a:extLst>
              <a:ext uri="{FF2B5EF4-FFF2-40B4-BE49-F238E27FC236}">
                <a16:creationId xmlns:a16="http://schemas.microsoft.com/office/drawing/2014/main" id="{0C473DD2-D406-4EA4-8890-9F435D5CC00B}"/>
              </a:ext>
            </a:extLst>
          </p:cNvPr>
          <p:cNvSpPr>
            <a:spLocks noGrp="1"/>
          </p:cNvSpPr>
          <p:nvPr/>
        </p:nvSpPr>
        <p:spPr>
          <a:xfrm>
            <a:off x="60388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0" name="Rectangle 29">
            <a:extLst>
              <a:ext uri="{FF2B5EF4-FFF2-40B4-BE49-F238E27FC236}">
                <a16:creationId xmlns:a16="http://schemas.microsoft.com/office/drawing/2014/main" id="{E4F4E9AB-0864-4988-9B17-7404B48BC6CE}"/>
              </a:ext>
            </a:extLst>
          </p:cNvPr>
          <p:cNvSpPr>
            <a:spLocks noGrp="1"/>
          </p:cNvSpPr>
          <p:nvPr/>
        </p:nvSpPr>
        <p:spPr>
          <a:xfrm>
            <a:off x="61055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CAFBF9A2-29CD-4DA7-B114-4B68D732697F}"/>
              </a:ext>
            </a:extLst>
          </p:cNvPr>
          <p:cNvSpPr>
            <a:spLocks noGrp="1"/>
          </p:cNvSpPr>
          <p:nvPr/>
        </p:nvSpPr>
        <p:spPr>
          <a:xfrm>
            <a:off x="61436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Execution</a:t>
            </a:r>
          </a:p>
          <a:p>
            <a:pPr algn="ctr">
              <a:defRPr sz="585" b="1">
                <a:solidFill>
                  <a:srgbClr val="18212B"/>
                </a:solidFill>
                <a:latin typeface="Aptos"/>
                <a:ea typeface="Aptos"/>
                <a:cs typeface="Aptos"/>
              </a:defRPr>
            </a:pPr>
            <a:r>
              <a:rPr sz="585" b="1">
                <a:solidFill>
                  <a:srgbClr val="18212B"/>
                </a:solidFill>
                <a:latin typeface="Aptos"/>
                <a:ea typeface="Aptos"/>
                <a:cs typeface="Aptos"/>
              </a:rPr>
              <a:t>approved?</a:t>
            </a:r>
          </a:p>
        </p:txBody>
      </p:sp>
      <p:sp>
        <p:nvSpPr>
          <p:cNvPr id="32" name="Rectangle 31">
            <a:extLst>
              <a:ext uri="{FF2B5EF4-FFF2-40B4-BE49-F238E27FC236}">
                <a16:creationId xmlns:a16="http://schemas.microsoft.com/office/drawing/2014/main" id="{981EAE6A-F6A2-49A9-8538-FEEB3748FE67}"/>
              </a:ext>
            </a:extLst>
          </p:cNvPr>
          <p:cNvSpPr>
            <a:spLocks noGrp="1"/>
          </p:cNvSpPr>
          <p:nvPr/>
        </p:nvSpPr>
        <p:spPr>
          <a:xfrm>
            <a:off x="67437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3" name="Rectangle 32">
            <a:extLst>
              <a:ext uri="{FF2B5EF4-FFF2-40B4-BE49-F238E27FC236}">
                <a16:creationId xmlns:a16="http://schemas.microsoft.com/office/drawing/2014/main" id="{950BB386-BF2B-4E92-8992-C57F44BAFA49}"/>
              </a:ext>
            </a:extLst>
          </p:cNvPr>
          <p:cNvSpPr>
            <a:spLocks noGrp="1"/>
          </p:cNvSpPr>
          <p:nvPr/>
        </p:nvSpPr>
        <p:spPr>
          <a:xfrm>
            <a:off x="681037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4" name="Rectangle 33">
            <a:extLst>
              <a:ext uri="{FF2B5EF4-FFF2-40B4-BE49-F238E27FC236}">
                <a16:creationId xmlns:a16="http://schemas.microsoft.com/office/drawing/2014/main" id="{5011C489-3B1B-40DD-A1DE-DE440CAED84E}"/>
              </a:ext>
            </a:extLst>
          </p:cNvPr>
          <p:cNvSpPr>
            <a:spLocks noGrp="1"/>
          </p:cNvSpPr>
          <p:nvPr/>
        </p:nvSpPr>
        <p:spPr>
          <a:xfrm>
            <a:off x="68484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Run/replay</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5" name="Rectangle 34">
            <a:extLst>
              <a:ext uri="{FF2B5EF4-FFF2-40B4-BE49-F238E27FC236}">
                <a16:creationId xmlns:a16="http://schemas.microsoft.com/office/drawing/2014/main" id="{F227CBF3-4F7B-48A8-9384-A76C7D22DA87}"/>
              </a:ext>
            </a:extLst>
          </p:cNvPr>
          <p:cNvSpPr>
            <a:spLocks noGrp="1"/>
          </p:cNvSpPr>
          <p:nvPr/>
        </p:nvSpPr>
        <p:spPr>
          <a:xfrm>
            <a:off x="744855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6" name="Rectangle 35">
            <a:extLst>
              <a:ext uri="{FF2B5EF4-FFF2-40B4-BE49-F238E27FC236}">
                <a16:creationId xmlns:a16="http://schemas.microsoft.com/office/drawing/2014/main" id="{389831C7-3047-477B-BF6C-D38B61CB8692}"/>
              </a:ext>
            </a:extLst>
          </p:cNvPr>
          <p:cNvSpPr>
            <a:spLocks noGrp="1"/>
          </p:cNvSpPr>
          <p:nvPr/>
        </p:nvSpPr>
        <p:spPr>
          <a:xfrm>
            <a:off x="7515225" y="1895475"/>
            <a:ext cx="628650" cy="323850"/>
          </a:xfrm>
          <a:prstGeom prst="rect">
            <a:avLst/>
          </a:prstGeom>
          <a:solidFill>
            <a:srgbClr val="F3E5D2"/>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CC73878A-635D-4738-B10C-5F1AD1DF0DC0}"/>
              </a:ext>
            </a:extLst>
          </p:cNvPr>
          <p:cNvSpPr>
            <a:spLocks noGrp="1"/>
          </p:cNvSpPr>
          <p:nvPr/>
        </p:nvSpPr>
        <p:spPr>
          <a:xfrm>
            <a:off x="755332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Parse + map</a:t>
            </a:r>
          </a:p>
          <a:p>
            <a:pPr algn="ctr">
              <a:defRPr sz="585" b="1">
                <a:solidFill>
                  <a:srgbClr val="18212B"/>
                </a:solidFill>
                <a:latin typeface="Aptos"/>
                <a:ea typeface="Aptos"/>
                <a:cs typeface="Aptos"/>
              </a:defRPr>
            </a:pPr>
            <a:r>
              <a:rPr sz="585" b="1">
                <a:solidFill>
                  <a:srgbClr val="18212B"/>
                </a:solidFill>
                <a:latin typeface="Aptos"/>
                <a:ea typeface="Aptos"/>
                <a:cs typeface="Aptos"/>
              </a:rPr>
              <a:t>evidence</a:t>
            </a:r>
          </a:p>
        </p:txBody>
      </p:sp>
      <p:sp>
        <p:nvSpPr>
          <p:cNvPr id="38" name="Rectangle 37">
            <a:extLst>
              <a:ext uri="{FF2B5EF4-FFF2-40B4-BE49-F238E27FC236}">
                <a16:creationId xmlns:a16="http://schemas.microsoft.com/office/drawing/2014/main" id="{F3872B37-3F3F-46CA-8D28-A4E36FD50355}"/>
              </a:ext>
            </a:extLst>
          </p:cNvPr>
          <p:cNvSpPr>
            <a:spLocks noGrp="1"/>
          </p:cNvSpPr>
          <p:nvPr/>
        </p:nvSpPr>
        <p:spPr>
          <a:xfrm>
            <a:off x="8153400" y="2047875"/>
            <a:ext cx="57150" cy="28575"/>
          </a:xfrm>
          <a:prstGeom prst="rect">
            <a:avLst/>
          </a:prstGeom>
          <a:solidFill>
            <a:srgbClr val="D8D2C6"/>
          </a:solidFill>
          <a:ln w="0">
            <a:solidFill>
              <a:srgbClr val="000000">
                <a:alpha val="0"/>
              </a:srgbClr>
            </a:solidFill>
            <a:prstDash val="solid"/>
          </a:ln>
        </p:spPr>
        <p:txBody>
          <a:bodyPr/>
          <a:lstStyle/>
          <a:p>
            <a:endParaRPr lang="en-US"/>
          </a:p>
        </p:txBody>
      </p:sp>
      <p:sp>
        <p:nvSpPr>
          <p:cNvPr id="39" name="Rectangle 38">
            <a:extLst>
              <a:ext uri="{FF2B5EF4-FFF2-40B4-BE49-F238E27FC236}">
                <a16:creationId xmlns:a16="http://schemas.microsoft.com/office/drawing/2014/main" id="{C5BF613D-53CB-4A85-B2D0-A6C70EFDA35C}"/>
              </a:ext>
            </a:extLst>
          </p:cNvPr>
          <p:cNvSpPr>
            <a:spLocks noGrp="1"/>
          </p:cNvSpPr>
          <p:nvPr/>
        </p:nvSpPr>
        <p:spPr>
          <a:xfrm>
            <a:off x="8220075" y="1895475"/>
            <a:ext cx="628650" cy="323850"/>
          </a:xfrm>
          <a:prstGeom prst="rect">
            <a:avLst/>
          </a:prstGeom>
          <a:solidFill>
            <a:srgbClr val="E8DFE8"/>
          </a:solidFill>
          <a:ln w="9525">
            <a:solidFill>
              <a:srgbClr val="D8D2C6"/>
            </a:solidFill>
            <a:prstDash val="solid"/>
          </a:ln>
        </p:spPr>
        <p:txBody>
          <a:bodyPr/>
          <a:lstStyle/>
          <a:p>
            <a:endParaRPr lang="en-US"/>
          </a:p>
        </p:txBody>
      </p:sp>
      <p:sp>
        <p:nvSpPr>
          <p:cNvPr id="40" name="Rectangle 39">
            <a:extLst>
              <a:ext uri="{FF2B5EF4-FFF2-40B4-BE49-F238E27FC236}">
                <a16:creationId xmlns:a16="http://schemas.microsoft.com/office/drawing/2014/main" id="{32A9FD28-5445-4A22-B258-46F85D27D6DB}"/>
              </a:ext>
            </a:extLst>
          </p:cNvPr>
          <p:cNvSpPr>
            <a:spLocks noGrp="1"/>
          </p:cNvSpPr>
          <p:nvPr/>
        </p:nvSpPr>
        <p:spPr>
          <a:xfrm>
            <a:off x="8258175" y="1952625"/>
            <a:ext cx="5524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18212B"/>
                </a:solidFill>
                <a:latin typeface="Aptos"/>
                <a:ea typeface="Aptos"/>
                <a:cs typeface="Aptos"/>
              </a:defRPr>
            </a:pPr>
            <a:r>
              <a:rPr sz="585" b="1">
                <a:solidFill>
                  <a:srgbClr val="18212B"/>
                </a:solidFill>
                <a:latin typeface="Aptos"/>
                <a:ea typeface="Aptos"/>
                <a:cs typeface="Aptos"/>
              </a:rPr>
              <a:t>Compare</a:t>
            </a:r>
          </a:p>
          <a:p>
            <a:pPr algn="ctr">
              <a:defRPr sz="585" b="1">
                <a:solidFill>
                  <a:srgbClr val="18212B"/>
                </a:solidFill>
                <a:latin typeface="Aptos"/>
                <a:ea typeface="Aptos"/>
                <a:cs typeface="Aptos"/>
              </a:defRPr>
            </a:pPr>
            <a:r>
              <a:rPr sz="585" b="1">
                <a:solidFill>
                  <a:srgbClr val="18212B"/>
                </a:solidFill>
                <a:latin typeface="Aptos"/>
                <a:ea typeface="Aptos"/>
                <a:cs typeface="Aptos"/>
              </a:rPr>
              <a:t>verdicts</a:t>
            </a:r>
          </a:p>
        </p:txBody>
      </p:sp>
      <p:sp>
        <p:nvSpPr>
          <p:cNvPr id="41" name="Rectangle 40">
            <a:extLst>
              <a:ext uri="{FF2B5EF4-FFF2-40B4-BE49-F238E27FC236}">
                <a16:creationId xmlns:a16="http://schemas.microsoft.com/office/drawing/2014/main" id="{B838BF1E-1587-4AB9-BE77-2063E059F3C6}"/>
              </a:ext>
            </a:extLst>
          </p:cNvPr>
          <p:cNvSpPr>
            <a:spLocks noGrp="1"/>
          </p:cNvSpPr>
          <p:nvPr/>
        </p:nvSpPr>
        <p:spPr>
          <a:xfrm>
            <a:off x="8858250"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42" name="Rectangle 41">
            <a:extLst>
              <a:ext uri="{FF2B5EF4-FFF2-40B4-BE49-F238E27FC236}">
                <a16:creationId xmlns:a16="http://schemas.microsoft.com/office/drawing/2014/main" id="{F2F1B2FF-6789-4CDE-B74B-1F6B62A3199B}"/>
              </a:ext>
            </a:extLst>
          </p:cNvPr>
          <p:cNvSpPr>
            <a:spLocks noGrp="1"/>
          </p:cNvSpPr>
          <p:nvPr/>
        </p:nvSpPr>
        <p:spPr>
          <a:xfrm>
            <a:off x="8924925"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43" name="Rectangle 42">
            <a:extLst>
              <a:ext uri="{FF2B5EF4-FFF2-40B4-BE49-F238E27FC236}">
                <a16:creationId xmlns:a16="http://schemas.microsoft.com/office/drawing/2014/main" id="{53BFAAF8-0072-4CFB-857E-0C9EC1437F37}"/>
              </a:ext>
            </a:extLst>
          </p:cNvPr>
          <p:cNvSpPr>
            <a:spLocks noGrp="1"/>
          </p:cNvSpPr>
          <p:nvPr/>
        </p:nvSpPr>
        <p:spPr>
          <a:xfrm>
            <a:off x="8963025"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Report +</a:t>
            </a:r>
          </a:p>
          <a:p>
            <a:pPr algn="ctr">
              <a:defRPr sz="788" b="1">
                <a:solidFill>
                  <a:srgbClr val="FFFFFF"/>
                </a:solidFill>
                <a:latin typeface="Aptos"/>
                <a:ea typeface="Aptos"/>
                <a:cs typeface="Aptos"/>
              </a:defRPr>
            </a:pPr>
            <a:r>
              <a:rPr sz="788" b="1">
                <a:solidFill>
                  <a:srgbClr val="FFFFFF"/>
                </a:solidFill>
                <a:latin typeface="Aptos"/>
                <a:ea typeface="Aptos"/>
                <a:cs typeface="Aptos"/>
              </a:rPr>
              <a:t>verifier gate</a:t>
            </a:r>
          </a:p>
        </p:txBody>
      </p:sp>
      <p:sp>
        <p:nvSpPr>
          <p:cNvPr id="44" name="Rectangle 43">
            <a:extLst>
              <a:ext uri="{FF2B5EF4-FFF2-40B4-BE49-F238E27FC236}">
                <a16:creationId xmlns:a16="http://schemas.microsoft.com/office/drawing/2014/main" id="{57E4DD6F-DB30-40C0-9C93-27C7804ABC02}"/>
              </a:ext>
            </a:extLst>
          </p:cNvPr>
          <p:cNvSpPr>
            <a:spLocks noGrp="1"/>
          </p:cNvSpPr>
          <p:nvPr/>
        </p:nvSpPr>
        <p:spPr>
          <a:xfrm>
            <a:off x="9925050" y="2047875"/>
            <a:ext cx="57150" cy="28575"/>
          </a:xfrm>
          <a:prstGeom prst="rect">
            <a:avLst/>
          </a:prstGeom>
          <a:solidFill>
            <a:srgbClr val="007F68"/>
          </a:solidFill>
          <a:ln w="0">
            <a:solidFill>
              <a:srgbClr val="000000">
                <a:alpha val="0"/>
              </a:srgbClr>
            </a:solidFill>
            <a:prstDash val="solid"/>
          </a:ln>
        </p:spPr>
        <p:txBody>
          <a:bodyPr/>
          <a:lstStyle/>
          <a:p>
            <a:endParaRPr lang="en-US"/>
          </a:p>
        </p:txBody>
      </p:sp>
      <p:sp>
        <p:nvSpPr>
          <p:cNvPr id="45" name="Rectangle 44">
            <a:extLst>
              <a:ext uri="{FF2B5EF4-FFF2-40B4-BE49-F238E27FC236}">
                <a16:creationId xmlns:a16="http://schemas.microsoft.com/office/drawing/2014/main" id="{75F712F3-9603-4F9B-834A-F6906D33E260}"/>
              </a:ext>
            </a:extLst>
          </p:cNvPr>
          <p:cNvSpPr>
            <a:spLocks noGrp="1"/>
          </p:cNvSpPr>
          <p:nvPr/>
        </p:nvSpPr>
        <p:spPr>
          <a:xfrm>
            <a:off x="9991725" y="1809750"/>
            <a:ext cx="990600" cy="495300"/>
          </a:xfrm>
          <a:prstGeom prst="rect">
            <a:avLst/>
          </a:prstGeom>
          <a:solidFill>
            <a:srgbClr val="007F68"/>
          </a:solidFill>
          <a:ln w="19050">
            <a:solidFill>
              <a:srgbClr val="007F68"/>
            </a:solidFill>
            <a:prstDash val="solid"/>
          </a:ln>
        </p:spPr>
        <p:txBody>
          <a:bodyPr/>
          <a:lstStyle/>
          <a:p>
            <a:endParaRPr lang="en-US"/>
          </a:p>
        </p:txBody>
      </p:sp>
      <p:sp>
        <p:nvSpPr>
          <p:cNvPr id="46" name="Rectangle 45">
            <a:extLst>
              <a:ext uri="{FF2B5EF4-FFF2-40B4-BE49-F238E27FC236}">
                <a16:creationId xmlns:a16="http://schemas.microsoft.com/office/drawing/2014/main" id="{DFD64F4C-CDD0-485D-AB85-CC380EDB3CB5}"/>
              </a:ext>
            </a:extLst>
          </p:cNvPr>
          <p:cNvSpPr>
            <a:spLocks noGrp="1"/>
          </p:cNvSpPr>
          <p:nvPr/>
        </p:nvSpPr>
        <p:spPr>
          <a:xfrm>
            <a:off x="10029825" y="1885950"/>
            <a:ext cx="9144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788" b="1">
                <a:solidFill>
                  <a:srgbClr val="FFFFFF"/>
                </a:solidFill>
                <a:latin typeface="Aptos"/>
                <a:ea typeface="Aptos"/>
                <a:cs typeface="Aptos"/>
              </a:defRPr>
            </a:pPr>
            <a:r>
              <a:rPr sz="788" b="1">
                <a:solidFill>
                  <a:srgbClr val="FFFFFF"/>
                </a:solidFill>
                <a:latin typeface="Aptos"/>
                <a:ea typeface="Aptos"/>
                <a:cs typeface="Aptos"/>
              </a:rPr>
              <a:t>Accepted</a:t>
            </a:r>
          </a:p>
          <a:p>
            <a:pPr algn="ctr">
              <a:defRPr sz="788" b="1">
                <a:solidFill>
                  <a:srgbClr val="FFFFFF"/>
                </a:solidFill>
                <a:latin typeface="Aptos"/>
                <a:ea typeface="Aptos"/>
                <a:cs typeface="Aptos"/>
              </a:defRPr>
            </a:pPr>
            <a:r>
              <a:rPr sz="788" b="1">
                <a:solidFill>
                  <a:srgbClr val="FFFFFF"/>
                </a:solidFill>
                <a:latin typeface="Aptos"/>
                <a:ea typeface="Aptos"/>
                <a:cs typeface="Aptos"/>
              </a:rPr>
              <a:t>trace</a:t>
            </a:r>
          </a:p>
        </p:txBody>
      </p:sp>
      <p:sp>
        <p:nvSpPr>
          <p:cNvPr id="47" name="Rectangle 46">
            <a:extLst>
              <a:ext uri="{FF2B5EF4-FFF2-40B4-BE49-F238E27FC236}">
                <a16:creationId xmlns:a16="http://schemas.microsoft.com/office/drawing/2014/main" id="{D365172A-35DA-4088-8CE0-A64D5E4B15A6}"/>
              </a:ext>
            </a:extLst>
          </p:cNvPr>
          <p:cNvSpPr>
            <a:spLocks noGrp="1"/>
          </p:cNvSpPr>
          <p:nvPr/>
        </p:nvSpPr>
        <p:spPr>
          <a:xfrm>
            <a:off x="5000625" y="2257425"/>
            <a:ext cx="19050" cy="228600"/>
          </a:xfrm>
          <a:prstGeom prst="rect">
            <a:avLst/>
          </a:prstGeom>
          <a:solidFill>
            <a:srgbClr val="B33A3A"/>
          </a:solidFill>
          <a:ln w="0">
            <a:solidFill>
              <a:srgbClr val="000000">
                <a:alpha val="0"/>
              </a:srgbClr>
            </a:solidFill>
            <a:prstDash val="solid"/>
          </a:ln>
        </p:spPr>
        <p:txBody>
          <a:bodyPr/>
          <a:lstStyle/>
          <a:p>
            <a:endParaRPr lang="en-US"/>
          </a:p>
        </p:txBody>
      </p:sp>
      <p:sp>
        <p:nvSpPr>
          <p:cNvPr id="48" name="Rectangle 47">
            <a:extLst>
              <a:ext uri="{FF2B5EF4-FFF2-40B4-BE49-F238E27FC236}">
                <a16:creationId xmlns:a16="http://schemas.microsoft.com/office/drawing/2014/main" id="{F722DC93-3C60-4DDD-BF43-33FE79BE6A0C}"/>
              </a:ext>
            </a:extLst>
          </p:cNvPr>
          <p:cNvSpPr>
            <a:spLocks noGrp="1"/>
          </p:cNvSpPr>
          <p:nvPr/>
        </p:nvSpPr>
        <p:spPr>
          <a:xfrm>
            <a:off x="5010150" y="2486025"/>
            <a:ext cx="5562600" cy="19050"/>
          </a:xfrm>
          <a:prstGeom prst="rect">
            <a:avLst/>
          </a:prstGeom>
          <a:solidFill>
            <a:srgbClr val="B33A3A"/>
          </a:solidFill>
          <a:ln w="0">
            <a:solidFill>
              <a:srgbClr val="000000">
                <a:alpha val="0"/>
              </a:srgbClr>
            </a:solidFill>
            <a:prstDash val="solid"/>
          </a:ln>
        </p:spPr>
        <p:txBody>
          <a:bodyPr/>
          <a:lstStyle/>
          <a:p>
            <a:endParaRPr lang="en-US"/>
          </a:p>
        </p:txBody>
      </p:sp>
      <p:sp>
        <p:nvSpPr>
          <p:cNvPr id="49" name="Rectangle 48">
            <a:extLst>
              <a:ext uri="{FF2B5EF4-FFF2-40B4-BE49-F238E27FC236}">
                <a16:creationId xmlns:a16="http://schemas.microsoft.com/office/drawing/2014/main" id="{84FC6042-0D1A-4C56-A6B3-5050C6CC9EA2}"/>
              </a:ext>
            </a:extLst>
          </p:cNvPr>
          <p:cNvSpPr>
            <a:spLocks noGrp="1"/>
          </p:cNvSpPr>
          <p:nvPr/>
        </p:nvSpPr>
        <p:spPr>
          <a:xfrm>
            <a:off x="10534650" y="24003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0" name="Rectangle 49">
            <a:extLst>
              <a:ext uri="{FF2B5EF4-FFF2-40B4-BE49-F238E27FC236}">
                <a16:creationId xmlns:a16="http://schemas.microsoft.com/office/drawing/2014/main" id="{8E22EB03-03C1-4149-9D2D-C2CB5B2D01CE}"/>
              </a:ext>
            </a:extLst>
          </p:cNvPr>
          <p:cNvSpPr>
            <a:spLocks noGrp="1"/>
          </p:cNvSpPr>
          <p:nvPr/>
        </p:nvSpPr>
        <p:spPr>
          <a:xfrm>
            <a:off x="5086350" y="23336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revise contracts</a:t>
            </a:r>
          </a:p>
        </p:txBody>
      </p:sp>
      <p:sp>
        <p:nvSpPr>
          <p:cNvPr id="51" name="Rectangle 50">
            <a:extLst>
              <a:ext uri="{FF2B5EF4-FFF2-40B4-BE49-F238E27FC236}">
                <a16:creationId xmlns:a16="http://schemas.microsoft.com/office/drawing/2014/main" id="{09700E12-F84B-4B66-95FA-7A55C64978CF}"/>
              </a:ext>
            </a:extLst>
          </p:cNvPr>
          <p:cNvSpPr>
            <a:spLocks noGrp="1"/>
          </p:cNvSpPr>
          <p:nvPr/>
        </p:nvSpPr>
        <p:spPr>
          <a:xfrm>
            <a:off x="6410325" y="2257425"/>
            <a:ext cx="19050" cy="400050"/>
          </a:xfrm>
          <a:prstGeom prst="rect">
            <a:avLst/>
          </a:prstGeom>
          <a:solidFill>
            <a:srgbClr val="B33A3A"/>
          </a:solidFill>
          <a:ln w="0">
            <a:solidFill>
              <a:srgbClr val="000000">
                <a:alpha val="0"/>
              </a:srgbClr>
            </a:solidFill>
            <a:prstDash val="solid"/>
          </a:ln>
        </p:spPr>
        <p:txBody>
          <a:bodyPr/>
          <a:lstStyle/>
          <a:p>
            <a:endParaRPr lang="en-US"/>
          </a:p>
        </p:txBody>
      </p:sp>
      <p:sp>
        <p:nvSpPr>
          <p:cNvPr id="52" name="Rectangle 51">
            <a:extLst>
              <a:ext uri="{FF2B5EF4-FFF2-40B4-BE49-F238E27FC236}">
                <a16:creationId xmlns:a16="http://schemas.microsoft.com/office/drawing/2014/main" id="{04F84F21-D8A6-4ED8-9FD8-A01729E58784}"/>
              </a:ext>
            </a:extLst>
          </p:cNvPr>
          <p:cNvSpPr>
            <a:spLocks noGrp="1"/>
          </p:cNvSpPr>
          <p:nvPr/>
        </p:nvSpPr>
        <p:spPr>
          <a:xfrm>
            <a:off x="6419850" y="2657475"/>
            <a:ext cx="4152900" cy="19050"/>
          </a:xfrm>
          <a:prstGeom prst="rect">
            <a:avLst/>
          </a:prstGeom>
          <a:solidFill>
            <a:srgbClr val="B33A3A"/>
          </a:solidFill>
          <a:ln w="0">
            <a:solidFill>
              <a:srgbClr val="000000">
                <a:alpha val="0"/>
              </a:srgbClr>
            </a:solidFill>
            <a:prstDash val="solid"/>
          </a:ln>
        </p:spPr>
        <p:txBody>
          <a:bodyPr/>
          <a:lstStyle/>
          <a:p>
            <a:endParaRPr lang="en-US"/>
          </a:p>
        </p:txBody>
      </p:sp>
      <p:sp>
        <p:nvSpPr>
          <p:cNvPr id="53" name="Rectangle 52">
            <a:extLst>
              <a:ext uri="{FF2B5EF4-FFF2-40B4-BE49-F238E27FC236}">
                <a16:creationId xmlns:a16="http://schemas.microsoft.com/office/drawing/2014/main" id="{90A10C13-E9A7-4EED-AF36-786FAED8A49D}"/>
              </a:ext>
            </a:extLst>
          </p:cNvPr>
          <p:cNvSpPr>
            <a:spLocks noGrp="1"/>
          </p:cNvSpPr>
          <p:nvPr/>
        </p:nvSpPr>
        <p:spPr>
          <a:xfrm>
            <a:off x="10534650" y="257175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4" name="Rectangle 53">
            <a:extLst>
              <a:ext uri="{FF2B5EF4-FFF2-40B4-BE49-F238E27FC236}">
                <a16:creationId xmlns:a16="http://schemas.microsoft.com/office/drawing/2014/main" id="{5AB305E7-C8A0-4ED6-8E7A-D061E76071EE}"/>
              </a:ext>
            </a:extLst>
          </p:cNvPr>
          <p:cNvSpPr>
            <a:spLocks noGrp="1"/>
          </p:cNvSpPr>
          <p:nvPr/>
        </p:nvSpPr>
        <p:spPr>
          <a:xfrm>
            <a:off x="6496050" y="250507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no: safer command</a:t>
            </a:r>
          </a:p>
        </p:txBody>
      </p:sp>
      <p:sp>
        <p:nvSpPr>
          <p:cNvPr id="55" name="Rectangle 54">
            <a:extLst>
              <a:ext uri="{FF2B5EF4-FFF2-40B4-BE49-F238E27FC236}">
                <a16:creationId xmlns:a16="http://schemas.microsoft.com/office/drawing/2014/main" id="{292BFC90-6E12-476B-B611-CF1B34F7165A}"/>
              </a:ext>
            </a:extLst>
          </p:cNvPr>
          <p:cNvSpPr>
            <a:spLocks noGrp="1"/>
          </p:cNvSpPr>
          <p:nvPr/>
        </p:nvSpPr>
        <p:spPr>
          <a:xfrm>
            <a:off x="9410700" y="2343150"/>
            <a:ext cx="19050" cy="485775"/>
          </a:xfrm>
          <a:prstGeom prst="rect">
            <a:avLst/>
          </a:prstGeom>
          <a:solidFill>
            <a:srgbClr val="B33A3A"/>
          </a:solidFill>
          <a:ln w="0">
            <a:solidFill>
              <a:srgbClr val="000000">
                <a:alpha val="0"/>
              </a:srgbClr>
            </a:solidFill>
            <a:prstDash val="solid"/>
          </a:ln>
        </p:spPr>
        <p:txBody>
          <a:bodyPr/>
          <a:lstStyle/>
          <a:p>
            <a:endParaRPr lang="en-US"/>
          </a:p>
        </p:txBody>
      </p:sp>
      <p:sp>
        <p:nvSpPr>
          <p:cNvPr id="56" name="Rectangle 55">
            <a:extLst>
              <a:ext uri="{FF2B5EF4-FFF2-40B4-BE49-F238E27FC236}">
                <a16:creationId xmlns:a16="http://schemas.microsoft.com/office/drawing/2014/main" id="{81257058-C71A-4B3C-909C-F1CB1C44A013}"/>
              </a:ext>
            </a:extLst>
          </p:cNvPr>
          <p:cNvSpPr>
            <a:spLocks noGrp="1"/>
          </p:cNvSpPr>
          <p:nvPr/>
        </p:nvSpPr>
        <p:spPr>
          <a:xfrm>
            <a:off x="9420225" y="2828925"/>
            <a:ext cx="1152525" cy="19050"/>
          </a:xfrm>
          <a:prstGeom prst="rect">
            <a:avLst/>
          </a:prstGeom>
          <a:solidFill>
            <a:srgbClr val="B33A3A"/>
          </a:solidFill>
          <a:ln w="0">
            <a:solidFill>
              <a:srgbClr val="000000">
                <a:alpha val="0"/>
              </a:srgbClr>
            </a:solidFill>
            <a:prstDash val="solid"/>
          </a:ln>
        </p:spPr>
        <p:txBody>
          <a:bodyPr/>
          <a:lstStyle/>
          <a:p>
            <a:endParaRPr lang="en-US"/>
          </a:p>
        </p:txBody>
      </p:sp>
      <p:sp>
        <p:nvSpPr>
          <p:cNvPr id="57" name="Rectangle 56">
            <a:extLst>
              <a:ext uri="{FF2B5EF4-FFF2-40B4-BE49-F238E27FC236}">
                <a16:creationId xmlns:a16="http://schemas.microsoft.com/office/drawing/2014/main" id="{2DEBAB96-0D50-481F-BC97-D64260CCBE8B}"/>
              </a:ext>
            </a:extLst>
          </p:cNvPr>
          <p:cNvSpPr>
            <a:spLocks noGrp="1"/>
          </p:cNvSpPr>
          <p:nvPr/>
        </p:nvSpPr>
        <p:spPr>
          <a:xfrm>
            <a:off x="10534650" y="2743200"/>
            <a:ext cx="114300" cy="1524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900" b="1">
                <a:solidFill>
                  <a:srgbClr val="B33A3A"/>
                </a:solidFill>
                <a:latin typeface="Aptos"/>
                <a:ea typeface="Aptos"/>
                <a:cs typeface="Aptos"/>
              </a:defRPr>
            </a:pPr>
            <a:r>
              <a:rPr sz="900" b="1">
                <a:solidFill>
                  <a:srgbClr val="B33A3A"/>
                </a:solidFill>
                <a:latin typeface="Aptos"/>
                <a:ea typeface="Aptos"/>
                <a:cs typeface="Aptos"/>
              </a:rPr>
              <a:t>&gt;</a:t>
            </a:r>
          </a:p>
        </p:txBody>
      </p:sp>
      <p:sp>
        <p:nvSpPr>
          <p:cNvPr id="58" name="Rectangle 57">
            <a:extLst>
              <a:ext uri="{FF2B5EF4-FFF2-40B4-BE49-F238E27FC236}">
                <a16:creationId xmlns:a16="http://schemas.microsoft.com/office/drawing/2014/main" id="{97EB5C73-3A3C-48E2-AC87-6456782F85D5}"/>
              </a:ext>
            </a:extLst>
          </p:cNvPr>
          <p:cNvSpPr>
            <a:spLocks noGrp="1"/>
          </p:cNvSpPr>
          <p:nvPr/>
        </p:nvSpPr>
        <p:spPr>
          <a:xfrm>
            <a:off x="9496425" y="2676525"/>
            <a:ext cx="11430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540" b="1">
                <a:solidFill>
                  <a:srgbClr val="B33A3A"/>
                </a:solidFill>
                <a:latin typeface="Aptos"/>
                <a:ea typeface="Aptos"/>
                <a:cs typeface="Aptos"/>
              </a:defRPr>
            </a:pPr>
            <a:r>
              <a:rPr sz="540" b="1">
                <a:solidFill>
                  <a:srgbClr val="B33A3A"/>
                </a:solidFill>
                <a:latin typeface="Aptos"/>
                <a:ea typeface="Aptos"/>
                <a:cs typeface="Aptos"/>
              </a:rPr>
              <a:t>fail: revise report</a:t>
            </a:r>
          </a:p>
        </p:txBody>
      </p:sp>
      <p:sp>
        <p:nvSpPr>
          <p:cNvPr id="59" name="Rectangle 58">
            <a:extLst>
              <a:ext uri="{FF2B5EF4-FFF2-40B4-BE49-F238E27FC236}">
                <a16:creationId xmlns:a16="http://schemas.microsoft.com/office/drawing/2014/main" id="{35C330A9-C4EB-4000-B178-EFF2E0861D33}"/>
              </a:ext>
            </a:extLst>
          </p:cNvPr>
          <p:cNvSpPr>
            <a:spLocks noGrp="1"/>
          </p:cNvSpPr>
          <p:nvPr/>
        </p:nvSpPr>
        <p:spPr>
          <a:xfrm>
            <a:off x="10687050" y="2476500"/>
            <a:ext cx="914400" cy="247650"/>
          </a:xfrm>
          <a:prstGeom prst="rect">
            <a:avLst/>
          </a:prstGeom>
          <a:solidFill>
            <a:srgbClr val="F3DADA"/>
          </a:solidFill>
          <a:ln w="9525">
            <a:solidFill>
              <a:srgbClr val="B33A3A"/>
            </a:solidFill>
            <a:prstDash val="solid"/>
          </a:ln>
        </p:spPr>
        <p:txBody>
          <a:bodyPr/>
          <a:lstStyle/>
          <a:p>
            <a:endParaRPr lang="en-US"/>
          </a:p>
        </p:txBody>
      </p:sp>
      <p:sp>
        <p:nvSpPr>
          <p:cNvPr id="60" name="Rectangle 59">
            <a:extLst>
              <a:ext uri="{FF2B5EF4-FFF2-40B4-BE49-F238E27FC236}">
                <a16:creationId xmlns:a16="http://schemas.microsoft.com/office/drawing/2014/main" id="{7330CF3F-3D53-4C34-B236-98D9259744A4}"/>
              </a:ext>
            </a:extLst>
          </p:cNvPr>
          <p:cNvSpPr>
            <a:spLocks noGrp="1"/>
          </p:cNvSpPr>
          <p:nvPr/>
        </p:nvSpPr>
        <p:spPr>
          <a:xfrm>
            <a:off x="10734675" y="2543175"/>
            <a:ext cx="819150" cy="1143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585" b="1">
                <a:solidFill>
                  <a:srgbClr val="B33A3A"/>
                </a:solidFill>
                <a:latin typeface="Aptos"/>
                <a:ea typeface="Aptos"/>
                <a:cs typeface="Aptos"/>
              </a:defRPr>
            </a:pPr>
            <a:r>
              <a:rPr sz="585" b="1">
                <a:solidFill>
                  <a:srgbClr val="B33A3A"/>
                </a:solidFill>
                <a:latin typeface="Aptos"/>
                <a:ea typeface="Aptos"/>
                <a:cs typeface="Aptos"/>
              </a:rPr>
              <a:t>Blocked / revise</a:t>
            </a:r>
          </a:p>
        </p:txBody>
      </p:sp>
      <p:sp>
        <p:nvSpPr>
          <p:cNvPr id="61" name="Rectangle 60">
            <a:extLst>
              <a:ext uri="{FF2B5EF4-FFF2-40B4-BE49-F238E27FC236}">
                <a16:creationId xmlns:a16="http://schemas.microsoft.com/office/drawing/2014/main" id="{66F292E4-9E28-4FF8-8677-5DEF4A675779}"/>
              </a:ext>
            </a:extLst>
          </p:cNvPr>
          <p:cNvSpPr>
            <a:spLocks noGrp="1"/>
          </p:cNvSpPr>
          <p:nvPr/>
        </p:nvSpPr>
        <p:spPr>
          <a:xfrm>
            <a:off x="400050" y="2914650"/>
            <a:ext cx="4095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007F68"/>
                </a:solidFill>
                <a:latin typeface="Aptos Mono"/>
                <a:ea typeface="Aptos Mono"/>
                <a:cs typeface="Aptos Mono"/>
              </a:defRPr>
            </a:pPr>
            <a:r>
              <a:rPr sz="825" b="1">
                <a:solidFill>
                  <a:srgbClr val="007F68"/>
                </a:solidFill>
                <a:latin typeface="Aptos Mono"/>
                <a:ea typeface="Aptos Mono"/>
                <a:cs typeface="Aptos Mono"/>
              </a:rPr>
              <a:t>Corresponding workflow table row</a:t>
            </a:r>
          </a:p>
        </p:txBody>
      </p:sp>
      <p:sp>
        <p:nvSpPr>
          <p:cNvPr id="62" name="Rectangle 61">
            <a:extLst>
              <a:ext uri="{FF2B5EF4-FFF2-40B4-BE49-F238E27FC236}">
                <a16:creationId xmlns:a16="http://schemas.microsoft.com/office/drawing/2014/main" id="{47CCC8D0-B5EC-427E-B61A-5908848CD2ED}"/>
              </a:ext>
            </a:extLst>
          </p:cNvPr>
          <p:cNvSpPr>
            <a:spLocks noGrp="1"/>
          </p:cNvSpPr>
          <p:nvPr/>
        </p:nvSpPr>
        <p:spPr>
          <a:xfrm>
            <a:off x="400050" y="3143250"/>
            <a:ext cx="457200" cy="323850"/>
          </a:xfrm>
          <a:prstGeom prst="rect">
            <a:avLst/>
          </a:prstGeom>
          <a:solidFill>
            <a:srgbClr val="007F68"/>
          </a:solidFill>
          <a:ln w="9525">
            <a:solidFill>
              <a:srgbClr val="007F68"/>
            </a:solidFill>
            <a:prstDash val="solid"/>
          </a:ln>
        </p:spPr>
        <p:txBody>
          <a:bodyPr/>
          <a:lstStyle/>
          <a:p>
            <a:endParaRPr lang="en-US"/>
          </a:p>
        </p:txBody>
      </p:sp>
      <p:sp>
        <p:nvSpPr>
          <p:cNvPr id="63" name="Rectangle 62">
            <a:extLst>
              <a:ext uri="{FF2B5EF4-FFF2-40B4-BE49-F238E27FC236}">
                <a16:creationId xmlns:a16="http://schemas.microsoft.com/office/drawing/2014/main" id="{696FB2BF-35C5-4CE4-9A8E-D23C7B7D867E}"/>
              </a:ext>
            </a:extLst>
          </p:cNvPr>
          <p:cNvSpPr>
            <a:spLocks noGrp="1"/>
          </p:cNvSpPr>
          <p:nvPr/>
        </p:nvSpPr>
        <p:spPr>
          <a:xfrm>
            <a:off x="476250" y="3219450"/>
            <a:ext cx="3048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795" b="1">
                <a:solidFill>
                  <a:srgbClr val="FFFFFF"/>
                </a:solidFill>
                <a:latin typeface="Aptos"/>
                <a:ea typeface="Aptos"/>
                <a:cs typeface="Aptos"/>
              </a:defRPr>
            </a:pPr>
            <a:r>
              <a:rPr sz="795" b="1">
                <a:solidFill>
                  <a:srgbClr val="FFFFFF"/>
                </a:solidFill>
                <a:latin typeface="Aptos"/>
                <a:ea typeface="Aptos"/>
                <a:cs typeface="Aptos"/>
              </a:rPr>
              <a:t>Step</a:t>
            </a:r>
          </a:p>
        </p:txBody>
      </p:sp>
      <p:sp>
        <p:nvSpPr>
          <p:cNvPr id="64" name="Rectangle 63">
            <a:extLst>
              <a:ext uri="{FF2B5EF4-FFF2-40B4-BE49-F238E27FC236}">
                <a16:creationId xmlns:a16="http://schemas.microsoft.com/office/drawing/2014/main" id="{A10F47A1-A2EB-4693-9EEF-AC2EC637DC56}"/>
              </a:ext>
            </a:extLst>
          </p:cNvPr>
          <p:cNvSpPr>
            <a:spLocks noGrp="1"/>
          </p:cNvSpPr>
          <p:nvPr/>
        </p:nvSpPr>
        <p:spPr>
          <a:xfrm>
            <a:off x="857250" y="3143250"/>
            <a:ext cx="1409700" cy="323850"/>
          </a:xfrm>
          <a:prstGeom prst="rect">
            <a:avLst/>
          </a:prstGeom>
          <a:solidFill>
            <a:srgbClr val="007F68"/>
          </a:solidFill>
          <a:ln w="9525">
            <a:solidFill>
              <a:srgbClr val="007F68"/>
            </a:solidFill>
            <a:prstDash val="solid"/>
          </a:ln>
        </p:spPr>
        <p:txBody>
          <a:bodyPr/>
          <a:lstStyle/>
          <a:p>
            <a:endParaRPr lang="en-US"/>
          </a:p>
        </p:txBody>
      </p:sp>
      <p:sp>
        <p:nvSpPr>
          <p:cNvPr id="65" name="Rectangle 64">
            <a:extLst>
              <a:ext uri="{FF2B5EF4-FFF2-40B4-BE49-F238E27FC236}">
                <a16:creationId xmlns:a16="http://schemas.microsoft.com/office/drawing/2014/main" id="{296964E7-FB1D-4EA4-B7F3-D6F4CF997723}"/>
              </a:ext>
            </a:extLst>
          </p:cNvPr>
          <p:cNvSpPr>
            <a:spLocks noGrp="1"/>
          </p:cNvSpPr>
          <p:nvPr/>
        </p:nvSpPr>
        <p:spPr>
          <a:xfrm>
            <a:off x="933450" y="32194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Workflow step</a:t>
            </a:r>
          </a:p>
        </p:txBody>
      </p:sp>
      <p:sp>
        <p:nvSpPr>
          <p:cNvPr id="66" name="Rectangle 65">
            <a:extLst>
              <a:ext uri="{FF2B5EF4-FFF2-40B4-BE49-F238E27FC236}">
                <a16:creationId xmlns:a16="http://schemas.microsoft.com/office/drawing/2014/main" id="{86DD5B6A-8347-44C7-8527-9855E4CAA808}"/>
              </a:ext>
            </a:extLst>
          </p:cNvPr>
          <p:cNvSpPr>
            <a:spLocks noGrp="1"/>
          </p:cNvSpPr>
          <p:nvPr/>
        </p:nvSpPr>
        <p:spPr>
          <a:xfrm>
            <a:off x="2266950" y="3143250"/>
            <a:ext cx="2609850" cy="323850"/>
          </a:xfrm>
          <a:prstGeom prst="rect">
            <a:avLst/>
          </a:prstGeom>
          <a:solidFill>
            <a:srgbClr val="007F68"/>
          </a:solidFill>
          <a:ln w="9525">
            <a:solidFill>
              <a:srgbClr val="007F68"/>
            </a:solidFill>
            <a:prstDash val="solid"/>
          </a:ln>
        </p:spPr>
        <p:txBody>
          <a:bodyPr/>
          <a:lstStyle/>
          <a:p>
            <a:endParaRPr lang="en-US"/>
          </a:p>
        </p:txBody>
      </p:sp>
      <p:sp>
        <p:nvSpPr>
          <p:cNvPr id="67" name="Rectangle 66">
            <a:extLst>
              <a:ext uri="{FF2B5EF4-FFF2-40B4-BE49-F238E27FC236}">
                <a16:creationId xmlns:a16="http://schemas.microsoft.com/office/drawing/2014/main" id="{77F4E6CC-77BA-44E5-9AFB-AA1C040FAB8A}"/>
              </a:ext>
            </a:extLst>
          </p:cNvPr>
          <p:cNvSpPr>
            <a:spLocks noGrp="1"/>
          </p:cNvSpPr>
          <p:nvPr/>
        </p:nvSpPr>
        <p:spPr>
          <a:xfrm>
            <a:off x="2343150" y="3219450"/>
            <a:ext cx="24574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Module/tool used</a:t>
            </a:r>
          </a:p>
        </p:txBody>
      </p:sp>
      <p:sp>
        <p:nvSpPr>
          <p:cNvPr id="68" name="Rectangle 67">
            <a:extLst>
              <a:ext uri="{FF2B5EF4-FFF2-40B4-BE49-F238E27FC236}">
                <a16:creationId xmlns:a16="http://schemas.microsoft.com/office/drawing/2014/main" id="{87B4CF91-3F1F-466C-A1E5-EC1621D1315B}"/>
              </a:ext>
            </a:extLst>
          </p:cNvPr>
          <p:cNvSpPr>
            <a:spLocks noGrp="1"/>
          </p:cNvSpPr>
          <p:nvPr/>
        </p:nvSpPr>
        <p:spPr>
          <a:xfrm>
            <a:off x="4876800" y="3143250"/>
            <a:ext cx="2324100" cy="323850"/>
          </a:xfrm>
          <a:prstGeom prst="rect">
            <a:avLst/>
          </a:prstGeom>
          <a:solidFill>
            <a:srgbClr val="007F68"/>
          </a:solidFill>
          <a:ln w="9525">
            <a:solidFill>
              <a:srgbClr val="007F68"/>
            </a:solidFill>
            <a:prstDash val="solid"/>
          </a:ln>
        </p:spPr>
        <p:txBody>
          <a:bodyPr/>
          <a:lstStyle/>
          <a:p>
            <a:endParaRPr lang="en-US"/>
          </a:p>
        </p:txBody>
      </p:sp>
      <p:sp>
        <p:nvSpPr>
          <p:cNvPr id="69" name="Rectangle 68">
            <a:extLst>
              <a:ext uri="{FF2B5EF4-FFF2-40B4-BE49-F238E27FC236}">
                <a16:creationId xmlns:a16="http://schemas.microsoft.com/office/drawing/2014/main" id="{7274318C-EE3E-4386-ADCE-27D2B3A3DE91}"/>
              </a:ext>
            </a:extLst>
          </p:cNvPr>
          <p:cNvSpPr>
            <a:spLocks noGrp="1"/>
          </p:cNvSpPr>
          <p:nvPr/>
        </p:nvSpPr>
        <p:spPr>
          <a:xfrm>
            <a:off x="4953000" y="3219450"/>
            <a:ext cx="21717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New tools</a:t>
            </a:r>
          </a:p>
        </p:txBody>
      </p:sp>
      <p:sp>
        <p:nvSpPr>
          <p:cNvPr id="70" name="Rectangle 69">
            <a:extLst>
              <a:ext uri="{FF2B5EF4-FFF2-40B4-BE49-F238E27FC236}">
                <a16:creationId xmlns:a16="http://schemas.microsoft.com/office/drawing/2014/main" id="{F7AEEEC4-8A3D-44C8-8133-16E3AD0A3B30}"/>
              </a:ext>
            </a:extLst>
          </p:cNvPr>
          <p:cNvSpPr>
            <a:spLocks noGrp="1"/>
          </p:cNvSpPr>
          <p:nvPr/>
        </p:nvSpPr>
        <p:spPr>
          <a:xfrm>
            <a:off x="7200900" y="3143250"/>
            <a:ext cx="2152650" cy="323850"/>
          </a:xfrm>
          <a:prstGeom prst="rect">
            <a:avLst/>
          </a:prstGeom>
          <a:solidFill>
            <a:srgbClr val="007F68"/>
          </a:solidFill>
          <a:ln w="9525">
            <a:solidFill>
              <a:srgbClr val="007F68"/>
            </a:solidFill>
            <a:prstDash val="solid"/>
          </a:ln>
        </p:spPr>
        <p:txBody>
          <a:bodyPr/>
          <a:lstStyle/>
          <a:p>
            <a:endParaRPr lang="en-US"/>
          </a:p>
        </p:txBody>
      </p:sp>
      <p:sp>
        <p:nvSpPr>
          <p:cNvPr id="71" name="Rectangle 70">
            <a:extLst>
              <a:ext uri="{FF2B5EF4-FFF2-40B4-BE49-F238E27FC236}">
                <a16:creationId xmlns:a16="http://schemas.microsoft.com/office/drawing/2014/main" id="{0AC74E5D-3BA8-4723-B24B-936083245434}"/>
              </a:ext>
            </a:extLst>
          </p:cNvPr>
          <p:cNvSpPr>
            <a:spLocks noGrp="1"/>
          </p:cNvSpPr>
          <p:nvPr/>
        </p:nvSpPr>
        <p:spPr>
          <a:xfrm>
            <a:off x="7277100" y="3219450"/>
            <a:ext cx="200025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Main outputs</a:t>
            </a:r>
          </a:p>
        </p:txBody>
      </p:sp>
      <p:sp>
        <p:nvSpPr>
          <p:cNvPr id="72" name="Rectangle 71">
            <a:extLst>
              <a:ext uri="{FF2B5EF4-FFF2-40B4-BE49-F238E27FC236}">
                <a16:creationId xmlns:a16="http://schemas.microsoft.com/office/drawing/2014/main" id="{5D61A92D-C755-4DCA-A7A7-246C9B247F7A}"/>
              </a:ext>
            </a:extLst>
          </p:cNvPr>
          <p:cNvSpPr>
            <a:spLocks noGrp="1"/>
          </p:cNvSpPr>
          <p:nvPr/>
        </p:nvSpPr>
        <p:spPr>
          <a:xfrm>
            <a:off x="9353550" y="3143250"/>
            <a:ext cx="2400300" cy="323850"/>
          </a:xfrm>
          <a:prstGeom prst="rect">
            <a:avLst/>
          </a:prstGeom>
          <a:solidFill>
            <a:srgbClr val="007F68"/>
          </a:solidFill>
          <a:ln w="9525">
            <a:solidFill>
              <a:srgbClr val="007F68"/>
            </a:solidFill>
            <a:prstDash val="solid"/>
          </a:ln>
        </p:spPr>
        <p:txBody>
          <a:bodyPr/>
          <a:lstStyle/>
          <a:p>
            <a:endParaRPr lang="en-US"/>
          </a:p>
        </p:txBody>
      </p:sp>
      <p:sp>
        <p:nvSpPr>
          <p:cNvPr id="73" name="Rectangle 72">
            <a:extLst>
              <a:ext uri="{FF2B5EF4-FFF2-40B4-BE49-F238E27FC236}">
                <a16:creationId xmlns:a16="http://schemas.microsoft.com/office/drawing/2014/main" id="{8303B171-AA08-4EA2-BC3A-D707F55A0EA1}"/>
              </a:ext>
            </a:extLst>
          </p:cNvPr>
          <p:cNvSpPr>
            <a:spLocks noGrp="1"/>
          </p:cNvSpPr>
          <p:nvPr/>
        </p:nvSpPr>
        <p:spPr>
          <a:xfrm>
            <a:off x="9429750" y="3219450"/>
            <a:ext cx="22479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FFFFFF"/>
                </a:solidFill>
                <a:latin typeface="Aptos"/>
                <a:ea typeface="Aptos"/>
                <a:cs typeface="Aptos"/>
              </a:defRPr>
            </a:pPr>
            <a:r>
              <a:rPr sz="750" b="1">
                <a:solidFill>
                  <a:srgbClr val="FFFFFF"/>
                </a:solidFill>
                <a:latin typeface="Aptos"/>
                <a:ea typeface="Aptos"/>
                <a:cs typeface="Aptos"/>
              </a:rPr>
              <a:t>Gate / error handling</a:t>
            </a:r>
          </a:p>
        </p:txBody>
      </p:sp>
      <p:sp>
        <p:nvSpPr>
          <p:cNvPr id="74" name="Rectangle 73">
            <a:extLst>
              <a:ext uri="{FF2B5EF4-FFF2-40B4-BE49-F238E27FC236}">
                <a16:creationId xmlns:a16="http://schemas.microsoft.com/office/drawing/2014/main" id="{CD243E9C-7AB1-455F-979B-60095839A711}"/>
              </a:ext>
            </a:extLst>
          </p:cNvPr>
          <p:cNvSpPr>
            <a:spLocks noGrp="1"/>
          </p:cNvSpPr>
          <p:nvPr/>
        </p:nvSpPr>
        <p:spPr>
          <a:xfrm>
            <a:off x="400050" y="3467100"/>
            <a:ext cx="457200" cy="2095500"/>
          </a:xfrm>
          <a:prstGeom prst="rect">
            <a:avLst/>
          </a:prstGeom>
          <a:solidFill>
            <a:srgbClr val="FBFAF7"/>
          </a:solidFill>
          <a:ln w="9525">
            <a:solidFill>
              <a:srgbClr val="D8D2C6"/>
            </a:solidFill>
            <a:prstDash val="solid"/>
          </a:ln>
        </p:spPr>
        <p:txBody>
          <a:bodyPr/>
          <a:lstStyle/>
          <a:p>
            <a:endParaRPr lang="en-US"/>
          </a:p>
        </p:txBody>
      </p:sp>
      <p:sp>
        <p:nvSpPr>
          <p:cNvPr id="75" name="Rectangle 74">
            <a:extLst>
              <a:ext uri="{FF2B5EF4-FFF2-40B4-BE49-F238E27FC236}">
                <a16:creationId xmlns:a16="http://schemas.microsoft.com/office/drawing/2014/main" id="{15232F22-38A5-41D3-A238-D1A12F7B06FC}"/>
              </a:ext>
            </a:extLst>
          </p:cNvPr>
          <p:cNvSpPr>
            <a:spLocks noGrp="1"/>
          </p:cNvSpPr>
          <p:nvPr/>
        </p:nvSpPr>
        <p:spPr>
          <a:xfrm>
            <a:off x="476250" y="3543300"/>
            <a:ext cx="30480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725" b="1">
                <a:solidFill>
                  <a:srgbClr val="18212B"/>
                </a:solidFill>
                <a:latin typeface="Aptos"/>
                <a:ea typeface="Aptos"/>
                <a:cs typeface="Aptos"/>
              </a:defRPr>
            </a:pPr>
            <a:r>
              <a:rPr sz="1725" b="1">
                <a:solidFill>
                  <a:srgbClr val="18212B"/>
                </a:solidFill>
                <a:latin typeface="Aptos"/>
                <a:ea typeface="Aptos"/>
                <a:cs typeface="Aptos"/>
              </a:rPr>
              <a:t>9</a:t>
            </a:r>
          </a:p>
        </p:txBody>
      </p:sp>
      <p:sp>
        <p:nvSpPr>
          <p:cNvPr id="76" name="Rectangle 75">
            <a:extLst>
              <a:ext uri="{FF2B5EF4-FFF2-40B4-BE49-F238E27FC236}">
                <a16:creationId xmlns:a16="http://schemas.microsoft.com/office/drawing/2014/main" id="{32144FC5-F9A4-4BDD-84BA-406E89620260}"/>
              </a:ext>
            </a:extLst>
          </p:cNvPr>
          <p:cNvSpPr>
            <a:spLocks noGrp="1"/>
          </p:cNvSpPr>
          <p:nvPr/>
        </p:nvSpPr>
        <p:spPr>
          <a:xfrm>
            <a:off x="857250" y="3467100"/>
            <a:ext cx="1409700" cy="2095500"/>
          </a:xfrm>
          <a:prstGeom prst="rect">
            <a:avLst/>
          </a:prstGeom>
          <a:solidFill>
            <a:srgbClr val="FFFFFF"/>
          </a:solidFill>
          <a:ln w="9525">
            <a:solidFill>
              <a:srgbClr val="D8D2C6"/>
            </a:solidFill>
            <a:prstDash val="solid"/>
          </a:ln>
        </p:spPr>
        <p:txBody>
          <a:bodyPr/>
          <a:lstStyle/>
          <a:p>
            <a:endParaRPr lang="en-US"/>
          </a:p>
        </p:txBody>
      </p:sp>
      <p:sp>
        <p:nvSpPr>
          <p:cNvPr id="77" name="Rectangle 76">
            <a:extLst>
              <a:ext uri="{FF2B5EF4-FFF2-40B4-BE49-F238E27FC236}">
                <a16:creationId xmlns:a16="http://schemas.microsoft.com/office/drawing/2014/main" id="{C3A0B982-C7D8-4504-83C0-DC5F71816F90}"/>
              </a:ext>
            </a:extLst>
          </p:cNvPr>
          <p:cNvSpPr>
            <a:spLocks noGrp="1"/>
          </p:cNvSpPr>
          <p:nvPr/>
        </p:nvSpPr>
        <p:spPr>
          <a:xfrm>
            <a:off x="933450" y="3543300"/>
            <a:ext cx="1257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065" b="1">
                <a:solidFill>
                  <a:srgbClr val="18212B"/>
                </a:solidFill>
                <a:latin typeface="Aptos"/>
                <a:ea typeface="Aptos"/>
                <a:cs typeface="Aptos"/>
              </a:defRPr>
            </a:pPr>
            <a:r>
              <a:rPr sz="1065" b="1">
                <a:solidFill>
                  <a:srgbClr val="18212B"/>
                </a:solidFill>
                <a:latin typeface="Aptos"/>
                <a:ea typeface="Aptos"/>
                <a:cs typeface="Aptos"/>
              </a:rPr>
              <a:t>Report, verify, and accept</a:t>
            </a:r>
          </a:p>
        </p:txBody>
      </p:sp>
      <p:sp>
        <p:nvSpPr>
          <p:cNvPr id="78" name="Rectangle 77">
            <a:extLst>
              <a:ext uri="{FF2B5EF4-FFF2-40B4-BE49-F238E27FC236}">
                <a16:creationId xmlns:a16="http://schemas.microsoft.com/office/drawing/2014/main" id="{BF9B8F59-CF5F-4789-8EBE-0A6E1F85A984}"/>
              </a:ext>
            </a:extLst>
          </p:cNvPr>
          <p:cNvSpPr>
            <a:spLocks noGrp="1"/>
          </p:cNvSpPr>
          <p:nvPr/>
        </p:nvSpPr>
        <p:spPr>
          <a:xfrm>
            <a:off x="2266950" y="3467100"/>
            <a:ext cx="2609850" cy="2095500"/>
          </a:xfrm>
          <a:prstGeom prst="rect">
            <a:avLst/>
          </a:prstGeom>
          <a:solidFill>
            <a:srgbClr val="FBFAF7"/>
          </a:solidFill>
          <a:ln w="9525">
            <a:solidFill>
              <a:srgbClr val="D8D2C6"/>
            </a:solidFill>
            <a:prstDash val="solid"/>
          </a:ln>
        </p:spPr>
        <p:txBody>
          <a:bodyPr/>
          <a:lstStyle/>
          <a:p>
            <a:endParaRPr lang="en-US"/>
          </a:p>
        </p:txBody>
      </p:sp>
      <p:sp>
        <p:nvSpPr>
          <p:cNvPr id="79" name="Rectangle 78">
            <a:extLst>
              <a:ext uri="{FF2B5EF4-FFF2-40B4-BE49-F238E27FC236}">
                <a16:creationId xmlns:a16="http://schemas.microsoft.com/office/drawing/2014/main" id="{1DC0FA28-D6AD-449B-AF50-947E95246AD0}"/>
              </a:ext>
            </a:extLst>
          </p:cNvPr>
          <p:cNvSpPr>
            <a:spLocks noGrp="1"/>
          </p:cNvSpPr>
          <p:nvPr/>
        </p:nvSpPr>
        <p:spPr>
          <a:xfrm>
            <a:off x="2343150" y="3543300"/>
            <a:ext cx="24574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ResearchSynthesizer, ReportAST, Verifier, VerifierLite, evaluate_final_closeout(), VerificationGate</a:t>
            </a:r>
          </a:p>
        </p:txBody>
      </p:sp>
      <p:sp>
        <p:nvSpPr>
          <p:cNvPr id="80" name="Rectangle 79">
            <a:extLst>
              <a:ext uri="{FF2B5EF4-FFF2-40B4-BE49-F238E27FC236}">
                <a16:creationId xmlns:a16="http://schemas.microsoft.com/office/drawing/2014/main" id="{FA005C6D-0FF8-44CB-A4A1-714A9A460EE4}"/>
              </a:ext>
            </a:extLst>
          </p:cNvPr>
          <p:cNvSpPr>
            <a:spLocks noGrp="1"/>
          </p:cNvSpPr>
          <p:nvPr/>
        </p:nvSpPr>
        <p:spPr>
          <a:xfrm>
            <a:off x="4876800" y="3467100"/>
            <a:ext cx="2324100" cy="2095500"/>
          </a:xfrm>
          <a:prstGeom prst="rect">
            <a:avLst/>
          </a:prstGeom>
          <a:solidFill>
            <a:srgbClr val="FFFFFF"/>
          </a:solidFill>
          <a:ln w="9525">
            <a:solidFill>
              <a:srgbClr val="D8D2C6"/>
            </a:solidFill>
            <a:prstDash val="solid"/>
          </a:ln>
        </p:spPr>
        <p:txBody>
          <a:bodyPr/>
          <a:lstStyle/>
          <a:p>
            <a:endParaRPr lang="en-US"/>
          </a:p>
        </p:txBody>
      </p:sp>
      <p:sp>
        <p:nvSpPr>
          <p:cNvPr id="81" name="Rectangle 80">
            <a:extLst>
              <a:ext uri="{FF2B5EF4-FFF2-40B4-BE49-F238E27FC236}">
                <a16:creationId xmlns:a16="http://schemas.microsoft.com/office/drawing/2014/main" id="{A1908DC2-FFEC-439D-87C1-64CE89AC379D}"/>
              </a:ext>
            </a:extLst>
          </p:cNvPr>
          <p:cNvSpPr>
            <a:spLocks noGrp="1"/>
          </p:cNvSpPr>
          <p:nvPr/>
        </p:nvSpPr>
        <p:spPr>
          <a:xfrm>
            <a:off x="4953000" y="3543300"/>
            <a:ext cx="21717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Phase0VerificationSummary, report template, golden fixture assertions</a:t>
            </a:r>
          </a:p>
        </p:txBody>
      </p:sp>
      <p:sp>
        <p:nvSpPr>
          <p:cNvPr id="82" name="Rectangle 81">
            <a:extLst>
              <a:ext uri="{FF2B5EF4-FFF2-40B4-BE49-F238E27FC236}">
                <a16:creationId xmlns:a16="http://schemas.microsoft.com/office/drawing/2014/main" id="{8D3A7098-008D-4ED9-A202-9D2C7ECD3F79}"/>
              </a:ext>
            </a:extLst>
          </p:cNvPr>
          <p:cNvSpPr>
            <a:spLocks noGrp="1"/>
          </p:cNvSpPr>
          <p:nvPr/>
        </p:nvSpPr>
        <p:spPr>
          <a:xfrm>
            <a:off x="7200900" y="3467100"/>
            <a:ext cx="2152650" cy="2095500"/>
          </a:xfrm>
          <a:prstGeom prst="rect">
            <a:avLst/>
          </a:prstGeom>
          <a:solidFill>
            <a:srgbClr val="FBFAF7"/>
          </a:solidFill>
          <a:ln w="9525">
            <a:solidFill>
              <a:srgbClr val="D8D2C6"/>
            </a:solidFill>
            <a:prstDash val="solid"/>
          </a:ln>
        </p:spPr>
        <p:txBody>
          <a:bodyPr/>
          <a:lstStyle/>
          <a:p>
            <a:endParaRPr lang="en-US"/>
          </a:p>
        </p:txBody>
      </p:sp>
      <p:sp>
        <p:nvSpPr>
          <p:cNvPr id="83" name="Rectangle 82">
            <a:extLst>
              <a:ext uri="{FF2B5EF4-FFF2-40B4-BE49-F238E27FC236}">
                <a16:creationId xmlns:a16="http://schemas.microsoft.com/office/drawing/2014/main" id="{59DB7479-10DD-4017-A8E2-5CC4942A1D74}"/>
              </a:ext>
            </a:extLst>
          </p:cNvPr>
          <p:cNvSpPr>
            <a:spLocks noGrp="1"/>
          </p:cNvSpPr>
          <p:nvPr/>
        </p:nvSpPr>
        <p:spPr>
          <a:xfrm>
            <a:off x="7277100" y="3543300"/>
            <a:ext cx="200025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phase0_verification_report.md, phase0_verification_summary.json, eval_json, accepted trace</a:t>
            </a:r>
          </a:p>
        </p:txBody>
      </p:sp>
      <p:sp>
        <p:nvSpPr>
          <p:cNvPr id="84" name="Rectangle 83">
            <a:extLst>
              <a:ext uri="{FF2B5EF4-FFF2-40B4-BE49-F238E27FC236}">
                <a16:creationId xmlns:a16="http://schemas.microsoft.com/office/drawing/2014/main" id="{5AA2D5CF-866F-45EC-B17C-F32FFEEBD9FB}"/>
              </a:ext>
            </a:extLst>
          </p:cNvPr>
          <p:cNvSpPr>
            <a:spLocks noGrp="1"/>
          </p:cNvSpPr>
          <p:nvPr/>
        </p:nvSpPr>
        <p:spPr>
          <a:xfrm>
            <a:off x="9353550" y="3467100"/>
            <a:ext cx="2400300" cy="2095500"/>
          </a:xfrm>
          <a:prstGeom prst="rect">
            <a:avLst/>
          </a:prstGeom>
          <a:solidFill>
            <a:srgbClr val="FFFFFF"/>
          </a:solidFill>
          <a:ln w="9525">
            <a:solidFill>
              <a:srgbClr val="D8D2C6"/>
            </a:solidFill>
            <a:prstDash val="solid"/>
          </a:ln>
        </p:spPr>
        <p:txBody>
          <a:bodyPr/>
          <a:lstStyle/>
          <a:p>
            <a:endParaRPr lang="en-US"/>
          </a:p>
        </p:txBody>
      </p:sp>
      <p:sp>
        <p:nvSpPr>
          <p:cNvPr id="85" name="Rectangle 84">
            <a:extLst>
              <a:ext uri="{FF2B5EF4-FFF2-40B4-BE49-F238E27FC236}">
                <a16:creationId xmlns:a16="http://schemas.microsoft.com/office/drawing/2014/main" id="{7C3675AF-3C8A-41DB-994F-C4AB24E2D2FE}"/>
              </a:ext>
            </a:extLst>
          </p:cNvPr>
          <p:cNvSpPr>
            <a:spLocks noGrp="1"/>
          </p:cNvSpPr>
          <p:nvPr/>
        </p:nvSpPr>
        <p:spPr>
          <a:xfrm>
            <a:off x="9429750" y="3543300"/>
            <a:ext cx="22479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832" b="0">
                <a:solidFill>
                  <a:srgbClr val="18212B"/>
                </a:solidFill>
                <a:latin typeface="Aptos"/>
                <a:ea typeface="Aptos"/>
                <a:cs typeface="Aptos"/>
              </a:defRPr>
            </a:pPr>
            <a:r>
              <a:rPr sz="832" b="0">
                <a:solidFill>
                  <a:srgbClr val="18212B"/>
                </a:solidFill>
                <a:latin typeface="Aptos"/>
                <a:ea typeface="Aptos"/>
                <a:cs typeface="Aptos"/>
              </a:rPr>
              <a:t>Verifier rejects unsupported paper-level status or readiness-as-reproduction errors.</a:t>
            </a:r>
          </a:p>
        </p:txBody>
      </p:sp>
      <p:sp>
        <p:nvSpPr>
          <p:cNvPr id="86" name="Rectangle 85">
            <a:extLst>
              <a:ext uri="{FF2B5EF4-FFF2-40B4-BE49-F238E27FC236}">
                <a16:creationId xmlns:a16="http://schemas.microsoft.com/office/drawing/2014/main" id="{90DA6749-4D8C-4E97-AF2F-51C26545806E}"/>
              </a:ext>
            </a:extLst>
          </p:cNvPr>
          <p:cNvSpPr>
            <a:spLocks noGrp="1"/>
          </p:cNvSpPr>
          <p:nvPr/>
        </p:nvSpPr>
        <p:spPr>
          <a:xfrm>
            <a:off x="400050" y="571500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5B6470"/>
                </a:solidFill>
                <a:latin typeface="Aptos Mono"/>
                <a:ea typeface="Aptos Mono"/>
                <a:cs typeface="Aptos Mono"/>
              </a:defRPr>
            </a:pPr>
            <a:r>
              <a:rPr sz="638" b="0">
                <a:solidFill>
                  <a:srgbClr val="5B6470"/>
                </a:solidFill>
                <a:latin typeface="Aptos Mono"/>
                <a:ea typeface="Aptos Mono"/>
                <a:cs typeface="Aptos Mono"/>
              </a:rPr>
              <a:t>Source row: AI4Research-B/migration/adapt_skeleton.md</a:t>
            </a:r>
          </a:p>
        </p:txBody>
      </p:sp>
    </p:spTree>
    <p:extLst>
      <p:ext uri="{BB962C8B-B14F-4D97-AF65-F5344CB8AC3E}">
        <p14:creationId xmlns:p14="http://schemas.microsoft.com/office/powerpoint/2010/main" val="1556177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A8616367-1ED8-40A7-9D97-0F6205BD9E22}"/>
              </a:ext>
            </a:extLst>
          </p:cNvPr>
          <p:cNvSpPr>
            <a:spLocks noGrp="1"/>
          </p:cNvSpPr>
          <p:nvPr/>
        </p:nvSpPr>
        <p:spPr>
          <a:xfrm>
            <a:off x="0" y="0"/>
            <a:ext cx="12192000" cy="6858000"/>
          </a:xfrm>
          <a:prstGeom prst="rect">
            <a:avLst/>
          </a:prstGeom>
          <a:solidFill>
            <a:srgbClr val="F7F5EF"/>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C9740EF-19AB-408D-9789-41D38BE85A83}"/>
              </a:ext>
            </a:extLst>
          </p:cNvPr>
          <p:cNvSpPr>
            <a:spLocks noGrp="1"/>
          </p:cNvSpPr>
          <p:nvPr/>
        </p:nvSpPr>
        <p:spPr>
          <a:xfrm>
            <a:off x="0" y="0"/>
            <a:ext cx="171450" cy="6858000"/>
          </a:xfrm>
          <a:prstGeom prst="rect">
            <a:avLst/>
          </a:prstGeom>
          <a:solidFill>
            <a:srgbClr val="007F68"/>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CC2609A0-A375-45DC-A4A7-7BCA5C9FA8C6}"/>
              </a:ext>
            </a:extLst>
          </p:cNvPr>
          <p:cNvSpPr>
            <a:spLocks noGrp="1"/>
          </p:cNvSpPr>
          <p:nvPr/>
        </p:nvSpPr>
        <p:spPr>
          <a:xfrm>
            <a:off x="171450" y="0"/>
            <a:ext cx="47625" cy="6858000"/>
          </a:xfrm>
          <a:prstGeom prst="rect">
            <a:avLst/>
          </a:prstGeom>
          <a:solidFill>
            <a:srgbClr val="C47A2C"/>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9BA9D624-D697-45A8-B989-70C7ED0B7DA1}"/>
              </a:ext>
            </a:extLst>
          </p:cNvPr>
          <p:cNvSpPr>
            <a:spLocks noGrp="1"/>
          </p:cNvSpPr>
          <p:nvPr/>
        </p:nvSpPr>
        <p:spPr>
          <a:xfrm>
            <a:off x="609600" y="323850"/>
            <a:ext cx="238125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00" b="1">
                <a:solidFill>
                  <a:srgbClr val="007F68"/>
                </a:solidFill>
                <a:latin typeface="Aptos Mono"/>
                <a:ea typeface="Aptos Mono"/>
                <a:cs typeface="Aptos Mono"/>
              </a:defRPr>
            </a:pPr>
            <a:r>
              <a:rPr sz="900" b="1">
                <a:solidFill>
                  <a:srgbClr val="007F68"/>
                </a:solidFill>
                <a:latin typeface="Aptos Mono"/>
                <a:ea typeface="Aptos Mono"/>
                <a:cs typeface="Aptos Mono"/>
              </a:rPr>
              <a:t>BOUNDARY</a:t>
            </a:r>
          </a:p>
        </p:txBody>
      </p:sp>
      <p:sp>
        <p:nvSpPr>
          <p:cNvPr id="5" name="Rectangle 4">
            <a:extLst>
              <a:ext uri="{FF2B5EF4-FFF2-40B4-BE49-F238E27FC236}">
                <a16:creationId xmlns:a16="http://schemas.microsoft.com/office/drawing/2014/main" id="{EAD9E8C0-9EB5-4A48-86AE-4C063A5EB5F9}"/>
              </a:ext>
            </a:extLst>
          </p:cNvPr>
          <p:cNvSpPr>
            <a:spLocks noGrp="1"/>
          </p:cNvSpPr>
          <p:nvPr/>
        </p:nvSpPr>
        <p:spPr>
          <a:xfrm>
            <a:off x="609600" y="590550"/>
            <a:ext cx="8572500" cy="647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8212B"/>
                </a:solidFill>
                <a:latin typeface="Aptos Display"/>
                <a:ea typeface="Aptos Display"/>
                <a:cs typeface="Aptos Display"/>
              </a:defRPr>
            </a:pPr>
            <a:r>
              <a:rPr sz="2550" b="1">
                <a:solidFill>
                  <a:srgbClr val="18212B"/>
                </a:solidFill>
                <a:latin typeface="Aptos Display"/>
                <a:ea typeface="Aptos Display"/>
                <a:cs typeface="Aptos Display"/>
              </a:rPr>
              <a:t>Reuse the Solar runtime; add only the Phase 0 domain layer</a:t>
            </a:r>
          </a:p>
        </p:txBody>
      </p:sp>
      <p:sp>
        <p:nvSpPr>
          <p:cNvPr id="6" name="Rectangle 5">
            <a:extLst>
              <a:ext uri="{FF2B5EF4-FFF2-40B4-BE49-F238E27FC236}">
                <a16:creationId xmlns:a16="http://schemas.microsoft.com/office/drawing/2014/main" id="{F300A93D-AC43-442D-AC2A-45D6560E5421}"/>
              </a:ext>
            </a:extLst>
          </p:cNvPr>
          <p:cNvSpPr>
            <a:spLocks noGrp="1"/>
          </p:cNvSpPr>
          <p:nvPr/>
        </p:nvSpPr>
        <p:spPr>
          <a:xfrm>
            <a:off x="609600" y="1333500"/>
            <a:ext cx="10096500" cy="11430"/>
          </a:xfrm>
          <a:prstGeom prst="rect">
            <a:avLst/>
          </a:prstGeom>
          <a:solidFill>
            <a:srgbClr val="D8D2C6"/>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CF74E236-633C-4EA4-87A4-7AA558A90065}"/>
              </a:ext>
            </a:extLst>
          </p:cNvPr>
          <p:cNvSpPr>
            <a:spLocks noGrp="1"/>
          </p:cNvSpPr>
          <p:nvPr/>
        </p:nvSpPr>
        <p:spPr>
          <a:xfrm>
            <a:off x="11125200" y="381000"/>
            <a:ext cx="457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050" b="0">
                <a:solidFill>
                  <a:srgbClr val="5B6470"/>
                </a:solidFill>
                <a:latin typeface="Aptos Mono"/>
                <a:ea typeface="Aptos Mono"/>
                <a:cs typeface="Aptos Mono"/>
              </a:defRPr>
            </a:pPr>
            <a:r>
              <a:rPr sz="1050" b="0">
                <a:solidFill>
                  <a:srgbClr val="5B6470"/>
                </a:solidFill>
                <a:latin typeface="Aptos Mono"/>
                <a:ea typeface="Aptos Mono"/>
                <a:cs typeface="Aptos Mono"/>
              </a:rPr>
              <a:t>15</a:t>
            </a:r>
          </a:p>
        </p:txBody>
      </p:sp>
      <p:sp>
        <p:nvSpPr>
          <p:cNvPr id="8" name="Rectangle 7">
            <a:extLst>
              <a:ext uri="{FF2B5EF4-FFF2-40B4-BE49-F238E27FC236}">
                <a16:creationId xmlns:a16="http://schemas.microsoft.com/office/drawing/2014/main" id="{98FA8A42-7811-4B13-BC44-0F610780B111}"/>
              </a:ext>
            </a:extLst>
          </p:cNvPr>
          <p:cNvSpPr>
            <a:spLocks noGrp="1"/>
          </p:cNvSpPr>
          <p:nvPr/>
        </p:nvSpPr>
        <p:spPr>
          <a:xfrm>
            <a:off x="762000" y="1714500"/>
            <a:ext cx="1714500" cy="457200"/>
          </a:xfrm>
          <a:prstGeom prst="rect">
            <a:avLst/>
          </a:prstGeom>
          <a:solidFill>
            <a:srgbClr val="007F68"/>
          </a:solidFill>
          <a:ln w="9525">
            <a:solidFill>
              <a:srgbClr val="007F68"/>
            </a:solidFill>
            <a:prstDash val="solid"/>
          </a:ln>
        </p:spPr>
        <p:txBody>
          <a:bodyPr/>
          <a:lstStyle/>
          <a:p>
            <a:endParaRPr lang="en-US"/>
          </a:p>
        </p:txBody>
      </p:sp>
      <p:sp>
        <p:nvSpPr>
          <p:cNvPr id="9" name="Rectangle 8">
            <a:extLst>
              <a:ext uri="{FF2B5EF4-FFF2-40B4-BE49-F238E27FC236}">
                <a16:creationId xmlns:a16="http://schemas.microsoft.com/office/drawing/2014/main" id="{4387B887-BFAC-40BA-A8AF-B2208F5C484D}"/>
              </a:ext>
            </a:extLst>
          </p:cNvPr>
          <p:cNvSpPr>
            <a:spLocks noGrp="1"/>
          </p:cNvSpPr>
          <p:nvPr/>
        </p:nvSpPr>
        <p:spPr>
          <a:xfrm>
            <a:off x="895350" y="1847850"/>
            <a:ext cx="1447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Category</a:t>
            </a:r>
          </a:p>
        </p:txBody>
      </p:sp>
      <p:sp>
        <p:nvSpPr>
          <p:cNvPr id="10" name="Rectangle 9">
            <a:extLst>
              <a:ext uri="{FF2B5EF4-FFF2-40B4-BE49-F238E27FC236}">
                <a16:creationId xmlns:a16="http://schemas.microsoft.com/office/drawing/2014/main" id="{41FAD702-483A-4D17-B17B-04929EDBE13F}"/>
              </a:ext>
            </a:extLst>
          </p:cNvPr>
          <p:cNvSpPr>
            <a:spLocks noGrp="1"/>
          </p:cNvSpPr>
          <p:nvPr/>
        </p:nvSpPr>
        <p:spPr>
          <a:xfrm>
            <a:off x="2476500" y="1714500"/>
            <a:ext cx="4381500" cy="457200"/>
          </a:xfrm>
          <a:prstGeom prst="rect">
            <a:avLst/>
          </a:prstGeom>
          <a:solidFill>
            <a:srgbClr val="007F68"/>
          </a:solidFill>
          <a:ln w="9525">
            <a:solidFill>
              <a:srgbClr val="007F68"/>
            </a:solidFill>
            <a:prstDash val="solid"/>
          </a:ln>
        </p:spPr>
        <p:txBody>
          <a:bodyPr/>
          <a:lstStyle/>
          <a:p>
            <a:endParaRPr lang="en-US"/>
          </a:p>
        </p:txBody>
      </p:sp>
      <p:sp>
        <p:nvSpPr>
          <p:cNvPr id="11" name="Rectangle 10">
            <a:extLst>
              <a:ext uri="{FF2B5EF4-FFF2-40B4-BE49-F238E27FC236}">
                <a16:creationId xmlns:a16="http://schemas.microsoft.com/office/drawing/2014/main" id="{70EE3BBB-B0A8-4700-A4EB-DE88291EAF47}"/>
              </a:ext>
            </a:extLst>
          </p:cNvPr>
          <p:cNvSpPr>
            <a:spLocks noGrp="1"/>
          </p:cNvSpPr>
          <p:nvPr/>
        </p:nvSpPr>
        <p:spPr>
          <a:xfrm>
            <a:off x="2609850" y="1847850"/>
            <a:ext cx="41148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Reuse from Solar</a:t>
            </a:r>
          </a:p>
        </p:txBody>
      </p:sp>
      <p:sp>
        <p:nvSpPr>
          <p:cNvPr id="12" name="Rectangle 11">
            <a:extLst>
              <a:ext uri="{FF2B5EF4-FFF2-40B4-BE49-F238E27FC236}">
                <a16:creationId xmlns:a16="http://schemas.microsoft.com/office/drawing/2014/main" id="{7BBD210B-E9D1-41F4-84B0-F358E18811D6}"/>
              </a:ext>
            </a:extLst>
          </p:cNvPr>
          <p:cNvSpPr>
            <a:spLocks noGrp="1"/>
          </p:cNvSpPr>
          <p:nvPr/>
        </p:nvSpPr>
        <p:spPr>
          <a:xfrm>
            <a:off x="6858000" y="1714500"/>
            <a:ext cx="4095750" cy="457200"/>
          </a:xfrm>
          <a:prstGeom prst="rect">
            <a:avLst/>
          </a:prstGeom>
          <a:solidFill>
            <a:srgbClr val="007F68"/>
          </a:solidFill>
          <a:ln w="9525">
            <a:solidFill>
              <a:srgbClr val="007F68"/>
            </a:solidFill>
            <a:prstDash val="solid"/>
          </a:ln>
        </p:spPr>
        <p:txBody>
          <a:bodyPr/>
          <a:lstStyle/>
          <a:p>
            <a:endParaRPr lang="en-US"/>
          </a:p>
        </p:txBody>
      </p:sp>
      <p:sp>
        <p:nvSpPr>
          <p:cNvPr id="13" name="Rectangle 12">
            <a:extLst>
              <a:ext uri="{FF2B5EF4-FFF2-40B4-BE49-F238E27FC236}">
                <a16:creationId xmlns:a16="http://schemas.microsoft.com/office/drawing/2014/main" id="{4BB2DF7D-8C19-4823-AAD8-BEF2DE0A16FE}"/>
              </a:ext>
            </a:extLst>
          </p:cNvPr>
          <p:cNvSpPr>
            <a:spLocks noGrp="1"/>
          </p:cNvSpPr>
          <p:nvPr/>
        </p:nvSpPr>
        <p:spPr>
          <a:xfrm>
            <a:off x="6991350" y="1847850"/>
            <a:ext cx="38290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FFFFFF"/>
                </a:solidFill>
                <a:latin typeface="Aptos"/>
                <a:ea typeface="Aptos"/>
                <a:cs typeface="Aptos"/>
              </a:defRPr>
            </a:pPr>
            <a:r>
              <a:rPr sz="1200" b="1">
                <a:solidFill>
                  <a:srgbClr val="FFFFFF"/>
                </a:solidFill>
                <a:latin typeface="Aptos"/>
                <a:ea typeface="Aptos"/>
                <a:cs typeface="Aptos"/>
              </a:rPr>
              <a:t>Add for Phase 0</a:t>
            </a:r>
          </a:p>
        </p:txBody>
      </p:sp>
      <p:sp>
        <p:nvSpPr>
          <p:cNvPr id="14" name="Rectangle 13">
            <a:extLst>
              <a:ext uri="{FF2B5EF4-FFF2-40B4-BE49-F238E27FC236}">
                <a16:creationId xmlns:a16="http://schemas.microsoft.com/office/drawing/2014/main" id="{CB3572DB-9D16-459D-863F-FA98F2DAD32B}"/>
              </a:ext>
            </a:extLst>
          </p:cNvPr>
          <p:cNvSpPr>
            <a:spLocks noGrp="1"/>
          </p:cNvSpPr>
          <p:nvPr/>
        </p:nvSpPr>
        <p:spPr>
          <a:xfrm>
            <a:off x="762000" y="2171700"/>
            <a:ext cx="1714500" cy="666750"/>
          </a:xfrm>
          <a:prstGeom prst="rect">
            <a:avLst/>
          </a:prstGeom>
          <a:solidFill>
            <a:srgbClr val="FBFAF7"/>
          </a:solidFill>
          <a:ln w="9525">
            <a:solidFill>
              <a:srgbClr val="D8D2C6"/>
            </a:solidFill>
            <a:prstDash val="solid"/>
          </a:ln>
        </p:spPr>
        <p:txBody>
          <a:bodyPr/>
          <a:lstStyle/>
          <a:p>
            <a:endParaRPr lang="en-US"/>
          </a:p>
        </p:txBody>
      </p:sp>
      <p:sp>
        <p:nvSpPr>
          <p:cNvPr id="15" name="Rectangle 14">
            <a:extLst>
              <a:ext uri="{FF2B5EF4-FFF2-40B4-BE49-F238E27FC236}">
                <a16:creationId xmlns:a16="http://schemas.microsoft.com/office/drawing/2014/main" id="{17A7B35B-E84F-4034-B6C5-E8D3C07AFF1B}"/>
              </a:ext>
            </a:extLst>
          </p:cNvPr>
          <p:cNvSpPr>
            <a:spLocks noGrp="1"/>
          </p:cNvSpPr>
          <p:nvPr/>
        </p:nvSpPr>
        <p:spPr>
          <a:xfrm>
            <a:off x="895350" y="2314575"/>
            <a:ext cx="1447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212B"/>
                </a:solidFill>
                <a:latin typeface="Aptos"/>
                <a:ea typeface="Aptos"/>
                <a:cs typeface="Aptos"/>
              </a:defRPr>
            </a:pPr>
            <a:r>
              <a:rPr sz="1350" b="1">
                <a:solidFill>
                  <a:srgbClr val="18212B"/>
                </a:solidFill>
                <a:latin typeface="Aptos"/>
                <a:ea typeface="Aptos"/>
                <a:cs typeface="Aptos"/>
              </a:rPr>
              <a:t>Runtime</a:t>
            </a:r>
          </a:p>
        </p:txBody>
      </p:sp>
      <p:sp>
        <p:nvSpPr>
          <p:cNvPr id="16" name="Rectangle 15">
            <a:extLst>
              <a:ext uri="{FF2B5EF4-FFF2-40B4-BE49-F238E27FC236}">
                <a16:creationId xmlns:a16="http://schemas.microsoft.com/office/drawing/2014/main" id="{2116626E-346E-467A-AA76-C45E8DB1986B}"/>
              </a:ext>
            </a:extLst>
          </p:cNvPr>
          <p:cNvSpPr>
            <a:spLocks noGrp="1"/>
          </p:cNvSpPr>
          <p:nvPr/>
        </p:nvSpPr>
        <p:spPr>
          <a:xfrm>
            <a:off x="2476500" y="2171700"/>
            <a:ext cx="4381500" cy="666750"/>
          </a:xfrm>
          <a:prstGeom prst="rect">
            <a:avLst/>
          </a:prstGeom>
          <a:solidFill>
            <a:srgbClr val="FBFAF7"/>
          </a:solidFill>
          <a:ln w="9525">
            <a:solidFill>
              <a:srgbClr val="D8D2C6"/>
            </a:solidFill>
            <a:prstDash val="solid"/>
          </a:ln>
        </p:spPr>
        <p:txBody>
          <a:bodyPr/>
          <a:lstStyle/>
          <a:p>
            <a:endParaRPr lang="en-US"/>
          </a:p>
        </p:txBody>
      </p:sp>
      <p:sp>
        <p:nvSpPr>
          <p:cNvPr id="17" name="Rectangle 16">
            <a:extLst>
              <a:ext uri="{FF2B5EF4-FFF2-40B4-BE49-F238E27FC236}">
                <a16:creationId xmlns:a16="http://schemas.microsoft.com/office/drawing/2014/main" id="{84E69639-9E7C-44D9-9B89-C044E62B4BF1}"/>
              </a:ext>
            </a:extLst>
          </p:cNvPr>
          <p:cNvSpPr>
            <a:spLocks noGrp="1"/>
          </p:cNvSpPr>
          <p:nvPr/>
        </p:nvSpPr>
        <p:spPr>
          <a:xfrm>
            <a:off x="2609850" y="2314575"/>
            <a:ext cx="4114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Harness intake, routing, leases, inbox/result files</a:t>
            </a:r>
          </a:p>
        </p:txBody>
      </p:sp>
      <p:sp>
        <p:nvSpPr>
          <p:cNvPr id="18" name="Rectangle 17">
            <a:extLst>
              <a:ext uri="{FF2B5EF4-FFF2-40B4-BE49-F238E27FC236}">
                <a16:creationId xmlns:a16="http://schemas.microsoft.com/office/drawing/2014/main" id="{C1BEB699-4C9E-4C61-82FA-6F212F24F1BD}"/>
              </a:ext>
            </a:extLst>
          </p:cNvPr>
          <p:cNvSpPr>
            <a:spLocks noGrp="1"/>
          </p:cNvSpPr>
          <p:nvPr/>
        </p:nvSpPr>
        <p:spPr>
          <a:xfrm>
            <a:off x="6858000" y="2171700"/>
            <a:ext cx="4095750" cy="666750"/>
          </a:xfrm>
          <a:prstGeom prst="rect">
            <a:avLst/>
          </a:prstGeom>
          <a:solidFill>
            <a:srgbClr val="FBFAF7"/>
          </a:solidFill>
          <a:ln w="9525">
            <a:solidFill>
              <a:srgbClr val="D8D2C6"/>
            </a:solidFill>
            <a:prstDash val="solid"/>
          </a:ln>
        </p:spPr>
        <p:txBody>
          <a:bodyPr/>
          <a:lstStyle/>
          <a:p>
            <a:endParaRPr lang="en-US"/>
          </a:p>
        </p:txBody>
      </p:sp>
      <p:sp>
        <p:nvSpPr>
          <p:cNvPr id="19" name="Rectangle 18">
            <a:extLst>
              <a:ext uri="{FF2B5EF4-FFF2-40B4-BE49-F238E27FC236}">
                <a16:creationId xmlns:a16="http://schemas.microsoft.com/office/drawing/2014/main" id="{4EDAF43C-718B-44EB-888E-A091B1A6101E}"/>
              </a:ext>
            </a:extLst>
          </p:cNvPr>
          <p:cNvSpPr>
            <a:spLocks noGrp="1"/>
          </p:cNvSpPr>
          <p:nvPr/>
        </p:nvSpPr>
        <p:spPr>
          <a:xfrm>
            <a:off x="6991350" y="2314575"/>
            <a:ext cx="38290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Phase 0 task envelope fields</a:t>
            </a:r>
          </a:p>
        </p:txBody>
      </p:sp>
      <p:sp>
        <p:nvSpPr>
          <p:cNvPr id="20" name="Rectangle 19">
            <a:extLst>
              <a:ext uri="{FF2B5EF4-FFF2-40B4-BE49-F238E27FC236}">
                <a16:creationId xmlns:a16="http://schemas.microsoft.com/office/drawing/2014/main" id="{BFB17444-989E-4849-A856-5EA22BBBDD3B}"/>
              </a:ext>
            </a:extLst>
          </p:cNvPr>
          <p:cNvSpPr>
            <a:spLocks noGrp="1"/>
          </p:cNvSpPr>
          <p:nvPr/>
        </p:nvSpPr>
        <p:spPr>
          <a:xfrm>
            <a:off x="762000" y="2838450"/>
            <a:ext cx="1714500" cy="666750"/>
          </a:xfrm>
          <a:prstGeom prst="rect">
            <a:avLst/>
          </a:prstGeom>
          <a:solidFill>
            <a:srgbClr val="FFFFFF"/>
          </a:solidFill>
          <a:ln w="9525">
            <a:solidFill>
              <a:srgbClr val="D8D2C6"/>
            </a:solidFill>
            <a:prstDash val="solid"/>
          </a:ln>
        </p:spPr>
        <p:txBody>
          <a:bodyPr/>
          <a:lstStyle/>
          <a:p>
            <a:endParaRPr lang="en-US"/>
          </a:p>
        </p:txBody>
      </p:sp>
      <p:sp>
        <p:nvSpPr>
          <p:cNvPr id="21" name="Rectangle 20">
            <a:extLst>
              <a:ext uri="{FF2B5EF4-FFF2-40B4-BE49-F238E27FC236}">
                <a16:creationId xmlns:a16="http://schemas.microsoft.com/office/drawing/2014/main" id="{CA6D2A50-017A-4868-92E5-D3813BAC8749}"/>
              </a:ext>
            </a:extLst>
          </p:cNvPr>
          <p:cNvSpPr>
            <a:spLocks noGrp="1"/>
          </p:cNvSpPr>
          <p:nvPr/>
        </p:nvSpPr>
        <p:spPr>
          <a:xfrm>
            <a:off x="895350" y="2981325"/>
            <a:ext cx="1447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212B"/>
                </a:solidFill>
                <a:latin typeface="Aptos"/>
                <a:ea typeface="Aptos"/>
                <a:cs typeface="Aptos"/>
              </a:defRPr>
            </a:pPr>
            <a:r>
              <a:rPr sz="1350" b="1">
                <a:solidFill>
                  <a:srgbClr val="18212B"/>
                </a:solidFill>
                <a:latin typeface="Aptos"/>
                <a:ea typeface="Aptos"/>
                <a:cs typeface="Aptos"/>
              </a:rPr>
              <a:t>Operators</a:t>
            </a:r>
          </a:p>
        </p:txBody>
      </p:sp>
      <p:sp>
        <p:nvSpPr>
          <p:cNvPr id="22" name="Rectangle 21">
            <a:extLst>
              <a:ext uri="{FF2B5EF4-FFF2-40B4-BE49-F238E27FC236}">
                <a16:creationId xmlns:a16="http://schemas.microsoft.com/office/drawing/2014/main" id="{3521D092-09DB-47DA-AEE4-6249C25C5250}"/>
              </a:ext>
            </a:extLst>
          </p:cNvPr>
          <p:cNvSpPr>
            <a:spLocks noGrp="1"/>
          </p:cNvSpPr>
          <p:nvPr/>
        </p:nvSpPr>
        <p:spPr>
          <a:xfrm>
            <a:off x="2476500" y="2838450"/>
            <a:ext cx="4381500" cy="666750"/>
          </a:xfrm>
          <a:prstGeom prst="rect">
            <a:avLst/>
          </a:prstGeom>
          <a:solidFill>
            <a:srgbClr val="FFFFFF"/>
          </a:solidFill>
          <a:ln w="9525">
            <a:solidFill>
              <a:srgbClr val="D8D2C6"/>
            </a:solidFill>
            <a:prstDash val="solid"/>
          </a:ln>
        </p:spPr>
        <p:txBody>
          <a:bodyPr/>
          <a:lstStyle/>
          <a:p>
            <a:endParaRPr lang="en-US"/>
          </a:p>
        </p:txBody>
      </p:sp>
      <p:sp>
        <p:nvSpPr>
          <p:cNvPr id="23" name="Rectangle 22">
            <a:extLst>
              <a:ext uri="{FF2B5EF4-FFF2-40B4-BE49-F238E27FC236}">
                <a16:creationId xmlns:a16="http://schemas.microsoft.com/office/drawing/2014/main" id="{FBE03E65-2417-438F-B64F-E49901F45312}"/>
              </a:ext>
            </a:extLst>
          </p:cNvPr>
          <p:cNvSpPr>
            <a:spLocks noGrp="1"/>
          </p:cNvSpPr>
          <p:nvPr/>
        </p:nvSpPr>
        <p:spPr>
          <a:xfrm>
            <a:off x="2609850" y="2981325"/>
            <a:ext cx="4114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Existing physical operators, BenchmarkRunner, Verifier</a:t>
            </a:r>
          </a:p>
        </p:txBody>
      </p:sp>
      <p:sp>
        <p:nvSpPr>
          <p:cNvPr id="24" name="Rectangle 23">
            <a:extLst>
              <a:ext uri="{FF2B5EF4-FFF2-40B4-BE49-F238E27FC236}">
                <a16:creationId xmlns:a16="http://schemas.microsoft.com/office/drawing/2014/main" id="{2DC807C2-E66F-4D1E-AF32-D42326C58961}"/>
              </a:ext>
            </a:extLst>
          </p:cNvPr>
          <p:cNvSpPr>
            <a:spLocks noGrp="1"/>
          </p:cNvSpPr>
          <p:nvPr/>
        </p:nvSpPr>
        <p:spPr>
          <a:xfrm>
            <a:off x="6858000" y="2838450"/>
            <a:ext cx="4095750" cy="666750"/>
          </a:xfrm>
          <a:prstGeom prst="rect">
            <a:avLst/>
          </a:prstGeom>
          <a:solidFill>
            <a:srgbClr val="FFFFFF"/>
          </a:solidFill>
          <a:ln w="9525">
            <a:solidFill>
              <a:srgbClr val="D8D2C6"/>
            </a:solidFill>
            <a:prstDash val="solid"/>
          </a:ln>
        </p:spPr>
        <p:txBody>
          <a:bodyPr/>
          <a:lstStyle/>
          <a:p>
            <a:endParaRPr lang="en-US"/>
          </a:p>
        </p:txBody>
      </p:sp>
      <p:sp>
        <p:nvSpPr>
          <p:cNvPr id="25" name="Rectangle 24">
            <a:extLst>
              <a:ext uri="{FF2B5EF4-FFF2-40B4-BE49-F238E27FC236}">
                <a16:creationId xmlns:a16="http://schemas.microsoft.com/office/drawing/2014/main" id="{861075B1-C3E4-4A45-897A-6D0DEE6EC8D3}"/>
              </a:ext>
            </a:extLst>
          </p:cNvPr>
          <p:cNvSpPr>
            <a:spLocks noGrp="1"/>
          </p:cNvSpPr>
          <p:nvPr/>
        </p:nvSpPr>
        <p:spPr>
          <a:xfrm>
            <a:off x="6991350" y="2981325"/>
            <a:ext cx="38290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ResearchClaimVerifier logical operator</a:t>
            </a:r>
          </a:p>
        </p:txBody>
      </p:sp>
      <p:sp>
        <p:nvSpPr>
          <p:cNvPr id="26" name="Rectangle 25">
            <a:extLst>
              <a:ext uri="{FF2B5EF4-FFF2-40B4-BE49-F238E27FC236}">
                <a16:creationId xmlns:a16="http://schemas.microsoft.com/office/drawing/2014/main" id="{F382CEE6-56E3-48EC-8D9D-47AF681C9483}"/>
              </a:ext>
            </a:extLst>
          </p:cNvPr>
          <p:cNvSpPr>
            <a:spLocks noGrp="1"/>
          </p:cNvSpPr>
          <p:nvPr/>
        </p:nvSpPr>
        <p:spPr>
          <a:xfrm>
            <a:off x="762000" y="3505200"/>
            <a:ext cx="1714500" cy="666750"/>
          </a:xfrm>
          <a:prstGeom prst="rect">
            <a:avLst/>
          </a:prstGeom>
          <a:solidFill>
            <a:srgbClr val="FBFAF7"/>
          </a:solidFill>
          <a:ln w="9525">
            <a:solidFill>
              <a:srgbClr val="D8D2C6"/>
            </a:solidFill>
            <a:prstDash val="solid"/>
          </a:ln>
        </p:spPr>
        <p:txBody>
          <a:bodyPr/>
          <a:lstStyle/>
          <a:p>
            <a:endParaRPr lang="en-US"/>
          </a:p>
        </p:txBody>
      </p:sp>
      <p:sp>
        <p:nvSpPr>
          <p:cNvPr id="27" name="Rectangle 26">
            <a:extLst>
              <a:ext uri="{FF2B5EF4-FFF2-40B4-BE49-F238E27FC236}">
                <a16:creationId xmlns:a16="http://schemas.microsoft.com/office/drawing/2014/main" id="{2B1D9275-ADFC-4C05-BE5E-13D39523F1ED}"/>
              </a:ext>
            </a:extLst>
          </p:cNvPr>
          <p:cNvSpPr>
            <a:spLocks noGrp="1"/>
          </p:cNvSpPr>
          <p:nvPr/>
        </p:nvSpPr>
        <p:spPr>
          <a:xfrm>
            <a:off x="895350" y="3648075"/>
            <a:ext cx="1447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212B"/>
                </a:solidFill>
                <a:latin typeface="Aptos"/>
                <a:ea typeface="Aptos"/>
                <a:cs typeface="Aptos"/>
              </a:defRPr>
            </a:pPr>
            <a:r>
              <a:rPr sz="1350" b="1">
                <a:solidFill>
                  <a:srgbClr val="18212B"/>
                </a:solidFill>
                <a:latin typeface="Aptos"/>
                <a:ea typeface="Aptos"/>
                <a:cs typeface="Aptos"/>
              </a:rPr>
              <a:t>Evidence</a:t>
            </a:r>
          </a:p>
        </p:txBody>
      </p:sp>
      <p:sp>
        <p:nvSpPr>
          <p:cNvPr id="28" name="Rectangle 27">
            <a:extLst>
              <a:ext uri="{FF2B5EF4-FFF2-40B4-BE49-F238E27FC236}">
                <a16:creationId xmlns:a16="http://schemas.microsoft.com/office/drawing/2014/main" id="{08482B7B-E218-418A-80C2-2674840F86B7}"/>
              </a:ext>
            </a:extLst>
          </p:cNvPr>
          <p:cNvSpPr>
            <a:spLocks noGrp="1"/>
          </p:cNvSpPr>
          <p:nvPr/>
        </p:nvSpPr>
        <p:spPr>
          <a:xfrm>
            <a:off x="2476500" y="3505200"/>
            <a:ext cx="4381500" cy="666750"/>
          </a:xfrm>
          <a:prstGeom prst="rect">
            <a:avLst/>
          </a:prstGeom>
          <a:solidFill>
            <a:srgbClr val="FBFAF7"/>
          </a:solidFill>
          <a:ln w="9525">
            <a:solidFill>
              <a:srgbClr val="D8D2C6"/>
            </a:solidFill>
            <a:prstDash val="solid"/>
          </a:ln>
        </p:spPr>
        <p:txBody>
          <a:bodyPr/>
          <a:lstStyle/>
          <a:p>
            <a:endParaRPr lang="en-US"/>
          </a:p>
        </p:txBody>
      </p:sp>
      <p:sp>
        <p:nvSpPr>
          <p:cNvPr id="29" name="Rectangle 28">
            <a:extLst>
              <a:ext uri="{FF2B5EF4-FFF2-40B4-BE49-F238E27FC236}">
                <a16:creationId xmlns:a16="http://schemas.microsoft.com/office/drawing/2014/main" id="{A7E713AB-C4DB-45A9-8B63-F96742768BF7}"/>
              </a:ext>
            </a:extLst>
          </p:cNvPr>
          <p:cNvSpPr>
            <a:spLocks noGrp="1"/>
          </p:cNvSpPr>
          <p:nvPr/>
        </p:nvSpPr>
        <p:spPr>
          <a:xfrm>
            <a:off x="2609850" y="3648075"/>
            <a:ext cx="4114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EvidenceItem, Claim, ClaimEvidenceLink, CitationSpan</a:t>
            </a:r>
          </a:p>
        </p:txBody>
      </p:sp>
      <p:sp>
        <p:nvSpPr>
          <p:cNvPr id="30" name="Rectangle 29">
            <a:extLst>
              <a:ext uri="{FF2B5EF4-FFF2-40B4-BE49-F238E27FC236}">
                <a16:creationId xmlns:a16="http://schemas.microsoft.com/office/drawing/2014/main" id="{04D51D25-C996-4AD2-AF8E-EBD30C8742F3}"/>
              </a:ext>
            </a:extLst>
          </p:cNvPr>
          <p:cNvSpPr>
            <a:spLocks noGrp="1"/>
          </p:cNvSpPr>
          <p:nvPr/>
        </p:nvSpPr>
        <p:spPr>
          <a:xfrm>
            <a:off x="6858000" y="3505200"/>
            <a:ext cx="4095750" cy="666750"/>
          </a:xfrm>
          <a:prstGeom prst="rect">
            <a:avLst/>
          </a:prstGeom>
          <a:solidFill>
            <a:srgbClr val="FBFAF7"/>
          </a:solidFill>
          <a:ln w="9525">
            <a:solidFill>
              <a:srgbClr val="D8D2C6"/>
            </a:solidFill>
            <a:prstDash val="solid"/>
          </a:ln>
        </p:spPr>
        <p:txBody>
          <a:bodyPr/>
          <a:lstStyle/>
          <a:p>
            <a:endParaRPr lang="en-US"/>
          </a:p>
        </p:txBody>
      </p:sp>
      <p:sp>
        <p:nvSpPr>
          <p:cNvPr id="31" name="Rectangle 30">
            <a:extLst>
              <a:ext uri="{FF2B5EF4-FFF2-40B4-BE49-F238E27FC236}">
                <a16:creationId xmlns:a16="http://schemas.microsoft.com/office/drawing/2014/main" id="{03275E57-F6A6-4576-B952-7210B6921A52}"/>
              </a:ext>
            </a:extLst>
          </p:cNvPr>
          <p:cNvSpPr>
            <a:spLocks noGrp="1"/>
          </p:cNvSpPr>
          <p:nvPr/>
        </p:nvSpPr>
        <p:spPr>
          <a:xfrm>
            <a:off x="6991350" y="3648075"/>
            <a:ext cx="38290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BenchmarkClaim, ObservedMetric, EvidenceMap</a:t>
            </a:r>
          </a:p>
        </p:txBody>
      </p:sp>
      <p:sp>
        <p:nvSpPr>
          <p:cNvPr id="32" name="Rectangle 31">
            <a:extLst>
              <a:ext uri="{FF2B5EF4-FFF2-40B4-BE49-F238E27FC236}">
                <a16:creationId xmlns:a16="http://schemas.microsoft.com/office/drawing/2014/main" id="{8C55ACB2-6319-4A71-BD70-811CDA5315BF}"/>
              </a:ext>
            </a:extLst>
          </p:cNvPr>
          <p:cNvSpPr>
            <a:spLocks noGrp="1"/>
          </p:cNvSpPr>
          <p:nvPr/>
        </p:nvSpPr>
        <p:spPr>
          <a:xfrm>
            <a:off x="762000" y="4171950"/>
            <a:ext cx="1714500" cy="666750"/>
          </a:xfrm>
          <a:prstGeom prst="rect">
            <a:avLst/>
          </a:prstGeom>
          <a:solidFill>
            <a:srgbClr val="FFFFFF"/>
          </a:solidFill>
          <a:ln w="9525">
            <a:solidFill>
              <a:srgbClr val="D8D2C6"/>
            </a:solidFill>
            <a:prstDash val="solid"/>
          </a:ln>
        </p:spPr>
        <p:txBody>
          <a:bodyPr/>
          <a:lstStyle/>
          <a:p>
            <a:endParaRPr lang="en-US"/>
          </a:p>
        </p:txBody>
      </p:sp>
      <p:sp>
        <p:nvSpPr>
          <p:cNvPr id="33" name="Rectangle 32">
            <a:extLst>
              <a:ext uri="{FF2B5EF4-FFF2-40B4-BE49-F238E27FC236}">
                <a16:creationId xmlns:a16="http://schemas.microsoft.com/office/drawing/2014/main" id="{0DEA3381-CD71-4AD3-AF6C-D184B470F5A0}"/>
              </a:ext>
            </a:extLst>
          </p:cNvPr>
          <p:cNvSpPr>
            <a:spLocks noGrp="1"/>
          </p:cNvSpPr>
          <p:nvPr/>
        </p:nvSpPr>
        <p:spPr>
          <a:xfrm>
            <a:off x="895350" y="4314825"/>
            <a:ext cx="1447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212B"/>
                </a:solidFill>
                <a:latin typeface="Aptos"/>
                <a:ea typeface="Aptos"/>
                <a:cs typeface="Aptos"/>
              </a:defRPr>
            </a:pPr>
            <a:r>
              <a:rPr sz="1350" b="1">
                <a:solidFill>
                  <a:srgbClr val="18212B"/>
                </a:solidFill>
                <a:latin typeface="Aptos"/>
                <a:ea typeface="Aptos"/>
                <a:cs typeface="Aptos"/>
              </a:rPr>
              <a:t>Verdict</a:t>
            </a:r>
          </a:p>
        </p:txBody>
      </p:sp>
      <p:sp>
        <p:nvSpPr>
          <p:cNvPr id="34" name="Rectangle 33">
            <a:extLst>
              <a:ext uri="{FF2B5EF4-FFF2-40B4-BE49-F238E27FC236}">
                <a16:creationId xmlns:a16="http://schemas.microsoft.com/office/drawing/2014/main" id="{E333AE49-FE04-4A24-88DA-795585BDAD96}"/>
              </a:ext>
            </a:extLst>
          </p:cNvPr>
          <p:cNvSpPr>
            <a:spLocks noGrp="1"/>
          </p:cNvSpPr>
          <p:nvPr/>
        </p:nvSpPr>
        <p:spPr>
          <a:xfrm>
            <a:off x="2476500" y="4171950"/>
            <a:ext cx="4381500" cy="666750"/>
          </a:xfrm>
          <a:prstGeom prst="rect">
            <a:avLst/>
          </a:prstGeom>
          <a:solidFill>
            <a:srgbClr val="FFFFFF"/>
          </a:solidFill>
          <a:ln w="9525">
            <a:solidFill>
              <a:srgbClr val="D8D2C6"/>
            </a:solidFill>
            <a:prstDash val="solid"/>
          </a:ln>
        </p:spPr>
        <p:txBody>
          <a:bodyPr/>
          <a:lstStyle/>
          <a:p>
            <a:endParaRPr lang="en-US"/>
          </a:p>
        </p:txBody>
      </p:sp>
      <p:sp>
        <p:nvSpPr>
          <p:cNvPr id="35" name="Rectangle 34">
            <a:extLst>
              <a:ext uri="{FF2B5EF4-FFF2-40B4-BE49-F238E27FC236}">
                <a16:creationId xmlns:a16="http://schemas.microsoft.com/office/drawing/2014/main" id="{16E87A91-CD66-4356-8EF1-3094E47FBBDD}"/>
              </a:ext>
            </a:extLst>
          </p:cNvPr>
          <p:cNvSpPr>
            <a:spLocks noGrp="1"/>
          </p:cNvSpPr>
          <p:nvPr/>
        </p:nvSpPr>
        <p:spPr>
          <a:xfrm>
            <a:off x="2609850" y="4314825"/>
            <a:ext cx="4114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Evaluator and verification gate patterns</a:t>
            </a:r>
          </a:p>
        </p:txBody>
      </p:sp>
      <p:sp>
        <p:nvSpPr>
          <p:cNvPr id="36" name="Rectangle 35">
            <a:extLst>
              <a:ext uri="{FF2B5EF4-FFF2-40B4-BE49-F238E27FC236}">
                <a16:creationId xmlns:a16="http://schemas.microsoft.com/office/drawing/2014/main" id="{F560849B-D392-470D-9CF1-742059023FB0}"/>
              </a:ext>
            </a:extLst>
          </p:cNvPr>
          <p:cNvSpPr>
            <a:spLocks noGrp="1"/>
          </p:cNvSpPr>
          <p:nvPr/>
        </p:nvSpPr>
        <p:spPr>
          <a:xfrm>
            <a:off x="6858000" y="4171950"/>
            <a:ext cx="4095750" cy="666750"/>
          </a:xfrm>
          <a:prstGeom prst="rect">
            <a:avLst/>
          </a:prstGeom>
          <a:solidFill>
            <a:srgbClr val="FFFFFF"/>
          </a:solidFill>
          <a:ln w="9525">
            <a:solidFill>
              <a:srgbClr val="D8D2C6"/>
            </a:solidFill>
            <a:prstDash val="solid"/>
          </a:ln>
        </p:spPr>
        <p:txBody>
          <a:bodyPr/>
          <a:lstStyle/>
          <a:p>
            <a:endParaRPr lang="en-US"/>
          </a:p>
        </p:txBody>
      </p:sp>
      <p:sp>
        <p:nvSpPr>
          <p:cNvPr id="37" name="Rectangle 36">
            <a:extLst>
              <a:ext uri="{FF2B5EF4-FFF2-40B4-BE49-F238E27FC236}">
                <a16:creationId xmlns:a16="http://schemas.microsoft.com/office/drawing/2014/main" id="{E46361E1-9A18-4707-AF01-DE9CFFCB0D59}"/>
              </a:ext>
            </a:extLst>
          </p:cNvPr>
          <p:cNvSpPr>
            <a:spLocks noGrp="1"/>
          </p:cNvSpPr>
          <p:nvPr/>
        </p:nvSpPr>
        <p:spPr>
          <a:xfrm>
            <a:off x="6991350" y="4314825"/>
            <a:ext cx="38290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ClaimComparison and comparator policy</a:t>
            </a:r>
          </a:p>
        </p:txBody>
      </p:sp>
      <p:sp>
        <p:nvSpPr>
          <p:cNvPr id="38" name="Rectangle 37">
            <a:extLst>
              <a:ext uri="{FF2B5EF4-FFF2-40B4-BE49-F238E27FC236}">
                <a16:creationId xmlns:a16="http://schemas.microsoft.com/office/drawing/2014/main" id="{71B552B8-82D7-4641-9320-0978768AA6D8}"/>
              </a:ext>
            </a:extLst>
          </p:cNvPr>
          <p:cNvSpPr>
            <a:spLocks noGrp="1"/>
          </p:cNvSpPr>
          <p:nvPr/>
        </p:nvSpPr>
        <p:spPr>
          <a:xfrm>
            <a:off x="762000" y="4838700"/>
            <a:ext cx="1714500" cy="666750"/>
          </a:xfrm>
          <a:prstGeom prst="rect">
            <a:avLst/>
          </a:prstGeom>
          <a:solidFill>
            <a:srgbClr val="FBFAF7"/>
          </a:solidFill>
          <a:ln w="9525">
            <a:solidFill>
              <a:srgbClr val="D8D2C6"/>
            </a:solidFill>
            <a:prstDash val="solid"/>
          </a:ln>
        </p:spPr>
        <p:txBody>
          <a:bodyPr/>
          <a:lstStyle/>
          <a:p>
            <a:endParaRPr lang="en-US"/>
          </a:p>
        </p:txBody>
      </p:sp>
      <p:sp>
        <p:nvSpPr>
          <p:cNvPr id="39" name="Rectangle 38">
            <a:extLst>
              <a:ext uri="{FF2B5EF4-FFF2-40B4-BE49-F238E27FC236}">
                <a16:creationId xmlns:a16="http://schemas.microsoft.com/office/drawing/2014/main" id="{443FC60B-4E1A-44DB-8174-094E004C89C5}"/>
              </a:ext>
            </a:extLst>
          </p:cNvPr>
          <p:cNvSpPr>
            <a:spLocks noGrp="1"/>
          </p:cNvSpPr>
          <p:nvPr/>
        </p:nvSpPr>
        <p:spPr>
          <a:xfrm>
            <a:off x="895350" y="4981575"/>
            <a:ext cx="1447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8212B"/>
                </a:solidFill>
                <a:latin typeface="Aptos"/>
                <a:ea typeface="Aptos"/>
                <a:cs typeface="Aptos"/>
              </a:defRPr>
            </a:pPr>
            <a:r>
              <a:rPr sz="1350" b="1">
                <a:solidFill>
                  <a:srgbClr val="18212B"/>
                </a:solidFill>
                <a:latin typeface="Aptos"/>
                <a:ea typeface="Aptos"/>
                <a:cs typeface="Aptos"/>
              </a:rPr>
              <a:t>Regression</a:t>
            </a:r>
          </a:p>
        </p:txBody>
      </p:sp>
      <p:sp>
        <p:nvSpPr>
          <p:cNvPr id="40" name="Rectangle 39">
            <a:extLst>
              <a:ext uri="{FF2B5EF4-FFF2-40B4-BE49-F238E27FC236}">
                <a16:creationId xmlns:a16="http://schemas.microsoft.com/office/drawing/2014/main" id="{BD6A08D3-4E49-4233-8FDC-26EAAF769D4A}"/>
              </a:ext>
            </a:extLst>
          </p:cNvPr>
          <p:cNvSpPr>
            <a:spLocks noGrp="1"/>
          </p:cNvSpPr>
          <p:nvPr/>
        </p:nvSpPr>
        <p:spPr>
          <a:xfrm>
            <a:off x="2476500" y="4838700"/>
            <a:ext cx="4381500" cy="666750"/>
          </a:xfrm>
          <a:prstGeom prst="rect">
            <a:avLst/>
          </a:prstGeom>
          <a:solidFill>
            <a:srgbClr val="FBFAF7"/>
          </a:solidFill>
          <a:ln w="9525">
            <a:solidFill>
              <a:srgbClr val="D8D2C6"/>
            </a:solidFill>
            <a:prstDash val="solid"/>
          </a:ln>
        </p:spPr>
        <p:txBody>
          <a:bodyPr/>
          <a:lstStyle/>
          <a:p>
            <a:endParaRPr lang="en-US"/>
          </a:p>
        </p:txBody>
      </p:sp>
      <p:sp>
        <p:nvSpPr>
          <p:cNvPr id="41" name="Rectangle 40">
            <a:extLst>
              <a:ext uri="{FF2B5EF4-FFF2-40B4-BE49-F238E27FC236}">
                <a16:creationId xmlns:a16="http://schemas.microsoft.com/office/drawing/2014/main" id="{97BBF6E0-BCE1-4475-96CA-FDF42585900A}"/>
              </a:ext>
            </a:extLst>
          </p:cNvPr>
          <p:cNvSpPr>
            <a:spLocks noGrp="1"/>
          </p:cNvSpPr>
          <p:nvPr/>
        </p:nvSpPr>
        <p:spPr>
          <a:xfrm>
            <a:off x="2609850" y="4981575"/>
            <a:ext cx="41148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Existing test harness</a:t>
            </a:r>
          </a:p>
        </p:txBody>
      </p:sp>
      <p:sp>
        <p:nvSpPr>
          <p:cNvPr id="42" name="Rectangle 41">
            <a:extLst>
              <a:ext uri="{FF2B5EF4-FFF2-40B4-BE49-F238E27FC236}">
                <a16:creationId xmlns:a16="http://schemas.microsoft.com/office/drawing/2014/main" id="{0BE90B74-E938-4857-8E6C-8F87ED8A0B0D}"/>
              </a:ext>
            </a:extLst>
          </p:cNvPr>
          <p:cNvSpPr>
            <a:spLocks noGrp="1"/>
          </p:cNvSpPr>
          <p:nvPr/>
        </p:nvSpPr>
        <p:spPr>
          <a:xfrm>
            <a:off x="6858000" y="4838700"/>
            <a:ext cx="4095750" cy="666750"/>
          </a:xfrm>
          <a:prstGeom prst="rect">
            <a:avLst/>
          </a:prstGeom>
          <a:solidFill>
            <a:srgbClr val="FBFAF7"/>
          </a:solidFill>
          <a:ln w="9525">
            <a:solidFill>
              <a:srgbClr val="D8D2C6"/>
            </a:solidFill>
            <a:prstDash val="solid"/>
          </a:ln>
        </p:spPr>
        <p:txBody>
          <a:bodyPr/>
          <a:lstStyle/>
          <a:p>
            <a:endParaRPr lang="en-US"/>
          </a:p>
        </p:txBody>
      </p:sp>
      <p:sp>
        <p:nvSpPr>
          <p:cNvPr id="43" name="Rectangle 42">
            <a:extLst>
              <a:ext uri="{FF2B5EF4-FFF2-40B4-BE49-F238E27FC236}">
                <a16:creationId xmlns:a16="http://schemas.microsoft.com/office/drawing/2014/main" id="{0D74AE4D-D7B8-4FA5-8BB5-E979D8607E34}"/>
              </a:ext>
            </a:extLst>
          </p:cNvPr>
          <p:cNvSpPr>
            <a:spLocks noGrp="1"/>
          </p:cNvSpPr>
          <p:nvPr/>
        </p:nvSpPr>
        <p:spPr>
          <a:xfrm>
            <a:off x="6991350" y="4981575"/>
            <a:ext cx="38290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8212B"/>
                </a:solidFill>
                <a:latin typeface="Aptos"/>
                <a:ea typeface="Aptos"/>
                <a:cs typeface="Aptos"/>
              </a:defRPr>
            </a:pPr>
            <a:r>
              <a:rPr sz="1200" b="0">
                <a:solidFill>
                  <a:srgbClr val="18212B"/>
                </a:solidFill>
                <a:latin typeface="Aptos"/>
                <a:ea typeface="Aptos"/>
                <a:cs typeface="Aptos"/>
              </a:rPr>
              <a:t>Golden fixture from AI4Research-B Phase 0</a:t>
            </a:r>
          </a:p>
        </p:txBody>
      </p:sp>
      <p:sp>
        <p:nvSpPr>
          <p:cNvPr id="44" name="Rectangle 43">
            <a:extLst>
              <a:ext uri="{FF2B5EF4-FFF2-40B4-BE49-F238E27FC236}">
                <a16:creationId xmlns:a16="http://schemas.microsoft.com/office/drawing/2014/main" id="{52D4631A-97C0-41A0-A0E2-DADFB2D34C93}"/>
              </a:ext>
            </a:extLst>
          </p:cNvPr>
          <p:cNvSpPr>
            <a:spLocks noGrp="1"/>
          </p:cNvSpPr>
          <p:nvPr/>
        </p:nvSpPr>
        <p:spPr>
          <a:xfrm>
            <a:off x="952500" y="5734050"/>
            <a:ext cx="9525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75" b="1">
                <a:solidFill>
                  <a:srgbClr val="B33A3A"/>
                </a:solidFill>
                <a:latin typeface="Aptos"/>
                <a:ea typeface="Aptos"/>
                <a:cs typeface="Aptos"/>
              </a:defRPr>
            </a:pPr>
            <a:r>
              <a:rPr sz="1575" b="1">
                <a:solidFill>
                  <a:srgbClr val="B33A3A"/>
                </a:solidFill>
                <a:latin typeface="Aptos"/>
                <a:ea typeface="Aptos"/>
                <a:cs typeface="Aptos"/>
              </a:rPr>
              <a:t>MVP rule: no new physical operator, scheduler path, or ChatGPT-specific identity unless reuse fails.</a:t>
            </a:r>
          </a:p>
        </p:txBody>
      </p:sp>
    </p:spTree>
    <p:extLst>
      <p:ext uri="{BB962C8B-B14F-4D97-AF65-F5344CB8AC3E}">
        <p14:creationId xmlns:p14="http://schemas.microsoft.com/office/powerpoint/2010/main" val="76700289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3442</Words>
  <Application>Microsoft Macintosh PowerPoint</Application>
  <DocSecurity>0</DocSecurity>
  <PresentationFormat>Widescreen</PresentationFormat>
  <Paragraphs>621</Paragraphs>
  <Slides>15</Slides>
  <Notes>15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James Yuan</cp:lastModifiedBy>
  <cp:revision>1</cp:revision>
  <dcterms:created xsi:type="dcterms:W3CDTF">2026-06-11T18:37:06Z</dcterms:created>
  <dcterms:modified xsi:type="dcterms:W3CDTF">2026-06-11T19:10:58Z</dcterms:modified>
</cp:coreProperties>
</file>