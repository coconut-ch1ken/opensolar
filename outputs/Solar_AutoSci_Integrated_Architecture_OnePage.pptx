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16b1acd8294ced" /><Relationship Type="http://schemas.openxmlformats.org/officeDocument/2006/relationships/extended-properties" Target="/docProps/app.xml" Id="R2f4322eb088340b1" /><Relationship Type="http://schemas.openxmlformats.org/officeDocument/2006/relationships/officeDocument" Target="/ppt/presentation.xml" Id="Rf4a688aaaccf45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c67c73c685424d"/>
  </p:sldMasterIdLst>
  <p:notesMasterIdLst>
    <p:notesMasterId xmlns:r="http://schemas.openxmlformats.org/officeDocument/2006/relationships" r:id="R5eba30ccbf6b4352"/>
  </p:notesMasterIdLst>
  <p:sldIdLst>
    <p:sldId xmlns:r="http://schemas.openxmlformats.org/officeDocument/2006/relationships" id="256" r:id="R901068f273e64747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ad7a7714e14257" /><Relationship Type="http://schemas.openxmlformats.org/officeDocument/2006/relationships/slideMaster" Target="/ppt/slideMasters/slideMaster1.xml" Id="R79c67c73c685424d" /><Relationship Type="http://schemas.openxmlformats.org/officeDocument/2006/relationships/notesMaster" Target="/ppt/notesMasters/notesMaster1.xml" Id="R5eba30ccbf6b4352" /><Relationship Type="http://schemas.openxmlformats.org/officeDocument/2006/relationships/presProps" Target="/ppt/presProps.xml" Id="R899467773c2b4430" /><Relationship Type="http://schemas.openxmlformats.org/officeDocument/2006/relationships/tableStyles" Target="/ppt/tableStyles.xml" Id="R8a20390fa1014c3e" /><Relationship Type="http://schemas.openxmlformats.org/officeDocument/2006/relationships/slide" Target="/ppt/slides/slide1.xml" Id="R901068f273e647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69d8876b1444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2d7ac0605e46ed" /><Relationship Type="http://schemas.openxmlformats.org/officeDocument/2006/relationships/notesMaster" Target="/ppt/notesMasters/notesMaster1.xml" Id="R323b6458e8904e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daf47abb2b40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29abb089544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47ffce93d48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0d07550bb43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24b4d29da44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0907f2572424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44f7a40ab4bf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f9c541e0e466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1580aa6d8439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450c997c348d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43a694c3b497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1C8221-948C-4DA9-99BF-62FAC98348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5C0F140-CA5E-470A-91DE-552727A6BD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4C34D70-AE7A-4980-B1A6-7F553EAF62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0A07CA-CE40-4484-8AC6-E7E04E1D6C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D13F9B-7351-4320-9822-F50141F3FB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2658E6-63A6-493B-8133-62F8E10D2F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476FB6-75DB-4D58-B3A6-73DF201D93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B8B097-FD7F-4E24-8D40-A4824B1755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3550306-379A-4D5C-8C29-7E5C478A27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240C9F9-E28D-47E0-9641-1979BC8823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E47161-1BED-44AC-B109-285D0036F7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1FB587-D7ED-4DA4-B62F-5E1159D104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A597CC-328F-4575-9636-A248F87EBE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7480446-72E6-402C-8BD7-BE3945E13B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0D7F35-76C4-45C0-B1BB-23B2E40566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1E8785-BD7A-441D-8973-18F65D2768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1999564-64DE-4502-82E8-63D7FB277D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1B08E30-2757-4C5C-8497-056C5102D94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2402B84-4A92-4C24-8D98-6A842895B9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9D34EB2-F744-4937-9125-97ABF1DD45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1ABE0BD-A0E2-4B13-B121-A632304D58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AEFEDE-1AE9-466D-93F1-EC2F8C0ED9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5BC79F-E071-403B-BB57-D97B4F8D74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7BE3D93-FCE2-4647-B88E-938D70F7126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C56185A-3ED7-4F7E-BC57-3A3750A3406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90FC3B8-DBE9-4303-9332-8916E55A88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A91CF39-3F1B-4400-B52D-6492D08840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5872C64-4E9F-4868-84AD-DD760829C1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0647512-0A27-4D0B-83F2-4FD3B8C9BC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76D27E-2DD7-4D75-AB9C-062C018EE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B2BBF21-DA7F-4EA8-BC22-153E053E3C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21F4A93-42F6-4149-9D19-2DEF0AC321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6A7F54C-A106-42D0-ADEF-B2EFD07E34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9D34AF5-EA70-4CEB-9B15-59BC2DB41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C15D0D8-76FF-4383-8D73-2058F1628E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936D74E-583E-4484-9196-0026E8C0B9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97B3F7-7FB0-427F-9B42-CA5B22DE5E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FA9E0FE-3ADF-453F-B72E-7C131D6932D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3DEDF4B-5E0E-4CA9-AB0B-49B6A9C6BC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A5A45C4-C554-4AA2-B81F-04960B7712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0D1AF65-D8CC-48A4-AC8E-68899341C0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72BE72F-35ED-461B-A492-1E70022FFE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AA91DC-F8E6-468B-9E31-7A3E15F45B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C9119B5-B274-4EA8-94EC-B400D93E69C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35E7826-51FF-4E2B-A7C9-76EF189867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BC72398-2384-45D2-8AE2-35AF101706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37D2C1-6475-40DB-9771-A0D03A1B7D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FE986BE-3B9F-4F27-B677-7DA843296F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EB7BCB-534A-4FAF-B096-EC287A299A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7626AB0-5C36-4399-8270-84F6EE81BE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CC8CB9-DBA8-4589-88CA-C6F0B45E71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C9FD34-4D73-49D6-A2B7-16BCF1CDF1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2FE6B3-CD64-4732-9E0F-BA74F8B020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E48A41F-DCAF-4A58-8DD2-971E662EA0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ECA96E5-BF90-4780-9C48-5E4458D4F7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FA0CA7-3747-4ADF-A5EF-DEAB01666F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262AE0-8C5D-4BA0-A94D-5F3D7E9FD2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744ADDB-D8B7-40E7-BF48-8C66160BCA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6269e63de541fe" /><Relationship Type="http://schemas.openxmlformats.org/officeDocument/2006/relationships/slideLayout" Target="/ppt/slideLayouts/slideLayout1.xml" Id="R4a606b6538774ca6" /><Relationship Type="http://schemas.openxmlformats.org/officeDocument/2006/relationships/slideLayout" Target="/ppt/slideLayouts/slideLayout2.xml" Id="R8e64a65270564518" /><Relationship Type="http://schemas.openxmlformats.org/officeDocument/2006/relationships/slideLayout" Target="/ppt/slideLayouts/slideLayout3.xml" Id="R6e8b882f198d4398" /><Relationship Type="http://schemas.openxmlformats.org/officeDocument/2006/relationships/slideLayout" Target="/ppt/slideLayouts/slideLayout4.xml" Id="R59c743d8be4f471e" /><Relationship Type="http://schemas.openxmlformats.org/officeDocument/2006/relationships/slideLayout" Target="/ppt/slideLayouts/slideLayout5.xml" Id="R2b4eb22e26dd4f25" /><Relationship Type="http://schemas.openxmlformats.org/officeDocument/2006/relationships/slideLayout" Target="/ppt/slideLayouts/slideLayout6.xml" Id="R48a0a8574f8d4411" /><Relationship Type="http://schemas.openxmlformats.org/officeDocument/2006/relationships/slideLayout" Target="/ppt/slideLayouts/slideLayout7.xml" Id="R6a28cf78dbd64533" /><Relationship Type="http://schemas.openxmlformats.org/officeDocument/2006/relationships/slideLayout" Target="/ppt/slideLayouts/slideLayout8.xml" Id="R25c8487396ac466b" /><Relationship Type="http://schemas.openxmlformats.org/officeDocument/2006/relationships/slideLayout" Target="/ppt/slideLayouts/slideLayout9.xml" Id="Raed5b3bfdb4245b4" /><Relationship Type="http://schemas.openxmlformats.org/officeDocument/2006/relationships/slideLayout" Target="/ppt/slideLayouts/slideLayout10.xml" Id="Rc27c5b8fa415435c" /><Relationship Type="http://schemas.openxmlformats.org/officeDocument/2006/relationships/slideLayout" Target="/ppt/slideLayouts/slideLayout11.xml" Id="R8c64cd7a6cd64ca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310A38A-4090-44AF-AF89-7ECD9CCE65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FC7EEC4-9CB2-48BC-988E-83FEE05B76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868A025-D7DB-4E15-A965-1918A0ABADD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E3EC25-70CC-487E-9DE0-80ADF094F79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CB3538-8B93-4211-AE2A-4F2F93BCD0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606b6538774ca6"/>
    <p:sldLayoutId xmlns:r="http://schemas.openxmlformats.org/officeDocument/2006/relationships" id="2147483650" r:id="R8e64a65270564518"/>
    <p:sldLayoutId xmlns:r="http://schemas.openxmlformats.org/officeDocument/2006/relationships" id="2147483651" r:id="R6e8b882f198d4398"/>
    <p:sldLayoutId xmlns:r="http://schemas.openxmlformats.org/officeDocument/2006/relationships" id="2147483652" r:id="R59c743d8be4f471e"/>
    <p:sldLayoutId xmlns:r="http://schemas.openxmlformats.org/officeDocument/2006/relationships" id="2147483653" r:id="R2b4eb22e26dd4f25"/>
    <p:sldLayoutId xmlns:r="http://schemas.openxmlformats.org/officeDocument/2006/relationships" id="2147483654" r:id="R48a0a8574f8d4411"/>
    <p:sldLayoutId xmlns:r="http://schemas.openxmlformats.org/officeDocument/2006/relationships" id="2147483655" r:id="R6a28cf78dbd64533"/>
    <p:sldLayoutId xmlns:r="http://schemas.openxmlformats.org/officeDocument/2006/relationships" id="2147483656" r:id="R25c8487396ac466b"/>
    <p:sldLayoutId xmlns:r="http://schemas.openxmlformats.org/officeDocument/2006/relationships" id="2147483657" r:id="Raed5b3bfdb4245b4"/>
    <p:sldLayoutId xmlns:r="http://schemas.openxmlformats.org/officeDocument/2006/relationships" id="2147483658" r:id="Rc27c5b8fa415435c"/>
    <p:sldLayoutId xmlns:r="http://schemas.openxmlformats.org/officeDocument/2006/relationships" id="2147483659" r:id="R8c64cd7a6cd64ca7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bef4c4992c4347" /><Relationship Type="http://schemas.openxmlformats.org/officeDocument/2006/relationships/notesSlide" Target="/ppt/notesSlides/notesSlide1.xml" Id="R7a76a1d6340f46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9B88E03-F395-40F0-8BA3-8B5762D4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1157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Solar‑Harness 后续设计：意图编译 → DAG 调度 → 评测驱动自进化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A94586-21A1-4F82-A738-06801BB5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10913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一页架构整理：以 Verifier / Benchmark 为基础设施，统一多 Agent、Code Agent、Web 与 Skills 的执行闭环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F8ED1EB-E153-4946-924E-F2275BD2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F55FA46-B8E2-46AC-BD51-36D3E75E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A4E147B-5030-41EE-9871-BA8DBA5B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3556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Solar‑Harness Stack / 核心栈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5923D47-4BC4-419A-B98B-48324EAC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271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Loop Runtime / 运行闭环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72FC4B3-5D0C-4E54-9F75-A9B700E9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63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Query Input / 用户问题</a:t>
            </a:r>
          </a:p>
        </p:txBody>
      </p:sp>
      <p:cxnSp>
        <p:nvCxnSpPr>
          <p:cNvPr id="227" name="Connector 8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2563EB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A45582A-9BAC-4293-A51F-DD331854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B88289E-A93E-4DFE-946A-6B967248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6350">
            <a:solidFill>
              <a:srgbClr val="2563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" tIns="18288" rIns="18288" b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 · Intent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213556E-C677-45B0-80F7-A4D10615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3735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Intent Compiler｜意图编译层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D883682-6C35-4493-BCD0-27F0B0E4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8574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0" b="0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Query → Intent / Context / Scope / Constraints；把自然语言需求编译为可执行任务语义。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678E0AF-24F3-4BCD-B72B-2DCDF1AA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E7FF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805CE2E-DAD2-4F76-85F8-C0375389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6350">
            <a:solidFill>
              <a:srgbClr val="4F46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" tIns="18288" rIns="18288" b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 · Core DAG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22768D4-0D66-4C94-8E67-83EE5CBC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5663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Solar‑Harness Core (DAG)｜计划与调度核心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5F7E878-6360-46BC-8A47-9293ED12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491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0" b="0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Plan IR / TaskGraph / Main Loop Dispatch / Message Bus；负责分解、依赖、调度、状态与消息。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DF8466C-07C8-4EDD-8CA9-EC8FD19C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0F62FE9-AC0F-4A51-9084-F2D46F01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E22CE"/>
          </a:solidFill>
          <a:ln xmlns:a="http://schemas.openxmlformats.org/drawingml/2006/main" w="6350">
            <a:solidFill>
              <a:srgbClr val="7E22C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" tIns="18288" rIns="18288" b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 · Optimize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2EF2916-79FB-4C4A-B37B-422FA243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3910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Optimization Plane｜优化层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09457AF-1DBC-478F-94B1-4056C2C1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10802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0" b="0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GEPA / Skill Optimization / Operator Selection；基于反馈优化 Prompt、Skills、Operators 与策略。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5AA3BE7A-8B60-4E6D-A065-943FBDA4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3CF35CE0-A31F-4FB1-9CF5-9F2C3002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6350">
            <a:solidFill>
              <a:srgbClr val="16A3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" tIns="18288" rIns="18288" b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 · Harness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37343AA-653C-4EC9-9211-253C0A84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6028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Data + Evaluation Harness｜数据与评测基础设施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ECF98F0-1693-414E-A8C5-2EE4CEAA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434BE0CA-31B3-4E55-8298-A14631DB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6350">
            <a:solidFill>
              <a:srgbClr val="0D948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" tIns="18288" rIns="18288" b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4BB0839-DFB6-4C3A-9DE4-A2716E09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1735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Data Harness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E0CE49C-4E05-4458-A61C-F385C45E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6569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0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Corpus / artifacts / traces / evidence store
统一数据、证据与运行产物。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CCA7D4CE-2B1D-4FBC-A112-E005E559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A8473387-AA13-45EE-A87D-CD534556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6350">
            <a:solidFill>
              <a:srgbClr val="16A3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" tIns="18288" rIns="18288" b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57B9AB3-9333-4175-AAE1-883B70C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4116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Verifier &amp; Benchmark as Infra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0BBB01D-322E-4DFC-B000-6FF1E2D7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8170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0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Claim checking / benchmark runner / reproducibility gate
把验证与基准测试变成平台能力。</a:t>
            </a:r>
          </a:p>
        </p:txBody>
      </p:sp>
      <p:cxnSp>
        <p:nvCxnSpPr>
          <p:cNvPr id="251" name="Connector 32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16A34A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52" name="Connector 33"/>
          <p:cNvCxnSpPr/>
          <p:nvPr/>
        </p:nvCxnSpPr>
        <p:spPr>
          <a:xfrm xmlns:a="http://schemas.openxmlformats.org/drawingml/2006/main" flipH="1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D9488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982D4481-1556-4DEE-A54A-210B853C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3970">
            <a:solidFill>
              <a:srgbClr val="F59E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92400E"/>
                </a:solidFill>
                <a:latin typeface="Noto Sans CJK SC"/>
                <a:ea typeface="Noto Sans CJK SC"/>
                <a:cs typeface="Noto Sans CJK SC"/>
              </a:rPr>
              <a:t>Capability
Capsule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F494BEC-F4CD-406A-B766-FAB2C6E3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1472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20" b="0">
                <a:solidFill>
                  <a:srgbClr val="92400E"/>
                </a:solidFill>
                <a:latin typeface="Noto Sans CJK SC"/>
                <a:ea typeface="Noto Sans CJK SC"/>
                <a:cs typeface="Noto Sans CJK SC"/>
              </a:rPr>
              <a:t>权限 / I/O / 证据协议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8681B147-FC29-4B7D-AAD9-A6BA1D0E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6FD4A696-0FB3-438B-97BF-6AB6B2DB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6350">
            <a:solidFill>
              <a:srgbClr val="EA580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" tIns="18288" rIns="18288" b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 · Execute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EEC69872-45E9-4924-9B55-8340BDEB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5175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Operator Execution Layer｜算子执行层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F83879B4-233C-4839-A841-19F1369C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7418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 b="0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Logical Operator → Physical Operator → Agent / Tool Runtime</a:t>
            </a:r>
          </a:p>
        </p:txBody>
      </p:sp>
      <p:cxnSp>
        <p:nvCxnSpPr>
          <p:cNvPr id="259" name="Connector 40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59E0B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60" name="Connector 41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64748B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61" name="Connector 42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64748B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62" name="Connector 43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64748B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63" name="Connector 44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64748B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78F08A4D-CAA1-44B9-9E5E-FCBE8D7D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10160">
            <a:solidFill>
              <a:srgbClr val="FCD34D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036751FB-2327-4FFE-B5BF-49372517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2505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70" b="1">
                <a:solidFill>
                  <a:srgbClr val="92400E"/>
                </a:solidFill>
                <a:latin typeface="Noto Sans CJK SC"/>
                <a:ea typeface="Noto Sans CJK SC"/>
                <a:cs typeface="Noto Sans CJK SC"/>
              </a:rPr>
              <a:t>Fleet of Agents / 执行体资源池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EFD0997A-2A2E-43B0-BFAD-2AEEA7A0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B92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" tIns="18288" rIns="18288" b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Skills</a:t>
            </a:r>
          </a:p>
        </p:txBody>
      </p:sp>
      <p:cxnSp>
        <p:nvCxnSpPr>
          <p:cNvPr id="267" name="Connector 48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EA580C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BF40A420-4B9D-4046-A6CA-FFC63B68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B92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" tIns="18288" rIns="18288" b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Claude Code</a:t>
            </a:r>
          </a:p>
        </p:txBody>
      </p:sp>
      <p:cxnSp>
        <p:nvCxnSpPr>
          <p:cNvPr id="269" name="Connector 50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EA580C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B6BBBFE2-91D5-4837-BB7F-27937A18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B92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" tIns="18288" rIns="18288" b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Codex</a:t>
            </a:r>
          </a:p>
        </p:txBody>
      </p:sp>
      <p:cxnSp>
        <p:nvCxnSpPr>
          <p:cNvPr id="271" name="Connector 52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EA580C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D1FB9ACA-F8DB-4DAA-B7EE-0F79403E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B92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" tIns="18288" rIns="18288" b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GLM</a:t>
            </a:r>
          </a:p>
        </p:txBody>
      </p:sp>
      <p:cxnSp>
        <p:nvCxnSpPr>
          <p:cNvPr id="273" name="Connector 54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EA580C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6" name="Rounded Rectangle 55">
            <a:extLst xmlns:a="http://schemas.openxmlformats.org/drawingml/2006/main">
              <a:ext uri="{FF2B5EF4-FFF2-40B4-BE49-F238E27FC236}">
                <a16:creationId xmlns:a16="http://schemas.microsoft.com/office/drawing/2014/main" id="{20FBFCF2-EBA8-482A-9477-E14324A6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B92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" tIns="18288" rIns="18288" b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Web / Browser</a:t>
            </a:r>
          </a:p>
        </p:txBody>
      </p:sp>
      <p:cxnSp>
        <p:nvCxnSpPr>
          <p:cNvPr id="275" name="Connector 56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EA580C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8" name="Circular Arrow 57">
            <a:extLst xmlns:a="http://schemas.openxmlformats.org/drawingml/2006/main">
              <a:ext uri="{FF2B5EF4-FFF2-40B4-BE49-F238E27FC236}">
                <a16:creationId xmlns:a16="http://schemas.microsoft.com/office/drawing/2014/main" id="{B8BD1591-89E7-466B-A019-35649714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circularArrow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5240">
            <a:solidFill>
              <a:srgbClr val="2563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797420C9-A0F9-4310-ACDC-C75D6178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8890">
            <a:solidFill>
              <a:srgbClr val="BFDBF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" tIns="27432" rIns="2743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Main Loop
主循环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04BC0BEC-FB1A-4273-9B06-2188BBE6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5335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70" b="0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Plan → Dispatch → Observe → Verify → Optimize</a:t>
            </a:r>
          </a:p>
        </p:txBody>
      </p:sp>
      <p:cxnSp>
        <p:nvCxnSpPr>
          <p:cNvPr id="279" name="Connector 60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4F46E5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76529DE5-FC3F-42F1-A9F4-E8DECAB7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1688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70" b="1">
                <a:solidFill>
                  <a:srgbClr val="4F46E5"/>
                </a:solidFill>
                <a:latin typeface="Noto Sans CJK SC"/>
                <a:ea typeface="Noto Sans CJK SC"/>
                <a:cs typeface="Noto Sans CJK SC"/>
              </a:rPr>
              <a:t>message / events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B70A05A7-EE04-418B-937F-2285A870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2859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spawn sub‑loops / 派生子循环</a:t>
            </a:r>
          </a:p>
        </p:txBody>
      </p:sp>
      <p:sp>
        <p:nvSpPr>
          <p:cNvPr id="64" name="Oval 63">
            <a:extLst xmlns:a="http://schemas.openxmlformats.org/drawingml/2006/main">
              <a:ext uri="{FF2B5EF4-FFF2-40B4-BE49-F238E27FC236}">
                <a16:creationId xmlns:a16="http://schemas.microsoft.com/office/drawing/2014/main" id="{5EE9F849-AB8A-431C-BCFF-4DAF95A1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12700">
            <a:solidFill>
              <a:srgbClr val="0D948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" tIns="18288" rIns="18288" b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8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Research
Loop</a:t>
            </a:r>
          </a:p>
        </p:txBody>
      </p:sp>
      <p:cxnSp>
        <p:nvCxnSpPr>
          <p:cNvPr id="283" name="Connector 64"/>
          <p:cNvCxnSpPr/>
          <p:nvPr/>
        </p:nvCxnSpPr>
        <p:spPr>
          <a:xfrm xmlns:a="http://schemas.openxmlformats.org/drawingml/2006/main" flipH="1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64748B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6" name="Oval 65">
            <a:extLst xmlns:a="http://schemas.openxmlformats.org/drawingml/2006/main">
              <a:ext uri="{FF2B5EF4-FFF2-40B4-BE49-F238E27FC236}">
                <a16:creationId xmlns:a16="http://schemas.microsoft.com/office/drawing/2014/main" id="{7472CD9B-D831-4BBA-9372-F0DFFF98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7E22C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" tIns="18288" rIns="18288" b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8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Coding
Loop</a:t>
            </a:r>
          </a:p>
        </p:txBody>
      </p:sp>
      <p:cxnSp>
        <p:nvCxnSpPr>
          <p:cNvPr id="285" name="Connector 66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64748B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8" name="Oval 67">
            <a:extLst xmlns:a="http://schemas.openxmlformats.org/drawingml/2006/main">
              <a:ext uri="{FF2B5EF4-FFF2-40B4-BE49-F238E27FC236}">
                <a16:creationId xmlns:a16="http://schemas.microsoft.com/office/drawing/2014/main" id="{33CB1C6E-8A65-4E91-AC04-AAD83B6F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59E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" tIns="18288" rIns="18288" bIns="18288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8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Web QA
Loop</a:t>
            </a:r>
          </a:p>
        </p:txBody>
      </p:sp>
      <p:cxnSp>
        <p:nvCxnSpPr>
          <p:cNvPr id="287" name="Connector 68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64748B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0" name="Rounded Rectangle 69">
            <a:extLst xmlns:a="http://schemas.openxmlformats.org/drawingml/2006/main">
              <a:ext uri="{FF2B5EF4-FFF2-40B4-BE49-F238E27FC236}">
                <a16:creationId xmlns:a16="http://schemas.microsoft.com/office/drawing/2014/main" id="{5C1C2421-A9A9-44DA-8DCF-1FE591CF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3970">
            <a:solidFill>
              <a:srgbClr val="16A3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166534"/>
                </a:solidFill>
                <a:latin typeface="Noto Sans CJK SC"/>
                <a:ea typeface="Noto Sans CJK SC"/>
                <a:cs typeface="Noto Sans CJK SC"/>
              </a:rPr>
              <a:t>Auto Lab / 自进化
Benchmark feedback → Skill / Operator / Prompt evolution</a:t>
            </a:r>
          </a:p>
        </p:txBody>
      </p:sp>
      <p:cxnSp>
        <p:nvCxnSpPr>
          <p:cNvPr id="289" name="Connector 70"/>
          <p:cNvCxnSpPr/>
          <p:nvPr/>
        </p:nvCxn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16A34A"/>
            </a:solidFill>
            <a:prstDash val="dash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9126900F-703E-4B33-BD9D-2DFBC469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161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40" b="1">
                <a:solidFill>
                  <a:srgbClr val="16A34A"/>
                </a:solidFill>
                <a:latin typeface="Noto Sans CJK SC"/>
                <a:ea typeface="Noto Sans CJK SC"/>
                <a:cs typeface="Noto Sans CJK SC"/>
              </a:rPr>
              <a:t>benchmark signal</a:t>
            </a:r>
          </a:p>
        </p:txBody>
      </p:sp>
      <p:cxnSp>
        <p:nvCxnSpPr>
          <p:cNvPr id="291" name="Connector 72"/>
          <p:cNvCxnSpPr/>
          <p:nvPr/>
        </p:nvCxnSpPr>
        <p:spPr>
          <a:xfrm xmlns:a="http://schemas.openxmlformats.org/drawingml/2006/main" flipH="1" flipV="1">
            <a:off x="-19050000" y="-19050000"/>
            <a:ext cx="9525" cy="95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E22CE"/>
            </a:solidFill>
            <a:prstDash val="dash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4" name="Rounded Rectangle 73">
            <a:extLst xmlns:a="http://schemas.openxmlformats.org/drawingml/2006/main">
              <a:ext uri="{FF2B5EF4-FFF2-40B4-BE49-F238E27FC236}">
                <a16:creationId xmlns:a16="http://schemas.microsoft.com/office/drawing/2014/main" id="{5A441143-3971-4A15-A9C6-7CDA27A1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" tIns="27432" rIns="2743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4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核心原则：验证基础设施化，执行资源池化，优化闭环化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02EFB582-21BF-4E7C-93FF-8BAF447F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6394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整理自手绘草图｜本页由可编辑 PowerPoint 形状、连接线和文本框构成；可继续拆分为控制面 / 评测面 / 执行面三张图。</a:t>
            </a:r>
          </a:p>
        </p:txBody>
      </p:sp>
      <p:sp>
        <p:nvSpPr>
          <p:cNvPr id="148" name="title">
            <a:extLst xmlns:a="http://schemas.openxmlformats.org/drawingml/2006/main">
              <a:ext uri="{FF2B5EF4-FFF2-40B4-BE49-F238E27FC236}">
                <a16:creationId xmlns:a16="http://schemas.microsoft.com/office/drawing/2014/main" id="{F60BDD44-275C-4F98-B38B-22B5E95A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"/>
            <a:ext cx="1146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Solar + AutoSci 集成后结构：Skill shim → Scientific DAG → Evidence Gate</a:t>
            </a:r>
          </a:p>
        </p:txBody>
      </p:sp>
      <p:sp>
        <p:nvSpPr>
          <p:cNvPr id="149" name="subtitle">
            <a:extLst xmlns:a="http://schemas.openxmlformats.org/drawingml/2006/main">
              <a:ext uri="{FF2B5EF4-FFF2-40B4-BE49-F238E27FC236}">
                <a16:creationId xmlns:a16="http://schemas.microsoft.com/office/drawing/2014/main" id="{22B9C793-6D17-4956-BBBF-F9968962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1087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55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55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一页架构整理：AutoSci 作为 backend implementation package，Solar 负责意图、DAG、能力胶囊、算子、证据 ABI 与门禁。</a:t>
            </a:r>
          </a:p>
        </p:txBody>
      </p:sp>
      <p:sp>
        <p:nvSpPr>
          <p:cNvPr id="150" name="left-frame">
            <a:extLst xmlns:a="http://schemas.openxmlformats.org/drawingml/2006/main">
              <a:ext uri="{FF2B5EF4-FFF2-40B4-BE49-F238E27FC236}">
                <a16:creationId xmlns:a16="http://schemas.microsoft.com/office/drawing/2014/main" id="{20DEAD55-4C13-4F99-B6D1-15F42649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42975"/>
            <a:ext cx="8343900" cy="5581650"/>
          </a:xfrm>
          <a:prstGeom xmlns:a="http://schemas.openxmlformats.org/drawingml/2006/main" prst="roundRect">
            <a:avLst>
              <a:gd name="adj" fmla="val 4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51" name="right-frame">
            <a:extLst xmlns:a="http://schemas.openxmlformats.org/drawingml/2006/main">
              <a:ext uri="{FF2B5EF4-FFF2-40B4-BE49-F238E27FC236}">
                <a16:creationId xmlns:a16="http://schemas.microsoft.com/office/drawing/2014/main" id="{7BDC66B0-13E1-43AE-80DA-0D1C4B98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942975"/>
            <a:ext cx="2971800" cy="55816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52" name="left-header">
            <a:extLst xmlns:a="http://schemas.openxmlformats.org/drawingml/2006/main">
              <a:ext uri="{FF2B5EF4-FFF2-40B4-BE49-F238E27FC236}">
                <a16:creationId xmlns:a16="http://schemas.microsoft.com/office/drawing/2014/main" id="{DC94A458-4F5B-4BE2-A735-533B6139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Solar-Harness Stack / AutoSci 填充层</a:t>
            </a:r>
          </a:p>
        </p:txBody>
      </p:sp>
      <p:sp>
        <p:nvSpPr>
          <p:cNvPr id="153" name="right-header">
            <a:extLst xmlns:a="http://schemas.openxmlformats.org/drawingml/2006/main">
              <a:ext uri="{FF2B5EF4-FFF2-40B4-BE49-F238E27FC236}">
                <a16:creationId xmlns:a16="http://schemas.microsoft.com/office/drawing/2014/main" id="{8F3B14D8-19C5-4E62-BECE-4BABBCC6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990600"/>
            <a:ext cx="251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Scientific Runtime / 研究闭环</a:t>
            </a:r>
          </a:p>
        </p:txBody>
      </p:sp>
      <p:sp>
        <p:nvSpPr>
          <p:cNvPr id="154" name="query-input">
            <a:extLst xmlns:a="http://schemas.openxmlformats.org/drawingml/2006/main">
              <a:ext uri="{FF2B5EF4-FFF2-40B4-BE49-F238E27FC236}">
                <a16:creationId xmlns:a16="http://schemas.microsoft.com/office/drawing/2014/main" id="{62C59A32-B592-4E75-808E-985B026A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790575"/>
            <a:ext cx="2514600" cy="314325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Natural query / SkillGen paper</a:t>
            </a:r>
          </a:p>
        </p:txBody>
      </p:sp>
      <p:sp>
        <p:nvSpPr>
          <p:cNvPr id="155" name="1 · Intent-bg">
            <a:extLst xmlns:a="http://schemas.openxmlformats.org/drawingml/2006/main">
              <a:ext uri="{FF2B5EF4-FFF2-40B4-BE49-F238E27FC236}">
                <a16:creationId xmlns:a16="http://schemas.microsoft.com/office/drawing/2014/main" id="{54FD7CAA-8762-4C64-B92D-CD7C37C1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28725"/>
            <a:ext cx="7791450" cy="638175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156" name="1 · Intent-tag">
            <a:extLst xmlns:a="http://schemas.openxmlformats.org/drawingml/2006/main">
              <a:ext uri="{FF2B5EF4-FFF2-40B4-BE49-F238E27FC236}">
                <a16:creationId xmlns:a16="http://schemas.microsoft.com/office/drawing/2014/main" id="{5A39EEC7-6C3B-4E31-A9E4-F83FB850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43025"/>
            <a:ext cx="125730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 · Intent</a:t>
            </a:r>
          </a:p>
        </p:txBody>
      </p:sp>
      <p:sp>
        <p:nvSpPr>
          <p:cNvPr id="157" name="1 · Intent-title">
            <a:extLst xmlns:a="http://schemas.openxmlformats.org/drawingml/2006/main">
              <a:ext uri="{FF2B5EF4-FFF2-40B4-BE49-F238E27FC236}">
                <a16:creationId xmlns:a16="http://schemas.microsoft.com/office/drawing/2014/main" id="{9EE441B7-F88C-4C63-932C-661ACFD4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304925"/>
            <a:ext cx="598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Intent + Skill Compatibility｜意图与 Skill 兼容层</a:t>
            </a:r>
          </a:p>
        </p:txBody>
      </p:sp>
      <p:sp>
        <p:nvSpPr>
          <p:cNvPr id="158" name="1 · Intent-desc">
            <a:extLst xmlns:a="http://schemas.openxmlformats.org/drawingml/2006/main">
              <a:ext uri="{FF2B5EF4-FFF2-40B4-BE49-F238E27FC236}">
                <a16:creationId xmlns:a16="http://schemas.microsoft.com/office/drawing/2014/main" id="{170D79B9-4412-4525-A96C-8BBDBE19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90675"/>
            <a:ext cx="5981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5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PM/Codex natural-language request → deterministic `autosci skill &lt;name&gt;` shim；支持 28 个 AutoSci native skill routes。</a:t>
            </a:r>
          </a:p>
        </p:txBody>
      </p:sp>
      <p:sp>
        <p:nvSpPr>
          <p:cNvPr id="159" name="2 · Core DAG-bg">
            <a:extLst xmlns:a="http://schemas.openxmlformats.org/drawingml/2006/main">
              <a:ext uri="{FF2B5EF4-FFF2-40B4-BE49-F238E27FC236}">
                <a16:creationId xmlns:a16="http://schemas.microsoft.com/office/drawing/2014/main" id="{BFC7CD1D-8542-4DDA-B48A-EA73B5C8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3100"/>
            <a:ext cx="77914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160" name="2 · Core DAG-tag">
            <a:extLst xmlns:a="http://schemas.openxmlformats.org/drawingml/2006/main">
              <a:ext uri="{FF2B5EF4-FFF2-40B4-BE49-F238E27FC236}">
                <a16:creationId xmlns:a16="http://schemas.microsoft.com/office/drawing/2014/main" id="{52DF2168-54AF-4B68-B1A6-AA04C203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57400"/>
            <a:ext cx="125730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6668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 · Core DAG</a:t>
            </a:r>
          </a:p>
        </p:txBody>
      </p:sp>
      <p:sp>
        <p:nvSpPr>
          <p:cNvPr id="161" name="2 · Core DAG-title">
            <a:extLst xmlns:a="http://schemas.openxmlformats.org/drawingml/2006/main">
              <a:ext uri="{FF2B5EF4-FFF2-40B4-BE49-F238E27FC236}">
                <a16:creationId xmlns:a16="http://schemas.microsoft.com/office/drawing/2014/main" id="{CDED3B46-E082-4C08-A2FD-4AB46AFE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19300"/>
            <a:ext cx="598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Scientific TaskGraph｜Solar 原生科研 DAG</a:t>
            </a:r>
          </a:p>
        </p:txBody>
      </p:sp>
      <p:sp>
        <p:nvSpPr>
          <p:cNvPr id="162" name="2 · Core DAG-desc">
            <a:extLst xmlns:a="http://schemas.openxmlformats.org/drawingml/2006/main">
              <a:ext uri="{FF2B5EF4-FFF2-40B4-BE49-F238E27FC236}">
                <a16:creationId xmlns:a16="http://schemas.microsoft.com/office/drawing/2014/main" id="{5B55C01F-5C4E-4AB1-A112-CE633930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05050"/>
            <a:ext cx="598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5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`research` route expands into bounded actions: ingest → analyze → memory/graph → claims/methods → ideas → experiment → verify → report。</a:t>
            </a:r>
          </a:p>
        </p:txBody>
      </p:sp>
      <p:sp>
        <p:nvSpPr>
          <p:cNvPr id="163" name="3 · Optimize-bg">
            <a:extLst xmlns:a="http://schemas.openxmlformats.org/drawingml/2006/main">
              <a:ext uri="{FF2B5EF4-FFF2-40B4-BE49-F238E27FC236}">
                <a16:creationId xmlns:a16="http://schemas.microsoft.com/office/drawing/2014/main" id="{CB797357-CDE1-4046-8D13-5495184A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71775"/>
            <a:ext cx="779145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164" name="3 · Optimize-tag">
            <a:extLst xmlns:a="http://schemas.openxmlformats.org/drawingml/2006/main">
              <a:ext uri="{FF2B5EF4-FFF2-40B4-BE49-F238E27FC236}">
                <a16:creationId xmlns:a16="http://schemas.microsoft.com/office/drawing/2014/main" id="{18897DA5-670A-45C8-9E30-F7A533DA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86075"/>
            <a:ext cx="125730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7E22CE"/>
          </a:solidFill>
          <a:ln xmlns:a="http://schemas.openxmlformats.org/drawingml/2006/main" w="6668">
            <a:solidFill>
              <a:srgbClr val="7E2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 · Optimize</a:t>
            </a:r>
          </a:p>
        </p:txBody>
      </p:sp>
      <p:sp>
        <p:nvSpPr>
          <p:cNvPr id="165" name="3 · Optimize-title">
            <a:extLst xmlns:a="http://schemas.openxmlformats.org/drawingml/2006/main">
              <a:ext uri="{FF2B5EF4-FFF2-40B4-BE49-F238E27FC236}">
                <a16:creationId xmlns:a16="http://schemas.microsoft.com/office/drawing/2014/main" id="{786C4480-6A59-4DF6-987F-70EEF95C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47975"/>
            <a:ext cx="598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Route + Binding Config｜能力路由与算子选择</a:t>
            </a:r>
          </a:p>
        </p:txBody>
      </p:sp>
      <p:sp>
        <p:nvSpPr>
          <p:cNvPr id="166" name="3 · Optimize-desc">
            <a:extLst xmlns:a="http://schemas.openxmlformats.org/drawingml/2006/main">
              <a:ext uri="{FF2B5EF4-FFF2-40B4-BE49-F238E27FC236}">
                <a16:creationId xmlns:a16="http://schemas.microsoft.com/office/drawing/2014/main" id="{F051315F-F3C7-48A0-9C8A-DF16AF3A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33725"/>
            <a:ext cx="5981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5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`feature_parity_routes.v1.json` + `feature_operator_bindings.v1.json` map AutoSci skills to Solar capabilities/operators and side-effect policy。</a:t>
            </a:r>
          </a:p>
        </p:txBody>
      </p:sp>
      <p:sp>
        <p:nvSpPr>
          <p:cNvPr id="167" name="4 · Evidence-bg">
            <a:extLst xmlns:a="http://schemas.openxmlformats.org/drawingml/2006/main">
              <a:ext uri="{FF2B5EF4-FFF2-40B4-BE49-F238E27FC236}">
                <a16:creationId xmlns:a16="http://schemas.microsoft.com/office/drawing/2014/main" id="{52852063-ADAD-4705-9623-5B42C8FB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77914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168" name="4 · Evidence-tag">
            <a:extLst xmlns:a="http://schemas.openxmlformats.org/drawingml/2006/main">
              <a:ext uri="{FF2B5EF4-FFF2-40B4-BE49-F238E27FC236}">
                <a16:creationId xmlns:a16="http://schemas.microsoft.com/office/drawing/2014/main" id="{FD3B24DC-406F-4894-9F5C-E8756F6E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81400"/>
            <a:ext cx="125730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666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 · Evidence</a:t>
            </a:r>
          </a:p>
        </p:txBody>
      </p:sp>
      <p:sp>
        <p:nvSpPr>
          <p:cNvPr id="169" name="4 · Evidence-title">
            <a:extLst xmlns:a="http://schemas.openxmlformats.org/drawingml/2006/main">
              <a:ext uri="{FF2B5EF4-FFF2-40B4-BE49-F238E27FC236}">
                <a16:creationId xmlns:a16="http://schemas.microsoft.com/office/drawing/2014/main" id="{71175F86-0C47-4EF2-AD26-F44340EE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43300"/>
            <a:ext cx="598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Evidence ABI + Gates｜证据与评测基础设施</a:t>
            </a:r>
          </a:p>
        </p:txBody>
      </p:sp>
      <p:sp>
        <p:nvSpPr>
          <p:cNvPr id="170" name="4 · Evidence-desc">
            <a:extLst xmlns:a="http://schemas.openxmlformats.org/drawingml/2006/main">
              <a:ext uri="{FF2B5EF4-FFF2-40B4-BE49-F238E27FC236}">
                <a16:creationId xmlns:a16="http://schemas.microsoft.com/office/drawing/2014/main" id="{C07BC83C-CFE9-4CE4-BEA4-CEB99FB6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29050"/>
            <a:ext cx="5981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1" name="5 · Execute-bg">
            <a:extLst xmlns:a="http://schemas.openxmlformats.org/drawingml/2006/main">
              <a:ext uri="{FF2B5EF4-FFF2-40B4-BE49-F238E27FC236}">
                <a16:creationId xmlns:a16="http://schemas.microsoft.com/office/drawing/2014/main" id="{9EF2FAAE-0B50-4F53-A44E-B46B4A98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772025"/>
            <a:ext cx="651510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172" name="5 · Execute-tag">
            <a:extLst xmlns:a="http://schemas.openxmlformats.org/drawingml/2006/main">
              <a:ext uri="{FF2B5EF4-FFF2-40B4-BE49-F238E27FC236}">
                <a16:creationId xmlns:a16="http://schemas.microsoft.com/office/drawing/2014/main" id="{089FEA0D-1CF0-4B96-A041-B4096D82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886325"/>
            <a:ext cx="129540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6668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 · Execute</a:t>
            </a:r>
          </a:p>
        </p:txBody>
      </p:sp>
      <p:sp>
        <p:nvSpPr>
          <p:cNvPr id="173" name="5 · Execute-title">
            <a:extLst xmlns:a="http://schemas.openxmlformats.org/drawingml/2006/main">
              <a:ext uri="{FF2B5EF4-FFF2-40B4-BE49-F238E27FC236}">
                <a16:creationId xmlns:a16="http://schemas.microsoft.com/office/drawing/2014/main" id="{C0283FB4-B33C-4765-A5B1-64BE3D98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84822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Operator Execution Layer｜算子执行层</a:t>
            </a:r>
          </a:p>
        </p:txBody>
      </p:sp>
      <p:sp>
        <p:nvSpPr>
          <p:cNvPr id="174" name="5 · Execute-desc">
            <a:extLst xmlns:a="http://schemas.openxmlformats.org/drawingml/2006/main">
              <a:ext uri="{FF2B5EF4-FFF2-40B4-BE49-F238E27FC236}">
                <a16:creationId xmlns:a16="http://schemas.microsoft.com/office/drawing/2014/main" id="{86C20B9D-C27D-4FAF-A76A-09A813AC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133975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5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Logical operators bind to AutoSci-backed physical operators, then invoke `autosci_skill_shim.py` and `autosci_bridge.py` under `harness/plugins/autosci/`。</a:t>
            </a:r>
          </a:p>
        </p:txBody>
      </p:sp>
      <p:cxnSp>
        <p:nvCxnSpPr>
          <p:cNvPr id="321" name=""/>
          <p:cNvCxnSpPr>
            <a:stCxn xmlns:a="http://schemas.openxmlformats.org/drawingml/2006/main" id="155" idx="2"/>
            <a:endCxn xmlns:a="http://schemas.openxmlformats.org/drawingml/2006/main" id="159" idx="0"/>
          </p:cNvCxnSpPr>
          <p:nvPr/>
        </p:nvCxnSpPr>
        <p:spPr>
          <a:xfrm xmlns:a="http://schemas.openxmlformats.org/drawingml/2006/main">
            <a:off x="4514850" y="18669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64748B"/>
            </a:solidFill>
            <a:prstDash val="solid"/>
            <a:headEnd type="arrow" w="sm" len="sm"/>
          </a:ln>
        </p:spPr>
      </p:cxnSp>
      <p:cxnSp>
        <p:nvCxnSpPr>
          <p:cNvPr id="322" name=""/>
          <p:cNvCxnSpPr>
            <a:stCxn xmlns:a="http://schemas.openxmlformats.org/drawingml/2006/main" id="159" idx="2"/>
            <a:endCxn xmlns:a="http://schemas.openxmlformats.org/drawingml/2006/main" id="163" idx="0"/>
          </p:cNvCxnSpPr>
          <p:nvPr/>
        </p:nvCxnSpPr>
        <p:spPr>
          <a:xfrm xmlns:a="http://schemas.openxmlformats.org/drawingml/2006/main">
            <a:off x="4514850" y="2705100"/>
            <a:ext cx="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64748B"/>
            </a:solidFill>
            <a:prstDash val="solid"/>
            <a:headEnd type="arrow" w="sm" len="sm"/>
          </a:ln>
        </p:spPr>
      </p:cxnSp>
      <p:cxnSp>
        <p:nvCxnSpPr>
          <p:cNvPr id="323" name=""/>
          <p:cNvCxnSpPr>
            <a:stCxn xmlns:a="http://schemas.openxmlformats.org/drawingml/2006/main" id="163" idx="2"/>
            <a:endCxn xmlns:a="http://schemas.openxmlformats.org/drawingml/2006/main" id="167" idx="0"/>
          </p:cNvCxnSpPr>
          <p:nvPr/>
        </p:nvCxnSpPr>
        <p:spPr>
          <a:xfrm xmlns:a="http://schemas.openxmlformats.org/drawingml/2006/main">
            <a:off x="4514850" y="33909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64748B"/>
            </a:solidFill>
            <a:prstDash val="solid"/>
            <a:headEnd type="arrow" w="sm" len="sm"/>
          </a:ln>
        </p:spPr>
      </p:cxnSp>
      <p:cxnSp>
        <p:nvCxnSpPr>
          <p:cNvPr id="324" name=""/>
          <p:cNvCxnSpPr>
            <a:stCxn xmlns:a="http://schemas.openxmlformats.org/drawingml/2006/main" id="167" idx="2"/>
            <a:endCxn xmlns:a="http://schemas.openxmlformats.org/drawingml/2006/main" id="171" idx="0"/>
          </p:cNvCxnSpPr>
          <p:nvPr/>
        </p:nvCxnSpPr>
        <p:spPr>
          <a:xfrm xmlns:a="http://schemas.openxmlformats.org/drawingml/2006/main">
            <a:off x="4514850" y="4591050"/>
            <a:ext cx="638175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64748B"/>
            </a:solidFill>
            <a:prstDash val="solid"/>
            <a:headEnd type="arrow" w="sm" len="sm"/>
          </a:ln>
        </p:spPr>
      </p:cxnSp>
      <p:sp>
        <p:nvSpPr>
          <p:cNvPr id="179" name="card-data">
            <a:extLst xmlns:a="http://schemas.openxmlformats.org/drawingml/2006/main">
              <a:ext uri="{FF2B5EF4-FFF2-40B4-BE49-F238E27FC236}">
                <a16:creationId xmlns:a16="http://schemas.microsoft.com/office/drawing/2014/main" id="{D97F7FF6-1FD7-4383-AD7B-21EDDA35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3152775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0" name="card-data-icon">
            <a:extLst xmlns:a="http://schemas.openxmlformats.org/drawingml/2006/main">
              <a:ext uri="{FF2B5EF4-FFF2-40B4-BE49-F238E27FC236}">
                <a16:creationId xmlns:a16="http://schemas.microsoft.com/office/drawing/2014/main" id="{2CA4662F-6DC1-4419-83AF-CB76EC1A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5715">
            <a:solidFill>
              <a:srgbClr val="0D9488"/>
            </a:solidFill>
            <a:prstDash val="solid"/>
          </a:ln>
        </p:spPr>
      </p:sp>
      <p:sp>
        <p:nvSpPr>
          <p:cNvPr id="181" name="card-data-title">
            <a:extLst xmlns:a="http://schemas.openxmlformats.org/drawingml/2006/main">
              <a:ext uri="{FF2B5EF4-FFF2-40B4-BE49-F238E27FC236}">
                <a16:creationId xmlns:a16="http://schemas.microsoft.com/office/drawing/2014/main" id="{DF16D247-3219-460B-91C9-E2FD35F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914775"/>
            <a:ext cx="2714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55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55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Source Prep + Artifacts</a:t>
            </a:r>
          </a:p>
        </p:txBody>
      </p:sp>
      <p:sp>
        <p:nvSpPr>
          <p:cNvPr id="182" name="card-data-body">
            <a:extLst xmlns:a="http://schemas.openxmlformats.org/drawingml/2006/main">
              <a:ext uri="{FF2B5EF4-FFF2-40B4-BE49-F238E27FC236}">
                <a16:creationId xmlns:a16="http://schemas.microsoft.com/office/drawing/2014/main" id="{3ED71986-474D-45BB-9209-470A243D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162425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8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8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paper.md/text → run dir → evidence files</a:t>
            </a:r>
          </a:p>
          <a:p xmlns:a="http://schemas.openxmlformats.org/drawingml/2006/main">
            <a:pPr>
              <a:defRPr sz="668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8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PDF source-prep remains a separate Solar step.</a:t>
            </a:r>
          </a:p>
        </p:txBody>
      </p:sp>
      <p:sp>
        <p:nvSpPr>
          <p:cNvPr id="183" name="card-gate">
            <a:extLst xmlns:a="http://schemas.openxmlformats.org/drawingml/2006/main">
              <a:ext uri="{FF2B5EF4-FFF2-40B4-BE49-F238E27FC236}">
                <a16:creationId xmlns:a16="http://schemas.microsoft.com/office/drawing/2014/main" id="{27AD16DE-5634-4406-BEA4-C297E955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67150"/>
            <a:ext cx="3810000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4" name="card-gate-icon">
            <a:extLst xmlns:a="http://schemas.openxmlformats.org/drawingml/2006/main">
              <a:ext uri="{FF2B5EF4-FFF2-40B4-BE49-F238E27FC236}">
                <a16:creationId xmlns:a16="http://schemas.microsoft.com/office/drawing/2014/main" id="{05399D22-DA3E-4528-AFF4-A79E1F84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43350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5715">
            <a:solidFill>
              <a:srgbClr val="16A34A"/>
            </a:solidFill>
            <a:prstDash val="solid"/>
          </a:ln>
        </p:spPr>
      </p:sp>
      <p:sp>
        <p:nvSpPr>
          <p:cNvPr id="185" name="card-gate-title">
            <a:extLst xmlns:a="http://schemas.openxmlformats.org/drawingml/2006/main">
              <a:ext uri="{FF2B5EF4-FFF2-40B4-BE49-F238E27FC236}">
                <a16:creationId xmlns:a16="http://schemas.microsoft.com/office/drawing/2014/main" id="{F3CD4B98-C145-4796-B725-7F47E2F2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14775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55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55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Schema + Gate Verification</a:t>
            </a:r>
          </a:p>
        </p:txBody>
      </p:sp>
      <p:sp>
        <p:nvSpPr>
          <p:cNvPr id="186" name="card-gate-body">
            <a:extLst xmlns:a="http://schemas.openxmlformats.org/drawingml/2006/main">
              <a:ext uri="{FF2B5EF4-FFF2-40B4-BE49-F238E27FC236}">
                <a16:creationId xmlns:a16="http://schemas.microsoft.com/office/drawing/2014/main" id="{6F4165B8-74CF-4DD9-8003-FC7CE0C6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6242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8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8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`research_paper`, `claim_verdict`, `scientific_report`, `publication_bundle`</a:t>
            </a:r>
          </a:p>
          <a:p xmlns:a="http://schemas.openxmlformats.org/drawingml/2006/main">
            <a:pPr>
              <a:defRPr sz="668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8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validated by scientific evaluator gates.</a:t>
            </a:r>
          </a:p>
        </p:txBody>
      </p:sp>
      <p:cxnSp>
        <p:nvCxnSpPr>
          <p:cNvPr id="333" name=""/>
          <p:cNvCxnSpPr>
            <a:stCxn xmlns:a="http://schemas.openxmlformats.org/drawingml/2006/main" id="179" idx="3"/>
            <a:endCxn xmlns:a="http://schemas.openxmlformats.org/drawingml/2006/main" id="183" idx="1"/>
          </p:cNvCxnSpPr>
          <p:nvPr/>
        </p:nvCxnSpPr>
        <p:spPr>
          <a:xfrm xmlns:a="http://schemas.openxmlformats.org/drawingml/2006/main">
            <a:off x="4010025" y="41671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6A34A"/>
            </a:solidFill>
            <a:prstDash val="solid"/>
            <a:headEnd type="arrow" w="sm" len="sm"/>
          </a:ln>
        </p:spPr>
      </p:cxnSp>
      <p:sp>
        <p:nvSpPr>
          <p:cNvPr id="188" name="capability-capsule">
            <a:extLst xmlns:a="http://schemas.openxmlformats.org/drawingml/2006/main">
              <a:ext uri="{FF2B5EF4-FFF2-40B4-BE49-F238E27FC236}">
                <a16:creationId xmlns:a16="http://schemas.microsoft.com/office/drawing/2014/main" id="{6F990D0A-7CF5-4BAA-A046-B99F0BBE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72025"/>
            <a:ext cx="1076325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2400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92400E"/>
                </a:solidFill>
                <a:latin typeface="Noto Sans CJK SC"/>
                <a:ea typeface="Noto Sans CJK SC"/>
                <a:cs typeface="Noto Sans CJK SC"/>
              </a:rPr>
              <a:t>Capability</a:t>
            </a:r>
          </a:p>
          <a:p xmlns:a="http://schemas.openxmlformats.org/drawingml/2006/main">
            <a:pPr algn="ctr">
              <a:defRPr sz="825" b="1">
                <a:solidFill>
                  <a:srgbClr val="92400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92400E"/>
                </a:solidFill>
                <a:latin typeface="Noto Sans CJK SC"/>
                <a:ea typeface="Noto Sans CJK SC"/>
                <a:cs typeface="Noto Sans CJK SC"/>
              </a:rPr>
              <a:t>Capsules</a:t>
            </a:r>
          </a:p>
        </p:txBody>
      </p:sp>
      <p:sp>
        <p:nvSpPr>
          <p:cNvPr id="189" name="capsule-caption">
            <a:extLst xmlns:a="http://schemas.openxmlformats.org/drawingml/2006/main">
              <a:ext uri="{FF2B5EF4-FFF2-40B4-BE49-F238E27FC236}">
                <a16:creationId xmlns:a16="http://schemas.microsoft.com/office/drawing/2014/main" id="{F74DC45A-84E9-43B8-B913-3E3839F8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63">
                <a:solidFill>
                  <a:srgbClr val="92400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63">
                <a:solidFill>
                  <a:srgbClr val="92400E"/>
                </a:solidFill>
                <a:latin typeface="Noto Sans CJK SC"/>
                <a:ea typeface="Noto Sans CJK SC"/>
                <a:cs typeface="Noto Sans CJK SC"/>
              </a:rPr>
              <a:t>generic cap.research-* contracts</a:t>
            </a:r>
          </a:p>
        </p:txBody>
      </p:sp>
      <p:sp>
        <p:nvSpPr>
          <p:cNvPr id="190" name="fleet-frame">
            <a:extLst xmlns:a="http://schemas.openxmlformats.org/drawingml/2006/main">
              <a:ext uri="{FF2B5EF4-FFF2-40B4-BE49-F238E27FC236}">
                <a16:creationId xmlns:a16="http://schemas.microsoft.com/office/drawing/2014/main" id="{73358395-C348-4D52-8C4D-3DF12D20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48325"/>
            <a:ext cx="76962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191" name="fleet-title">
            <a:extLst xmlns:a="http://schemas.openxmlformats.org/drawingml/2006/main">
              <a:ext uri="{FF2B5EF4-FFF2-40B4-BE49-F238E27FC236}">
                <a16:creationId xmlns:a16="http://schemas.microsoft.com/office/drawing/2014/main" id="{2F16772A-B856-4FE1-AAD0-863A1AC3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769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92400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8" b="1">
                <a:solidFill>
                  <a:srgbClr val="92400E"/>
                </a:solidFill>
                <a:latin typeface="Noto Sans CJK SC"/>
                <a:ea typeface="Noto Sans CJK SC"/>
                <a:cs typeface="Noto Sans CJK SC"/>
              </a:rPr>
              <a:t>Backend / Commands / Evidence Surface</a:t>
            </a:r>
          </a:p>
        </p:txBody>
      </p:sp>
      <p:sp>
        <p:nvSpPr>
          <p:cNvPr id="192" name="node-AutoSci skills&#10;28 routes">
            <a:extLst xmlns:a="http://schemas.openxmlformats.org/drawingml/2006/main">
              <a:ext uri="{FF2B5EF4-FFF2-40B4-BE49-F238E27FC236}">
                <a16:creationId xmlns:a16="http://schemas.microsoft.com/office/drawing/2014/main" id="{21919AE7-D3A9-4096-BB05-BDA56824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67400"/>
            <a:ext cx="11049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B9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AutoSci skills</a:t>
            </a:r>
          </a:p>
          <a:p xmlns:a="http://schemas.openxmlformats.org/drawingml/2006/main">
            <a:pPr algn="ctr">
              <a:def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28 routes</a:t>
            </a:r>
          </a:p>
        </p:txBody>
      </p:sp>
      <p:sp>
        <p:nvSpPr>
          <p:cNvPr id="193" name="node-Skill shim&#10;CLI bridge">
            <a:extLst xmlns:a="http://schemas.openxmlformats.org/drawingml/2006/main">
              <a:ext uri="{FF2B5EF4-FFF2-40B4-BE49-F238E27FC236}">
                <a16:creationId xmlns:a16="http://schemas.microsoft.com/office/drawing/2014/main" id="{9E0B67F2-3EB1-4DD7-86A4-9F0AFC18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867400"/>
            <a:ext cx="11049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B9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Skill shim</a:t>
            </a:r>
          </a:p>
          <a:p xmlns:a="http://schemas.openxmlformats.org/drawingml/2006/main">
            <a:pPr algn="ctr">
              <a:def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CLI bridge</a:t>
            </a:r>
          </a:p>
        </p:txBody>
      </p:sp>
      <p:sp>
        <p:nvSpPr>
          <p:cNvPr id="194" name="node-Bridge actions&#10;16 core">
            <a:extLst xmlns:a="http://schemas.openxmlformats.org/drawingml/2006/main">
              <a:ext uri="{FF2B5EF4-FFF2-40B4-BE49-F238E27FC236}">
                <a16:creationId xmlns:a16="http://schemas.microsoft.com/office/drawing/2014/main" id="{351E00F0-6FC3-440F-8451-9BCD8F84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867400"/>
            <a:ext cx="11049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B9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Bridge actions</a:t>
            </a:r>
          </a:p>
          <a:p xmlns:a="http://schemas.openxmlformats.org/drawingml/2006/main">
            <a:pPr algn="ctr">
              <a:def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16 core</a:t>
            </a:r>
          </a:p>
        </p:txBody>
      </p:sp>
      <p:sp>
        <p:nvSpPr>
          <p:cNvPr id="195" name="node-Evidence ABI&#10;schemas">
            <a:extLst xmlns:a="http://schemas.openxmlformats.org/drawingml/2006/main">
              <a:ext uri="{FF2B5EF4-FFF2-40B4-BE49-F238E27FC236}">
                <a16:creationId xmlns:a16="http://schemas.microsoft.com/office/drawing/2014/main" id="{09A53A3E-6D51-4998-AEEE-7AD930F8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867400"/>
            <a:ext cx="11049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B9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Evidence ABI</a:t>
            </a:r>
          </a:p>
          <a:p xmlns:a="http://schemas.openxmlformats.org/drawingml/2006/main">
            <a:pPr algn="ctr">
              <a:def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schemas</a:t>
            </a:r>
          </a:p>
        </p:txBody>
      </p:sp>
      <p:sp>
        <p:nvSpPr>
          <p:cNvPr id="196" name="node-Scientific&#10;gates">
            <a:extLst xmlns:a="http://schemas.openxmlformats.org/drawingml/2006/main">
              <a:ext uri="{FF2B5EF4-FFF2-40B4-BE49-F238E27FC236}">
                <a16:creationId xmlns:a16="http://schemas.microsoft.com/office/drawing/2014/main" id="{6199393A-5B1E-466C-9CB6-CC958271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67400"/>
            <a:ext cx="11049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B9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Scientific</a:t>
            </a:r>
          </a:p>
          <a:p xmlns:a="http://schemas.openxmlformats.org/drawingml/2006/main">
            <a:pPr algn="ctr">
              <a:def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gates</a:t>
            </a:r>
          </a:p>
        </p:txBody>
      </p:sp>
      <p:cxnSp>
        <p:nvCxnSpPr>
          <p:cNvPr id="343" name=""/>
          <p:cNvCxnSpPr>
            <a:stCxn xmlns:a="http://schemas.openxmlformats.org/drawingml/2006/main" id="171" idx="2"/>
            <a:endCxn xmlns:a="http://schemas.openxmlformats.org/drawingml/2006/main" id="192" idx="0"/>
          </p:cNvCxnSpPr>
          <p:nvPr/>
        </p:nvCxnSpPr>
        <p:spPr>
          <a:xfrm xmlns:a="http://schemas.openxmlformats.org/drawingml/2006/main" flipH="1">
            <a:off x="1543050" y="5467350"/>
            <a:ext cx="3609975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EA580C"/>
            </a:solidFill>
            <a:prstDash val="solid"/>
            <a:headEnd type="arrow" w="sm" len="sm"/>
          </a:ln>
        </p:spPr>
      </p:cxnSp>
      <p:cxnSp>
        <p:nvCxnSpPr>
          <p:cNvPr id="344" name=""/>
          <p:cNvCxnSpPr>
            <a:stCxn xmlns:a="http://schemas.openxmlformats.org/drawingml/2006/main" id="171" idx="2"/>
            <a:endCxn xmlns:a="http://schemas.openxmlformats.org/drawingml/2006/main" id="193" idx="0"/>
          </p:cNvCxnSpPr>
          <p:nvPr/>
        </p:nvCxnSpPr>
        <p:spPr>
          <a:xfrm xmlns:a="http://schemas.openxmlformats.org/drawingml/2006/main" flipH="1">
            <a:off x="2886075" y="5467350"/>
            <a:ext cx="226695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EA580C"/>
            </a:solidFill>
            <a:prstDash val="solid"/>
            <a:headEnd type="arrow" w="sm" len="sm"/>
          </a:ln>
        </p:spPr>
      </p:cxnSp>
      <p:cxnSp>
        <p:nvCxnSpPr>
          <p:cNvPr id="345" name=""/>
          <p:cNvCxnSpPr>
            <a:stCxn xmlns:a="http://schemas.openxmlformats.org/drawingml/2006/main" id="171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 flipH="1">
            <a:off x="4229100" y="5467350"/>
            <a:ext cx="923925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EA580C"/>
            </a:solidFill>
            <a:prstDash val="solid"/>
            <a:headEnd type="arrow" w="sm" len="sm"/>
          </a:ln>
        </p:spPr>
      </p:cxnSp>
      <p:cxnSp>
        <p:nvCxnSpPr>
          <p:cNvPr id="346" name=""/>
          <p:cNvCxnSpPr>
            <a:stCxn xmlns:a="http://schemas.openxmlformats.org/drawingml/2006/main" id="171" idx="2"/>
            <a:endCxn xmlns:a="http://schemas.openxmlformats.org/drawingml/2006/main" id="195" idx="0"/>
          </p:cNvCxnSpPr>
          <p:nvPr/>
        </p:nvCxnSpPr>
        <p:spPr>
          <a:xfrm xmlns:a="http://schemas.openxmlformats.org/drawingml/2006/main">
            <a:off x="5153025" y="5467350"/>
            <a:ext cx="41910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EA580C"/>
            </a:solidFill>
            <a:prstDash val="solid"/>
            <a:headEnd type="arrow" w="sm" len="sm"/>
          </a:ln>
        </p:spPr>
      </p:cxnSp>
      <p:cxnSp>
        <p:nvCxnSpPr>
          <p:cNvPr id="347" name=""/>
          <p:cNvCxnSpPr>
            <a:stCxn xmlns:a="http://schemas.openxmlformats.org/drawingml/2006/main" id="171" idx="2"/>
            <a:endCxn xmlns:a="http://schemas.openxmlformats.org/drawingml/2006/main" id="196" idx="0"/>
          </p:cNvCxnSpPr>
          <p:nvPr/>
        </p:nvCxnSpPr>
        <p:spPr>
          <a:xfrm xmlns:a="http://schemas.openxmlformats.org/drawingml/2006/main">
            <a:off x="5153025" y="5467350"/>
            <a:ext cx="1762125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EA580C"/>
            </a:solidFill>
            <a:prstDash val="solid"/>
            <a:headEnd type="arrow" w="sm" len="sm"/>
          </a:ln>
        </p:spPr>
      </p:cxnSp>
      <p:cxnSp>
        <p:nvCxnSpPr>
          <p:cNvPr id="348" name=""/>
          <p:cNvCxnSpPr>
            <a:stCxn xmlns:a="http://schemas.openxmlformats.org/drawingml/2006/main" id="188" idx="3"/>
            <a:endCxn xmlns:a="http://schemas.openxmlformats.org/drawingml/2006/main" id="171" idx="1"/>
          </p:cNvCxnSpPr>
          <p:nvPr/>
        </p:nvCxnSpPr>
        <p:spPr>
          <a:xfrm xmlns:a="http://schemas.openxmlformats.org/drawingml/2006/main">
            <a:off x="1733550" y="5119688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F59E0B"/>
            </a:solidFill>
            <a:prstDash val="solid"/>
            <a:headEnd type="arrow" w="sm" len="sm"/>
          </a:ln>
        </p:spPr>
      </p:cxnSp>
      <p:sp>
        <p:nvSpPr>
          <p:cNvPr id="203" name="main-loop-arrow">
            <a:extLst xmlns:a="http://schemas.openxmlformats.org/drawingml/2006/main">
              <a:ext uri="{FF2B5EF4-FFF2-40B4-BE49-F238E27FC236}">
                <a16:creationId xmlns:a16="http://schemas.microsoft.com/office/drawing/2014/main" id="{1137A1D0-8214-4A37-9D33-6FC7D213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76375"/>
            <a:ext cx="1876425" cy="1876425"/>
          </a:xfrm>
          <a:prstGeom xmlns:a="http://schemas.openxmlformats.org/drawingml/2006/main" prst="circularArrow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204" name="main-loop">
            <a:extLst xmlns:a="http://schemas.openxmlformats.org/drawingml/2006/main">
              <a:ext uri="{FF2B5EF4-FFF2-40B4-BE49-F238E27FC236}">
                <a16:creationId xmlns:a16="http://schemas.microsoft.com/office/drawing/2014/main" id="{EA2E6D23-69F7-42F0-B456-83E4133E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790700"/>
            <a:ext cx="123825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CFF"/>
          </a:solidFill>
          <a:ln xmlns:a="http://schemas.openxmlformats.org/drawingml/2006/main" w="10478">
            <a:solidFill>
              <a:srgbClr val="BFDB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Solar Main</a:t>
            </a:r>
          </a:p>
          <a:p xmlns:a="http://schemas.openxmlformats.org/drawingml/2006/main">
            <a:pPr algn="ctr">
              <a:defRPr sz="91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Loop</a:t>
            </a:r>
          </a:p>
        </p:txBody>
      </p:sp>
      <p:sp>
        <p:nvSpPr>
          <p:cNvPr id="205" name="right-flow">
            <a:extLst xmlns:a="http://schemas.openxmlformats.org/drawingml/2006/main">
              <a:ext uri="{FF2B5EF4-FFF2-40B4-BE49-F238E27FC236}">
                <a16:creationId xmlns:a16="http://schemas.microsoft.com/office/drawing/2014/main" id="{B400C22E-189C-4040-A893-7BFDC105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2600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8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8">
                <a:solidFill>
                  <a:srgbClr val="475569"/>
                </a:solidFill>
                <a:latin typeface="Noto Sans CJK SC"/>
                <a:ea typeface="Noto Sans CJK SC"/>
                <a:cs typeface="Noto Sans CJK SC"/>
              </a:rPr>
              <a:t>Plan → Dispatch → Observe → Verify → Gate</a:t>
            </a:r>
          </a:p>
        </p:txBody>
      </p:sp>
      <p:sp>
        <p:nvSpPr>
          <p:cNvPr id="206" name="subloop-title">
            <a:extLst xmlns:a="http://schemas.openxmlformats.org/drawingml/2006/main">
              <a:ext uri="{FF2B5EF4-FFF2-40B4-BE49-F238E27FC236}">
                <a16:creationId xmlns:a16="http://schemas.microsoft.com/office/drawing/2014/main" id="{91D1171B-4927-47EB-8ECC-655AD35B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57600"/>
            <a:ext cx="2409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5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spawn scientific sub-loops</a:t>
            </a:r>
          </a:p>
        </p:txBody>
      </p:sp>
      <p:sp>
        <p:nvSpPr>
          <p:cNvPr id="207" name="research-loop">
            <a:extLst xmlns:a="http://schemas.openxmlformats.org/drawingml/2006/main">
              <a:ext uri="{FF2B5EF4-FFF2-40B4-BE49-F238E27FC236}">
                <a16:creationId xmlns:a16="http://schemas.microsoft.com/office/drawing/2014/main" id="{1917558A-D112-4C36-A095-9A2E9F90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81450"/>
            <a:ext cx="752475" cy="638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0478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Research</a:t>
            </a:r>
          </a:p>
          <a:p xmlns:a="http://schemas.openxmlformats.org/drawingml/2006/main">
            <a:pPr algn="ctr">
              <a:defRPr sz="63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Loop</a:t>
            </a:r>
          </a:p>
        </p:txBody>
      </p:sp>
      <p:sp>
        <p:nvSpPr>
          <p:cNvPr id="208" name="experiment-loop">
            <a:extLst xmlns:a="http://schemas.openxmlformats.org/drawingml/2006/main">
              <a:ext uri="{FF2B5EF4-FFF2-40B4-BE49-F238E27FC236}">
                <a16:creationId xmlns:a16="http://schemas.microsoft.com/office/drawing/2014/main" id="{8CE2EE72-B31E-40BF-AF08-65A873B4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48150"/>
            <a:ext cx="762000" cy="638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0478">
            <a:solidFill>
              <a:srgbClr val="7E2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Exp</a:t>
            </a:r>
          </a:p>
          <a:p xmlns:a="http://schemas.openxmlformats.org/drawingml/2006/main">
            <a:pPr algn="ctr">
              <a:defRPr sz="66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Loop</a:t>
            </a:r>
          </a:p>
        </p:txBody>
      </p:sp>
      <p:sp>
        <p:nvSpPr>
          <p:cNvPr id="209" name="publication-loop">
            <a:extLst xmlns:a="http://schemas.openxmlformats.org/drawingml/2006/main">
              <a:ext uri="{FF2B5EF4-FFF2-40B4-BE49-F238E27FC236}">
                <a16:creationId xmlns:a16="http://schemas.microsoft.com/office/drawing/2014/main" id="{E1A8544F-DDF3-4E34-BC54-7D9A865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962400"/>
            <a:ext cx="638175" cy="638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Paper</a:t>
            </a:r>
          </a:p>
          <a:p xmlns:a="http://schemas.openxmlformats.org/drawingml/2006/main">
            <a:pPr algn="ctr">
              <a:defRPr sz="63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8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Loop</a:t>
            </a:r>
          </a:p>
        </p:txBody>
      </p:sp>
      <p:cxnSp>
        <p:nvCxnSpPr>
          <p:cNvPr id="356" name=""/>
          <p:cNvCxnSpPr>
            <a:stCxn xmlns:a="http://schemas.openxmlformats.org/drawingml/2006/main" id="204" idx="2"/>
            <a:endCxn xmlns:a="http://schemas.openxmlformats.org/drawingml/2006/main" id="207" idx="0"/>
          </p:cNvCxnSpPr>
          <p:nvPr/>
        </p:nvCxnSpPr>
        <p:spPr>
          <a:xfrm xmlns:a="http://schemas.openxmlformats.org/drawingml/2006/main" flipH="1">
            <a:off x="9482138" y="3028950"/>
            <a:ext cx="881063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4748B"/>
            </a:solidFill>
            <a:prstDash val="solid"/>
            <a:headEnd type="arrow" w="sm" len="sm"/>
          </a:ln>
        </p:spPr>
      </p:cxnSp>
      <p:cxnSp>
        <p:nvCxnSpPr>
          <p:cNvPr id="357" name=""/>
          <p:cNvCxnSpPr>
            <a:stCxn xmlns:a="http://schemas.openxmlformats.org/drawingml/2006/main" id="204" idx="2"/>
            <a:endCxn xmlns:a="http://schemas.openxmlformats.org/drawingml/2006/main" id="208" idx="0"/>
          </p:cNvCxnSpPr>
          <p:nvPr/>
        </p:nvCxnSpPr>
        <p:spPr>
          <a:xfrm xmlns:a="http://schemas.openxmlformats.org/drawingml/2006/main">
            <a:off x="10363200" y="3028950"/>
            <a:ext cx="57150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4748B"/>
            </a:solidFill>
            <a:prstDash val="solid"/>
            <a:headEnd type="arrow" w="sm" len="sm"/>
          </a:ln>
        </p:spPr>
      </p:cxnSp>
      <p:cxnSp>
        <p:nvCxnSpPr>
          <p:cNvPr id="358" name=""/>
          <p:cNvCxnSpPr>
            <a:stCxn xmlns:a="http://schemas.openxmlformats.org/drawingml/2006/main" id="204" idx="2"/>
            <a:endCxn xmlns:a="http://schemas.openxmlformats.org/drawingml/2006/main" id="209" idx="0"/>
          </p:cNvCxnSpPr>
          <p:nvPr/>
        </p:nvCxnSpPr>
        <p:spPr>
          <a:xfrm xmlns:a="http://schemas.openxmlformats.org/drawingml/2006/main">
            <a:off x="10363200" y="3028950"/>
            <a:ext cx="928688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4748B"/>
            </a:solidFill>
            <a:prstDash val="solid"/>
            <a:headEnd type="arrow" w="sm" len="sm"/>
          </a:ln>
        </p:spPr>
      </p:cxnSp>
      <p:sp>
        <p:nvSpPr>
          <p:cNvPr id="213" name="autolab">
            <a:extLst xmlns:a="http://schemas.openxmlformats.org/drawingml/2006/main">
              <a:ext uri="{FF2B5EF4-FFF2-40B4-BE49-F238E27FC236}">
                <a16:creationId xmlns:a16="http://schemas.microsoft.com/office/drawing/2014/main" id="{E3322CFF-B897-47D6-802B-B5B65C44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29225"/>
            <a:ext cx="2343150" cy="752475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16653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8" b="1">
                <a:solidFill>
                  <a:srgbClr val="166534"/>
                </a:solidFill>
                <a:latin typeface="Noto Sans CJK SC"/>
                <a:ea typeface="Noto Sans CJK SC"/>
                <a:cs typeface="Noto Sans CJK SC"/>
              </a:rPr>
              <a:t>Gated Evolution / 自进化</a:t>
            </a:r>
          </a:p>
          <a:p xmlns:a="http://schemas.openxmlformats.org/drawingml/2006/main">
            <a:pPr algn="ctr">
              <a:defRPr sz="698" b="1">
                <a:solidFill>
                  <a:srgbClr val="16653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8" b="1">
                <a:solidFill>
                  <a:srgbClr val="166534"/>
                </a:solidFill>
                <a:latin typeface="Noto Sans CJK SC"/>
                <a:ea typeface="Noto Sans CJK SC"/>
                <a:cs typeface="Noto Sans CJK SC"/>
              </a:rPr>
              <a:t>side-effect gates stay explicit</a:t>
            </a:r>
          </a:p>
        </p:txBody>
      </p:sp>
      <p:cxnSp>
        <p:nvCxnSpPr>
          <p:cNvPr id="360" name=""/>
          <p:cNvCxnSpPr>
            <a:stCxn xmlns:a="http://schemas.openxmlformats.org/drawingml/2006/main" id="183" idx="3"/>
            <a:endCxn xmlns:a="http://schemas.openxmlformats.org/drawingml/2006/main" id="213" idx="1"/>
          </p:cNvCxnSpPr>
          <p:nvPr/>
        </p:nvCxnSpPr>
        <p:spPr>
          <a:xfrm xmlns:a="http://schemas.openxmlformats.org/drawingml/2006/main">
            <a:off x="8105775" y="4167188"/>
            <a:ext cx="1085850" cy="1438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16A34A"/>
            </a:solidFill>
            <a:prstDash val="dash"/>
            <a:headEnd type="arrow" w="sm" len="sm"/>
          </a:ln>
        </p:spPr>
      </p:cxnSp>
      <p:cxnSp>
        <p:nvCxnSpPr>
          <p:cNvPr id="361" name=""/>
          <p:cNvCxnSpPr>
            <a:stCxn xmlns:a="http://schemas.openxmlformats.org/drawingml/2006/main" id="213" idx="1"/>
            <a:endCxn xmlns:a="http://schemas.openxmlformats.org/drawingml/2006/main" id="163" idx="3"/>
          </p:cNvCxnSpPr>
          <p:nvPr/>
        </p:nvCxnSpPr>
        <p:spPr>
          <a:xfrm xmlns:a="http://schemas.openxmlformats.org/drawingml/2006/main" flipH="1" flipV="1">
            <a:off x="8410575" y="3081338"/>
            <a:ext cx="781050" cy="2524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7E22CE"/>
            </a:solidFill>
            <a:prstDash val="dash"/>
            <a:headEnd type="arrow" w="sm" len="sm"/>
          </a:ln>
        </p:spPr>
      </p:cxnSp>
      <p:sp>
        <p:nvSpPr>
          <p:cNvPr id="216" name="gate-signal-label">
            <a:extLst xmlns:a="http://schemas.openxmlformats.org/drawingml/2006/main">
              <a:ext uri="{FF2B5EF4-FFF2-40B4-BE49-F238E27FC236}">
                <a16:creationId xmlns:a16="http://schemas.microsoft.com/office/drawing/2014/main" id="{50DD65A6-79D6-4552-9F1C-644512D4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686300"/>
            <a:ext cx="857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6A3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16A34A"/>
                </a:solidFill>
                <a:latin typeface="Noto Sans CJK SC"/>
                <a:ea typeface="Noto Sans CJK SC"/>
                <a:cs typeface="Noto Sans CJK SC"/>
              </a:rPr>
              <a:t>evidence + gate signal</a:t>
            </a:r>
          </a:p>
        </p:txBody>
      </p:sp>
      <p:sp>
        <p:nvSpPr>
          <p:cNvPr id="217" name="route-feedback-label">
            <a:extLst xmlns:a="http://schemas.openxmlformats.org/drawingml/2006/main">
              <a:ext uri="{FF2B5EF4-FFF2-40B4-BE49-F238E27FC236}">
                <a16:creationId xmlns:a16="http://schemas.microsoft.com/office/drawing/2014/main" id="{2471BEEB-64FD-4A95-A503-7C8CC2F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7E22C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7E22CE"/>
                </a:solidFill>
                <a:latin typeface="Noto Sans CJK SC"/>
                <a:ea typeface="Noto Sans CJK SC"/>
                <a:cs typeface="Noto Sans CJK SC"/>
              </a:rPr>
              <a:t>route feedback</a:t>
            </a:r>
          </a:p>
        </p:txBody>
      </p:sp>
      <p:sp>
        <p:nvSpPr>
          <p:cNvPr id="218" name="principle">
            <a:extLst xmlns:a="http://schemas.openxmlformats.org/drawingml/2006/main">
              <a:ext uri="{FF2B5EF4-FFF2-40B4-BE49-F238E27FC236}">
                <a16:creationId xmlns:a16="http://schemas.microsoft.com/office/drawing/2014/main" id="{989C6F4D-39B4-48CD-87A3-6484D383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086475"/>
            <a:ext cx="25146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原则：Solar owns orchestration；AutoSci stays backend-bound</a:t>
            </a:r>
          </a:p>
        </p:txBody>
      </p:sp>
      <p:sp>
        <p:nvSpPr>
          <p:cNvPr id="219" name="footer">
            <a:extLst xmlns:a="http://schemas.openxmlformats.org/drawingml/2006/main">
              <a:ext uri="{FF2B5EF4-FFF2-40B4-BE49-F238E27FC236}">
                <a16:creationId xmlns:a16="http://schemas.microsoft.com/office/drawing/2014/main" id="{42904B8F-371E-484E-A32D-AF5B3748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62725"/>
            <a:ext cx="1123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58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Source: AutoSci→Solar implementation plan, Phase 19 shim/gate/config integration. Editable PowerPoint shapes; no full-slide bitmap.</a:t>
            </a:r>
          </a:p>
        </p:txBody>
      </p:sp>
    </p:spTree>
    <p:extLst>
      <p:ext uri="{BB962C8B-B14F-4D97-AF65-F5344CB8AC3E}">
        <p14:creationId xmlns:p14="http://schemas.microsoft.com/office/powerpoint/2010/main" val="60113767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2026-06-19T17:30:01.1270000Z</dcterms:created>
  <dcterms:modified xsi:type="dcterms:W3CDTF">2026-06-19T17:30:01.1270000Z</dcterms:modified>
</coreProperties>
</file>